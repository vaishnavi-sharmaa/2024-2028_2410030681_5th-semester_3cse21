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304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304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304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6304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684" y="807542"/>
            <a:ext cx="7356475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6304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5940" y="6572504"/>
            <a:ext cx="1525270" cy="16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12219" y="6572504"/>
            <a:ext cx="510794" cy="16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7080"/>
                </a:solidFill>
                <a:latin typeface="Calibri"/>
                <a:cs typeface="Calibri"/>
              </a:defRPr>
            </a:lvl1pPr>
          </a:lstStyle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#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/home/claude/format_unpacked/word/media/image1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503555"/>
            <a:ext cx="685800" cy="685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42033" y="645922"/>
            <a:ext cx="291528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CFDFEC"/>
                </a:solidFill>
                <a:latin typeface="Calibri"/>
                <a:cs typeface="Calibri"/>
              </a:rPr>
              <a:t>IILM</a:t>
            </a:r>
            <a:r>
              <a:rPr dirty="0" sz="1400" spc="355" b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400" spc="60" b="1">
                <a:solidFill>
                  <a:srgbClr val="CFDFEC"/>
                </a:solidFill>
                <a:latin typeface="Calibri"/>
                <a:cs typeface="Calibri"/>
              </a:rPr>
              <a:t>UNIVERSITY,</a:t>
            </a:r>
            <a:r>
              <a:rPr dirty="0" sz="1400" spc="415" b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400" spc="55" b="1">
                <a:solidFill>
                  <a:srgbClr val="CFDFEC"/>
                </a:solidFill>
                <a:latin typeface="Calibri"/>
                <a:cs typeface="Calibri"/>
              </a:rPr>
              <a:t>GREATER</a:t>
            </a:r>
            <a:r>
              <a:rPr dirty="0" sz="1400" spc="335" b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CFDFEC"/>
                </a:solidFill>
                <a:latin typeface="Calibri"/>
                <a:cs typeface="Calibri"/>
              </a:rPr>
              <a:t>NOIDA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55280" y="0"/>
            <a:ext cx="4236720" cy="4754880"/>
            <a:chOff x="7955280" y="0"/>
            <a:chExt cx="4236720" cy="4754880"/>
          </a:xfrm>
        </p:grpSpPr>
        <p:sp>
          <p:nvSpPr>
            <p:cNvPr id="4" name="object 4"/>
            <p:cNvSpPr/>
            <p:nvPr/>
          </p:nvSpPr>
          <p:spPr>
            <a:xfrm>
              <a:off x="9692640" y="0"/>
              <a:ext cx="2499360" cy="3108960"/>
            </a:xfrm>
            <a:custGeom>
              <a:avLst/>
              <a:gdLst/>
              <a:ahLst/>
              <a:cxnLst/>
              <a:rect l="l" t="t" r="r" b="b"/>
              <a:pathLst>
                <a:path w="2499359" h="3108960">
                  <a:moveTo>
                    <a:pt x="2499359" y="0"/>
                  </a:moveTo>
                  <a:lnTo>
                    <a:pt x="152653" y="0"/>
                  </a:lnTo>
                  <a:lnTo>
                    <a:pt x="137667" y="39624"/>
                  </a:lnTo>
                  <a:lnTo>
                    <a:pt x="122427" y="82930"/>
                  </a:lnTo>
                  <a:lnTo>
                    <a:pt x="107950" y="126746"/>
                  </a:lnTo>
                  <a:lnTo>
                    <a:pt x="94360" y="170815"/>
                  </a:lnTo>
                  <a:lnTo>
                    <a:pt x="81660" y="215265"/>
                  </a:lnTo>
                  <a:lnTo>
                    <a:pt x="69850" y="260096"/>
                  </a:lnTo>
                  <a:lnTo>
                    <a:pt x="58927" y="305307"/>
                  </a:lnTo>
                  <a:lnTo>
                    <a:pt x="48767" y="350774"/>
                  </a:lnTo>
                  <a:lnTo>
                    <a:pt x="39624" y="396748"/>
                  </a:lnTo>
                  <a:lnTo>
                    <a:pt x="31495" y="442849"/>
                  </a:lnTo>
                  <a:lnTo>
                    <a:pt x="24129" y="489458"/>
                  </a:lnTo>
                  <a:lnTo>
                    <a:pt x="17779" y="536194"/>
                  </a:lnTo>
                  <a:lnTo>
                    <a:pt x="12445" y="583311"/>
                  </a:lnTo>
                  <a:lnTo>
                    <a:pt x="8000" y="630682"/>
                  </a:lnTo>
                  <a:lnTo>
                    <a:pt x="4444" y="678434"/>
                  </a:lnTo>
                  <a:lnTo>
                    <a:pt x="2031" y="726313"/>
                  </a:lnTo>
                  <a:lnTo>
                    <a:pt x="507" y="774573"/>
                  </a:lnTo>
                  <a:lnTo>
                    <a:pt x="0" y="822960"/>
                  </a:lnTo>
                  <a:lnTo>
                    <a:pt x="507" y="871347"/>
                  </a:lnTo>
                  <a:lnTo>
                    <a:pt x="2031" y="919607"/>
                  </a:lnTo>
                  <a:lnTo>
                    <a:pt x="4444" y="967486"/>
                  </a:lnTo>
                  <a:lnTo>
                    <a:pt x="8000" y="1015238"/>
                  </a:lnTo>
                  <a:lnTo>
                    <a:pt x="12445" y="1062609"/>
                  </a:lnTo>
                  <a:lnTo>
                    <a:pt x="17779" y="1109726"/>
                  </a:lnTo>
                  <a:lnTo>
                    <a:pt x="24129" y="1156462"/>
                  </a:lnTo>
                  <a:lnTo>
                    <a:pt x="31495" y="1203071"/>
                  </a:lnTo>
                  <a:lnTo>
                    <a:pt x="39624" y="1249172"/>
                  </a:lnTo>
                  <a:lnTo>
                    <a:pt x="48767" y="1295146"/>
                  </a:lnTo>
                  <a:lnTo>
                    <a:pt x="58927" y="1340612"/>
                  </a:lnTo>
                  <a:lnTo>
                    <a:pt x="69850" y="1385824"/>
                  </a:lnTo>
                  <a:lnTo>
                    <a:pt x="81660" y="1430654"/>
                  </a:lnTo>
                  <a:lnTo>
                    <a:pt x="94360" y="1475104"/>
                  </a:lnTo>
                  <a:lnTo>
                    <a:pt x="107950" y="1519174"/>
                  </a:lnTo>
                  <a:lnTo>
                    <a:pt x="122427" y="1562989"/>
                  </a:lnTo>
                  <a:lnTo>
                    <a:pt x="137667" y="1606296"/>
                  </a:lnTo>
                  <a:lnTo>
                    <a:pt x="153924" y="1649222"/>
                  </a:lnTo>
                  <a:lnTo>
                    <a:pt x="170814" y="1691639"/>
                  </a:lnTo>
                  <a:lnTo>
                    <a:pt x="188594" y="1733803"/>
                  </a:lnTo>
                  <a:lnTo>
                    <a:pt x="207263" y="1775333"/>
                  </a:lnTo>
                  <a:lnTo>
                    <a:pt x="226694" y="1816608"/>
                  </a:lnTo>
                  <a:lnTo>
                    <a:pt x="246887" y="1857375"/>
                  </a:lnTo>
                  <a:lnTo>
                    <a:pt x="267842" y="1897634"/>
                  </a:lnTo>
                  <a:lnTo>
                    <a:pt x="289559" y="1937385"/>
                  </a:lnTo>
                  <a:lnTo>
                    <a:pt x="312165" y="1976754"/>
                  </a:lnTo>
                  <a:lnTo>
                    <a:pt x="335406" y="2015616"/>
                  </a:lnTo>
                  <a:lnTo>
                    <a:pt x="359409" y="2053844"/>
                  </a:lnTo>
                  <a:lnTo>
                    <a:pt x="384175" y="2091689"/>
                  </a:lnTo>
                  <a:lnTo>
                    <a:pt x="409575" y="2129028"/>
                  </a:lnTo>
                  <a:lnTo>
                    <a:pt x="435736" y="2165730"/>
                  </a:lnTo>
                  <a:lnTo>
                    <a:pt x="462660" y="2201926"/>
                  </a:lnTo>
                  <a:lnTo>
                    <a:pt x="490219" y="2237613"/>
                  </a:lnTo>
                  <a:lnTo>
                    <a:pt x="518413" y="2272665"/>
                  </a:lnTo>
                  <a:lnTo>
                    <a:pt x="547369" y="2307209"/>
                  </a:lnTo>
                  <a:lnTo>
                    <a:pt x="576960" y="2341117"/>
                  </a:lnTo>
                  <a:lnTo>
                    <a:pt x="607186" y="2374519"/>
                  </a:lnTo>
                  <a:lnTo>
                    <a:pt x="638048" y="2407285"/>
                  </a:lnTo>
                  <a:lnTo>
                    <a:pt x="669543" y="2439416"/>
                  </a:lnTo>
                  <a:lnTo>
                    <a:pt x="701675" y="2470912"/>
                  </a:lnTo>
                  <a:lnTo>
                    <a:pt x="734440" y="2501773"/>
                  </a:lnTo>
                  <a:lnTo>
                    <a:pt x="767841" y="2531999"/>
                  </a:lnTo>
                  <a:lnTo>
                    <a:pt x="801751" y="2561590"/>
                  </a:lnTo>
                  <a:lnTo>
                    <a:pt x="836294" y="2590546"/>
                  </a:lnTo>
                  <a:lnTo>
                    <a:pt x="871346" y="2618740"/>
                  </a:lnTo>
                  <a:lnTo>
                    <a:pt x="907033" y="2646299"/>
                  </a:lnTo>
                  <a:lnTo>
                    <a:pt x="943228" y="2673223"/>
                  </a:lnTo>
                  <a:lnTo>
                    <a:pt x="979931" y="2699385"/>
                  </a:lnTo>
                  <a:lnTo>
                    <a:pt x="1017269" y="2724785"/>
                  </a:lnTo>
                  <a:lnTo>
                    <a:pt x="1055115" y="2749550"/>
                  </a:lnTo>
                  <a:lnTo>
                    <a:pt x="1093342" y="2773553"/>
                  </a:lnTo>
                  <a:lnTo>
                    <a:pt x="1132204" y="2796794"/>
                  </a:lnTo>
                  <a:lnTo>
                    <a:pt x="1171575" y="2819400"/>
                  </a:lnTo>
                  <a:lnTo>
                    <a:pt x="1211326" y="2841116"/>
                  </a:lnTo>
                  <a:lnTo>
                    <a:pt x="1251584" y="2862072"/>
                  </a:lnTo>
                  <a:lnTo>
                    <a:pt x="1292352" y="2882265"/>
                  </a:lnTo>
                  <a:lnTo>
                    <a:pt x="1333627" y="2901696"/>
                  </a:lnTo>
                  <a:lnTo>
                    <a:pt x="1375155" y="2920365"/>
                  </a:lnTo>
                  <a:lnTo>
                    <a:pt x="1417319" y="2938145"/>
                  </a:lnTo>
                  <a:lnTo>
                    <a:pt x="1459737" y="2955036"/>
                  </a:lnTo>
                  <a:lnTo>
                    <a:pt x="1502663" y="2971165"/>
                  </a:lnTo>
                  <a:lnTo>
                    <a:pt x="1545970" y="2986532"/>
                  </a:lnTo>
                  <a:lnTo>
                    <a:pt x="1589785" y="3001010"/>
                  </a:lnTo>
                  <a:lnTo>
                    <a:pt x="1633854" y="3014599"/>
                  </a:lnTo>
                  <a:lnTo>
                    <a:pt x="1678304" y="3027299"/>
                  </a:lnTo>
                  <a:lnTo>
                    <a:pt x="1723135" y="3039110"/>
                  </a:lnTo>
                  <a:lnTo>
                    <a:pt x="1768348" y="3050032"/>
                  </a:lnTo>
                  <a:lnTo>
                    <a:pt x="1813813" y="3060191"/>
                  </a:lnTo>
                  <a:lnTo>
                    <a:pt x="1859787" y="3069336"/>
                  </a:lnTo>
                  <a:lnTo>
                    <a:pt x="1905888" y="3077464"/>
                  </a:lnTo>
                  <a:lnTo>
                    <a:pt x="1952498" y="3084829"/>
                  </a:lnTo>
                  <a:lnTo>
                    <a:pt x="1999233" y="3091179"/>
                  </a:lnTo>
                  <a:lnTo>
                    <a:pt x="2046351" y="3096514"/>
                  </a:lnTo>
                  <a:lnTo>
                    <a:pt x="2093721" y="3100959"/>
                  </a:lnTo>
                  <a:lnTo>
                    <a:pt x="2141474" y="3104515"/>
                  </a:lnTo>
                  <a:lnTo>
                    <a:pt x="2189353" y="3106928"/>
                  </a:lnTo>
                  <a:lnTo>
                    <a:pt x="2237612" y="3108452"/>
                  </a:lnTo>
                  <a:lnTo>
                    <a:pt x="2286000" y="3108960"/>
                  </a:lnTo>
                  <a:lnTo>
                    <a:pt x="2334386" y="3108452"/>
                  </a:lnTo>
                  <a:lnTo>
                    <a:pt x="2382646" y="3106928"/>
                  </a:lnTo>
                  <a:lnTo>
                    <a:pt x="2430526" y="3104515"/>
                  </a:lnTo>
                  <a:lnTo>
                    <a:pt x="2478278" y="3100959"/>
                  </a:lnTo>
                  <a:lnTo>
                    <a:pt x="2499359" y="3099054"/>
                  </a:lnTo>
                  <a:lnTo>
                    <a:pt x="2499359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/home/claude/icons/brain_watermar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80" y="822960"/>
              <a:ext cx="3931920" cy="393192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0564" y="2396185"/>
            <a:ext cx="7482205" cy="636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0" spc="-10">
                <a:solidFill>
                  <a:srgbClr val="FFFFFF"/>
                </a:solidFill>
              </a:rPr>
              <a:t>Artificial</a:t>
            </a:r>
            <a:r>
              <a:rPr dirty="0" sz="4000" spc="-165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Intelligence</a:t>
            </a:r>
            <a:r>
              <a:rPr dirty="0" sz="4000" spc="-155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Internship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810564" y="3366007"/>
            <a:ext cx="82734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Customer</a:t>
            </a:r>
            <a:r>
              <a:rPr dirty="0" sz="1700" spc="-6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Churn</a:t>
            </a:r>
            <a:r>
              <a:rPr dirty="0" sz="1700" spc="-4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CFDFEC"/>
                </a:solidFill>
                <a:latin typeface="Calibri"/>
                <a:cs typeface="Calibri"/>
              </a:rPr>
              <a:t>Prediction</a:t>
            </a:r>
            <a:r>
              <a:rPr dirty="0" sz="1700" spc="-6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&amp;</a:t>
            </a:r>
            <a:r>
              <a:rPr dirty="0" sz="1700" spc="-6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Advanced</a:t>
            </a:r>
            <a:r>
              <a:rPr dirty="0" sz="1700" spc="-4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Movie</a:t>
            </a:r>
            <a:r>
              <a:rPr dirty="0" sz="1700" spc="-7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CFDFEC"/>
                </a:solidFill>
                <a:latin typeface="Calibri"/>
                <a:cs typeface="Calibri"/>
              </a:rPr>
              <a:t>Recommendation</a:t>
            </a:r>
            <a:r>
              <a:rPr dirty="0" sz="1700" spc="-5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System</a:t>
            </a:r>
            <a:r>
              <a:rPr dirty="0" sz="1700" spc="-5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at</a:t>
            </a:r>
            <a:r>
              <a:rPr dirty="0" sz="1700" spc="-4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i="1">
                <a:solidFill>
                  <a:srgbClr val="CFDFEC"/>
                </a:solidFill>
                <a:latin typeface="Calibri"/>
                <a:cs typeface="Calibri"/>
              </a:rPr>
              <a:t>Codec</a:t>
            </a:r>
            <a:r>
              <a:rPr dirty="0" sz="1700" spc="-6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700" spc="-10" i="1">
                <a:solidFill>
                  <a:srgbClr val="CFDFEC"/>
                </a:solidFill>
                <a:latin typeface="Calibri"/>
                <a:cs typeface="Calibri"/>
              </a:rPr>
              <a:t>Technologies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7875" y="4115434"/>
            <a:ext cx="2377440" cy="0"/>
          </a:xfrm>
          <a:custGeom>
            <a:avLst/>
            <a:gdLst/>
            <a:ahLst/>
            <a:cxnLst/>
            <a:rect l="l" t="t" r="r" b="b"/>
            <a:pathLst>
              <a:path w="2377440" h="0">
                <a:moveTo>
                  <a:pt x="0" y="0"/>
                </a:moveTo>
                <a:lnTo>
                  <a:pt x="2377440" y="0"/>
                </a:lnTo>
              </a:path>
            </a:pathLst>
          </a:custGeom>
          <a:ln w="38100">
            <a:solidFill>
              <a:srgbClr val="2C9E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4937125"/>
            <a:ext cx="2377440" cy="1919605"/>
          </a:xfrm>
          <a:custGeom>
            <a:avLst/>
            <a:gdLst/>
            <a:ahLst/>
            <a:cxnLst/>
            <a:rect l="l" t="t" r="r" b="b"/>
            <a:pathLst>
              <a:path w="2377440" h="1919604">
                <a:moveTo>
                  <a:pt x="548640" y="0"/>
                </a:moveTo>
                <a:lnTo>
                  <a:pt x="500684" y="635"/>
                </a:lnTo>
                <a:lnTo>
                  <a:pt x="453047" y="2412"/>
                </a:lnTo>
                <a:lnTo>
                  <a:pt x="405714" y="5461"/>
                </a:lnTo>
                <a:lnTo>
                  <a:pt x="358724" y="9779"/>
                </a:lnTo>
                <a:lnTo>
                  <a:pt x="312089" y="15112"/>
                </a:lnTo>
                <a:lnTo>
                  <a:pt x="265811" y="21717"/>
                </a:lnTo>
                <a:lnTo>
                  <a:pt x="219913" y="29463"/>
                </a:lnTo>
                <a:lnTo>
                  <a:pt x="174409" y="38354"/>
                </a:lnTo>
                <a:lnTo>
                  <a:pt x="129311" y="48260"/>
                </a:lnTo>
                <a:lnTo>
                  <a:pt x="84642" y="59308"/>
                </a:lnTo>
                <a:lnTo>
                  <a:pt x="40412" y="71500"/>
                </a:lnTo>
                <a:lnTo>
                  <a:pt x="0" y="83693"/>
                </a:lnTo>
                <a:lnTo>
                  <a:pt x="0" y="1919604"/>
                </a:lnTo>
                <a:lnTo>
                  <a:pt x="2375154" y="1919604"/>
                </a:lnTo>
                <a:lnTo>
                  <a:pt x="2376805" y="1876129"/>
                </a:lnTo>
                <a:lnTo>
                  <a:pt x="2377440" y="1828195"/>
                </a:lnTo>
                <a:lnTo>
                  <a:pt x="2376805" y="1780260"/>
                </a:lnTo>
                <a:lnTo>
                  <a:pt x="2375027" y="1732635"/>
                </a:lnTo>
                <a:lnTo>
                  <a:pt x="2371979" y="1685328"/>
                </a:lnTo>
                <a:lnTo>
                  <a:pt x="2367661" y="1638350"/>
                </a:lnTo>
                <a:lnTo>
                  <a:pt x="2362327" y="1591716"/>
                </a:lnTo>
                <a:lnTo>
                  <a:pt x="2355723" y="1545463"/>
                </a:lnTo>
                <a:lnTo>
                  <a:pt x="2347976" y="1499577"/>
                </a:lnTo>
                <a:lnTo>
                  <a:pt x="2339086" y="1454086"/>
                </a:lnTo>
                <a:lnTo>
                  <a:pt x="2329180" y="1409001"/>
                </a:lnTo>
                <a:lnTo>
                  <a:pt x="2318004" y="1364348"/>
                </a:lnTo>
                <a:lnTo>
                  <a:pt x="2305939" y="1320139"/>
                </a:lnTo>
                <a:lnTo>
                  <a:pt x="2292604" y="1276375"/>
                </a:lnTo>
                <a:lnTo>
                  <a:pt x="2278380" y="1233081"/>
                </a:lnTo>
                <a:lnTo>
                  <a:pt x="2263013" y="1190282"/>
                </a:lnTo>
                <a:lnTo>
                  <a:pt x="2246630" y="1147965"/>
                </a:lnTo>
                <a:lnTo>
                  <a:pt x="2229231" y="1106182"/>
                </a:lnTo>
                <a:lnTo>
                  <a:pt x="2210943" y="1064920"/>
                </a:lnTo>
                <a:lnTo>
                  <a:pt x="2191512" y="1024204"/>
                </a:lnTo>
                <a:lnTo>
                  <a:pt x="2171192" y="984046"/>
                </a:lnTo>
                <a:lnTo>
                  <a:pt x="2149983" y="944460"/>
                </a:lnTo>
                <a:lnTo>
                  <a:pt x="2127758" y="905471"/>
                </a:lnTo>
                <a:lnTo>
                  <a:pt x="2104644" y="867079"/>
                </a:lnTo>
                <a:lnTo>
                  <a:pt x="2080641" y="829310"/>
                </a:lnTo>
                <a:lnTo>
                  <a:pt x="2055622" y="792187"/>
                </a:lnTo>
                <a:lnTo>
                  <a:pt x="2029841" y="755700"/>
                </a:lnTo>
                <a:lnTo>
                  <a:pt x="2003170" y="719886"/>
                </a:lnTo>
                <a:lnTo>
                  <a:pt x="1975739" y="684745"/>
                </a:lnTo>
                <a:lnTo>
                  <a:pt x="1947291" y="650366"/>
                </a:lnTo>
                <a:lnTo>
                  <a:pt x="1918208" y="616585"/>
                </a:lnTo>
                <a:lnTo>
                  <a:pt x="1888236" y="583565"/>
                </a:lnTo>
                <a:lnTo>
                  <a:pt x="1857502" y="551307"/>
                </a:lnTo>
                <a:lnTo>
                  <a:pt x="1826006" y="519811"/>
                </a:lnTo>
                <a:lnTo>
                  <a:pt x="1793620" y="489077"/>
                </a:lnTo>
                <a:lnTo>
                  <a:pt x="1760601" y="459105"/>
                </a:lnTo>
                <a:lnTo>
                  <a:pt x="1726945" y="430022"/>
                </a:lnTo>
                <a:lnTo>
                  <a:pt x="1692529" y="401574"/>
                </a:lnTo>
                <a:lnTo>
                  <a:pt x="1657350" y="374141"/>
                </a:lnTo>
                <a:lnTo>
                  <a:pt x="1621536" y="347472"/>
                </a:lnTo>
                <a:lnTo>
                  <a:pt x="1584960" y="321691"/>
                </a:lnTo>
                <a:lnTo>
                  <a:pt x="1547876" y="296799"/>
                </a:lnTo>
                <a:lnTo>
                  <a:pt x="1510030" y="272669"/>
                </a:lnTo>
                <a:lnTo>
                  <a:pt x="1471676" y="249555"/>
                </a:lnTo>
                <a:lnTo>
                  <a:pt x="1432687" y="227456"/>
                </a:lnTo>
                <a:lnTo>
                  <a:pt x="1393063" y="206120"/>
                </a:lnTo>
                <a:lnTo>
                  <a:pt x="1352931" y="185800"/>
                </a:lnTo>
                <a:lnTo>
                  <a:pt x="1312164" y="166497"/>
                </a:lnTo>
                <a:lnTo>
                  <a:pt x="1270889" y="148081"/>
                </a:lnTo>
                <a:lnTo>
                  <a:pt x="1229093" y="130682"/>
                </a:lnTo>
                <a:lnTo>
                  <a:pt x="1186776" y="114426"/>
                </a:lnTo>
                <a:lnTo>
                  <a:pt x="1143952" y="99060"/>
                </a:lnTo>
                <a:lnTo>
                  <a:pt x="1100645" y="84708"/>
                </a:lnTo>
                <a:lnTo>
                  <a:pt x="1056868" y="71500"/>
                </a:lnTo>
                <a:lnTo>
                  <a:pt x="1012634" y="59308"/>
                </a:lnTo>
                <a:lnTo>
                  <a:pt x="967968" y="48260"/>
                </a:lnTo>
                <a:lnTo>
                  <a:pt x="922870" y="38354"/>
                </a:lnTo>
                <a:lnTo>
                  <a:pt x="877366" y="29463"/>
                </a:lnTo>
                <a:lnTo>
                  <a:pt x="831469" y="21717"/>
                </a:lnTo>
                <a:lnTo>
                  <a:pt x="785190" y="15112"/>
                </a:lnTo>
                <a:lnTo>
                  <a:pt x="738555" y="9779"/>
                </a:lnTo>
                <a:lnTo>
                  <a:pt x="691565" y="5461"/>
                </a:lnTo>
                <a:lnTo>
                  <a:pt x="644232" y="2412"/>
                </a:lnTo>
                <a:lnTo>
                  <a:pt x="596595" y="635"/>
                </a:lnTo>
                <a:lnTo>
                  <a:pt x="548640" y="0"/>
                </a:lnTo>
                <a:close/>
              </a:path>
            </a:pathLst>
          </a:custGeom>
          <a:solidFill>
            <a:srgbClr val="1F4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6284" y="4467973"/>
            <a:ext cx="2841625" cy="12166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VAISHNAVI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SHARMA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Roll</a:t>
            </a:r>
            <a:r>
              <a:rPr dirty="0" sz="1300" spc="-7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No.:</a:t>
            </a:r>
            <a:r>
              <a:rPr dirty="0" sz="130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2410030681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75"/>
              </a:spcBef>
            </a:pP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B.Tech</a:t>
            </a:r>
            <a:r>
              <a:rPr dirty="0" sz="130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CSE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—</a:t>
            </a:r>
            <a:r>
              <a:rPr dirty="0" sz="13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5th</a:t>
            </a:r>
            <a:r>
              <a:rPr dirty="0" sz="130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CFDFEC"/>
                </a:solidFill>
                <a:latin typeface="Calibri"/>
                <a:cs typeface="Calibri"/>
              </a:rPr>
              <a:t>Semester,</a:t>
            </a:r>
            <a:r>
              <a:rPr dirty="0" sz="130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3CSE21 Organization:</a:t>
            </a:r>
            <a:r>
              <a:rPr dirty="0" sz="130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Codec</a:t>
            </a:r>
            <a:r>
              <a:rPr dirty="0" sz="13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Technologies</a:t>
            </a:r>
            <a:r>
              <a:rPr dirty="0" sz="130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CFDFEC"/>
                </a:solidFill>
                <a:latin typeface="Calibri"/>
                <a:cs typeface="Calibri"/>
              </a:rPr>
              <a:t>Pvt.</a:t>
            </a:r>
            <a:r>
              <a:rPr dirty="0" sz="130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CFDFEC"/>
                </a:solidFill>
                <a:latin typeface="Calibri"/>
                <a:cs typeface="Calibri"/>
              </a:rPr>
              <a:t>Ltd.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1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895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Agenda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0534" y="1639570"/>
            <a:ext cx="5399405" cy="1421765"/>
            <a:chOff x="470534" y="1639570"/>
            <a:chExt cx="5399405" cy="1421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34" y="1639570"/>
              <a:ext cx="5398897" cy="14212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258" y="1691386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336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53" y="1235455"/>
                  </a:lnTo>
                  <a:lnTo>
                    <a:pt x="21424" y="1258697"/>
                  </a:lnTo>
                  <a:lnTo>
                    <a:pt x="44678" y="1274317"/>
                  </a:lnTo>
                  <a:lnTo>
                    <a:pt x="73151" y="1280160"/>
                  </a:lnTo>
                  <a:lnTo>
                    <a:pt x="5184648" y="1280160"/>
                  </a:lnTo>
                  <a:lnTo>
                    <a:pt x="5213095" y="1274317"/>
                  </a:lnTo>
                  <a:lnTo>
                    <a:pt x="5236337" y="1258697"/>
                  </a:lnTo>
                  <a:lnTo>
                    <a:pt x="5252085" y="1235455"/>
                  </a:lnTo>
                  <a:lnTo>
                    <a:pt x="5257800" y="1207008"/>
                  </a:lnTo>
                  <a:lnTo>
                    <a:pt x="5257800" y="73151"/>
                  </a:lnTo>
                  <a:lnTo>
                    <a:pt x="5252085" y="44703"/>
                  </a:lnTo>
                  <a:lnTo>
                    <a:pt x="5236337" y="21336"/>
                  </a:lnTo>
                  <a:lnTo>
                    <a:pt x="5213095" y="5714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76859" y="1897126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80">
                  <a:moveTo>
                    <a:pt x="434340" y="0"/>
                  </a:moveTo>
                  <a:lnTo>
                    <a:pt x="387019" y="2539"/>
                  </a:lnTo>
                  <a:lnTo>
                    <a:pt x="341160" y="10033"/>
                  </a:lnTo>
                  <a:lnTo>
                    <a:pt x="297053" y="22098"/>
                  </a:lnTo>
                  <a:lnTo>
                    <a:pt x="254952" y="38608"/>
                  </a:lnTo>
                  <a:lnTo>
                    <a:pt x="215125" y="59309"/>
                  </a:lnTo>
                  <a:lnTo>
                    <a:pt x="177825" y="83693"/>
                  </a:lnTo>
                  <a:lnTo>
                    <a:pt x="143332" y="111887"/>
                  </a:lnTo>
                  <a:lnTo>
                    <a:pt x="111899" y="143256"/>
                  </a:lnTo>
                  <a:lnTo>
                    <a:pt x="83807" y="177800"/>
                  </a:lnTo>
                  <a:lnTo>
                    <a:pt x="59296" y="215011"/>
                  </a:lnTo>
                  <a:lnTo>
                    <a:pt x="38658" y="254888"/>
                  </a:lnTo>
                  <a:lnTo>
                    <a:pt x="22148" y="297052"/>
                  </a:lnTo>
                  <a:lnTo>
                    <a:pt x="10020" y="341122"/>
                  </a:lnTo>
                  <a:lnTo>
                    <a:pt x="2552" y="386969"/>
                  </a:lnTo>
                  <a:lnTo>
                    <a:pt x="0" y="434339"/>
                  </a:lnTo>
                  <a:lnTo>
                    <a:pt x="2552" y="481584"/>
                  </a:lnTo>
                  <a:lnTo>
                    <a:pt x="10020" y="527431"/>
                  </a:lnTo>
                  <a:lnTo>
                    <a:pt x="22148" y="571626"/>
                  </a:lnTo>
                  <a:lnTo>
                    <a:pt x="38658" y="613663"/>
                  </a:lnTo>
                  <a:lnTo>
                    <a:pt x="59296" y="653541"/>
                  </a:lnTo>
                  <a:lnTo>
                    <a:pt x="83807" y="690879"/>
                  </a:lnTo>
                  <a:lnTo>
                    <a:pt x="111899" y="725297"/>
                  </a:lnTo>
                  <a:lnTo>
                    <a:pt x="143332" y="756793"/>
                  </a:lnTo>
                  <a:lnTo>
                    <a:pt x="177825" y="784860"/>
                  </a:lnTo>
                  <a:lnTo>
                    <a:pt x="215125" y="809371"/>
                  </a:lnTo>
                  <a:lnTo>
                    <a:pt x="254952" y="829945"/>
                  </a:lnTo>
                  <a:lnTo>
                    <a:pt x="297053" y="846454"/>
                  </a:lnTo>
                  <a:lnTo>
                    <a:pt x="341160" y="858647"/>
                  </a:lnTo>
                  <a:lnTo>
                    <a:pt x="387019" y="866139"/>
                  </a:lnTo>
                  <a:lnTo>
                    <a:pt x="434340" y="868679"/>
                  </a:lnTo>
                  <a:lnTo>
                    <a:pt x="481672" y="866139"/>
                  </a:lnTo>
                  <a:lnTo>
                    <a:pt x="527557" y="858647"/>
                  </a:lnTo>
                  <a:lnTo>
                    <a:pt x="571627" y="846454"/>
                  </a:lnTo>
                  <a:lnTo>
                    <a:pt x="613791" y="829945"/>
                  </a:lnTo>
                  <a:lnTo>
                    <a:pt x="653541" y="809371"/>
                  </a:lnTo>
                  <a:lnTo>
                    <a:pt x="690879" y="784860"/>
                  </a:lnTo>
                  <a:lnTo>
                    <a:pt x="725297" y="756793"/>
                  </a:lnTo>
                  <a:lnTo>
                    <a:pt x="756793" y="725297"/>
                  </a:lnTo>
                  <a:lnTo>
                    <a:pt x="784860" y="690879"/>
                  </a:lnTo>
                  <a:lnTo>
                    <a:pt x="809371" y="653541"/>
                  </a:lnTo>
                  <a:lnTo>
                    <a:pt x="830072" y="613663"/>
                  </a:lnTo>
                  <a:lnTo>
                    <a:pt x="846582" y="571626"/>
                  </a:lnTo>
                  <a:lnTo>
                    <a:pt x="858647" y="527431"/>
                  </a:lnTo>
                  <a:lnTo>
                    <a:pt x="866140" y="481584"/>
                  </a:lnTo>
                  <a:lnTo>
                    <a:pt x="868679" y="434339"/>
                  </a:lnTo>
                  <a:lnTo>
                    <a:pt x="866140" y="386969"/>
                  </a:lnTo>
                  <a:lnTo>
                    <a:pt x="858647" y="341122"/>
                  </a:lnTo>
                  <a:lnTo>
                    <a:pt x="846582" y="297052"/>
                  </a:lnTo>
                  <a:lnTo>
                    <a:pt x="830072" y="254888"/>
                  </a:lnTo>
                  <a:lnTo>
                    <a:pt x="809371" y="215011"/>
                  </a:lnTo>
                  <a:lnTo>
                    <a:pt x="784860" y="177800"/>
                  </a:lnTo>
                  <a:lnTo>
                    <a:pt x="756793" y="143256"/>
                  </a:lnTo>
                  <a:lnTo>
                    <a:pt x="725297" y="111887"/>
                  </a:lnTo>
                  <a:lnTo>
                    <a:pt x="690879" y="83693"/>
                  </a:lnTo>
                  <a:lnTo>
                    <a:pt x="653541" y="59309"/>
                  </a:lnTo>
                  <a:lnTo>
                    <a:pt x="613791" y="38608"/>
                  </a:lnTo>
                  <a:lnTo>
                    <a:pt x="571627" y="22098"/>
                  </a:lnTo>
                  <a:lnTo>
                    <a:pt x="527557" y="10033"/>
                  </a:lnTo>
                  <a:lnTo>
                    <a:pt x="481672" y="2539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icons/building_whit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634" y="2009902"/>
              <a:ext cx="643128" cy="64312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908175" y="1911172"/>
            <a:ext cx="2644140" cy="7232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Organization</a:t>
            </a:r>
            <a:r>
              <a:rPr dirty="0" sz="1500" spc="-65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Profile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Who</a:t>
            </a:r>
            <a:r>
              <a:rPr dirty="0" sz="115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Codec</a:t>
            </a:r>
            <a:r>
              <a:rPr dirty="0" sz="1150" spc="-1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Technologies</a:t>
            </a:r>
            <a:r>
              <a:rPr dirty="0" sz="11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is</a:t>
            </a:r>
            <a:r>
              <a:rPr dirty="0" sz="1150" spc="-3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150" spc="-3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what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it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6B7080"/>
                </a:solidFill>
                <a:latin typeface="Calibri"/>
                <a:cs typeface="Calibri"/>
              </a:rPr>
              <a:t>does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94095" y="1639570"/>
            <a:ext cx="5399405" cy="1421765"/>
            <a:chOff x="6094095" y="1639570"/>
            <a:chExt cx="5399405" cy="14217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095" y="1639570"/>
              <a:ext cx="5398897" cy="142125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71819" y="1691386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2" y="21462"/>
                  </a:lnTo>
                  <a:lnTo>
                    <a:pt x="5714" y="44703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14" y="1235455"/>
                  </a:lnTo>
                  <a:lnTo>
                    <a:pt x="21462" y="1258697"/>
                  </a:lnTo>
                  <a:lnTo>
                    <a:pt x="44703" y="1274444"/>
                  </a:lnTo>
                  <a:lnTo>
                    <a:pt x="73151" y="1280160"/>
                  </a:lnTo>
                  <a:lnTo>
                    <a:pt x="5184648" y="1280160"/>
                  </a:lnTo>
                  <a:lnTo>
                    <a:pt x="5213096" y="1274444"/>
                  </a:lnTo>
                  <a:lnTo>
                    <a:pt x="5236336" y="1258697"/>
                  </a:lnTo>
                  <a:lnTo>
                    <a:pt x="5252084" y="1235455"/>
                  </a:lnTo>
                  <a:lnTo>
                    <a:pt x="5257800" y="1207008"/>
                  </a:lnTo>
                  <a:lnTo>
                    <a:pt x="5257800" y="73151"/>
                  </a:lnTo>
                  <a:lnTo>
                    <a:pt x="5252084" y="44703"/>
                  </a:lnTo>
                  <a:lnTo>
                    <a:pt x="5236336" y="21462"/>
                  </a:lnTo>
                  <a:lnTo>
                    <a:pt x="5213096" y="5714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400419" y="1897126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80">
                  <a:moveTo>
                    <a:pt x="434339" y="0"/>
                  </a:moveTo>
                  <a:lnTo>
                    <a:pt x="386969" y="2539"/>
                  </a:lnTo>
                  <a:lnTo>
                    <a:pt x="341122" y="10033"/>
                  </a:lnTo>
                  <a:lnTo>
                    <a:pt x="297052" y="22098"/>
                  </a:lnTo>
                  <a:lnTo>
                    <a:pt x="254888" y="38608"/>
                  </a:lnTo>
                  <a:lnTo>
                    <a:pt x="215137" y="59309"/>
                  </a:lnTo>
                  <a:lnTo>
                    <a:pt x="177800" y="83820"/>
                  </a:lnTo>
                  <a:lnTo>
                    <a:pt x="143382" y="111887"/>
                  </a:lnTo>
                  <a:lnTo>
                    <a:pt x="111886" y="143256"/>
                  </a:lnTo>
                  <a:lnTo>
                    <a:pt x="83819" y="177800"/>
                  </a:lnTo>
                  <a:lnTo>
                    <a:pt x="59308" y="215137"/>
                  </a:lnTo>
                  <a:lnTo>
                    <a:pt x="38607" y="254888"/>
                  </a:lnTo>
                  <a:lnTo>
                    <a:pt x="22097" y="297052"/>
                  </a:lnTo>
                  <a:lnTo>
                    <a:pt x="10032" y="341122"/>
                  </a:lnTo>
                  <a:lnTo>
                    <a:pt x="2539" y="386969"/>
                  </a:lnTo>
                  <a:lnTo>
                    <a:pt x="0" y="434339"/>
                  </a:lnTo>
                  <a:lnTo>
                    <a:pt x="2539" y="481711"/>
                  </a:lnTo>
                  <a:lnTo>
                    <a:pt x="10032" y="527558"/>
                  </a:lnTo>
                  <a:lnTo>
                    <a:pt x="22097" y="571626"/>
                  </a:lnTo>
                  <a:lnTo>
                    <a:pt x="38607" y="613790"/>
                  </a:lnTo>
                  <a:lnTo>
                    <a:pt x="59308" y="653541"/>
                  </a:lnTo>
                  <a:lnTo>
                    <a:pt x="83819" y="690879"/>
                  </a:lnTo>
                  <a:lnTo>
                    <a:pt x="111886" y="725297"/>
                  </a:lnTo>
                  <a:lnTo>
                    <a:pt x="143382" y="756793"/>
                  </a:lnTo>
                  <a:lnTo>
                    <a:pt x="177800" y="784860"/>
                  </a:lnTo>
                  <a:lnTo>
                    <a:pt x="215137" y="809371"/>
                  </a:lnTo>
                  <a:lnTo>
                    <a:pt x="254888" y="830072"/>
                  </a:lnTo>
                  <a:lnTo>
                    <a:pt x="297052" y="846582"/>
                  </a:lnTo>
                  <a:lnTo>
                    <a:pt x="341122" y="858647"/>
                  </a:lnTo>
                  <a:lnTo>
                    <a:pt x="386969" y="866139"/>
                  </a:lnTo>
                  <a:lnTo>
                    <a:pt x="434339" y="868679"/>
                  </a:lnTo>
                  <a:lnTo>
                    <a:pt x="481710" y="866139"/>
                  </a:lnTo>
                  <a:lnTo>
                    <a:pt x="527557" y="858647"/>
                  </a:lnTo>
                  <a:lnTo>
                    <a:pt x="571626" y="846582"/>
                  </a:lnTo>
                  <a:lnTo>
                    <a:pt x="613790" y="830072"/>
                  </a:lnTo>
                  <a:lnTo>
                    <a:pt x="653541" y="809371"/>
                  </a:lnTo>
                  <a:lnTo>
                    <a:pt x="690879" y="784860"/>
                  </a:lnTo>
                  <a:lnTo>
                    <a:pt x="725297" y="756793"/>
                  </a:lnTo>
                  <a:lnTo>
                    <a:pt x="756792" y="725297"/>
                  </a:lnTo>
                  <a:lnTo>
                    <a:pt x="784859" y="690879"/>
                  </a:lnTo>
                  <a:lnTo>
                    <a:pt x="809371" y="653541"/>
                  </a:lnTo>
                  <a:lnTo>
                    <a:pt x="830072" y="613790"/>
                  </a:lnTo>
                  <a:lnTo>
                    <a:pt x="846581" y="571626"/>
                  </a:lnTo>
                  <a:lnTo>
                    <a:pt x="858647" y="527558"/>
                  </a:lnTo>
                  <a:lnTo>
                    <a:pt x="866139" y="481711"/>
                  </a:lnTo>
                  <a:lnTo>
                    <a:pt x="868679" y="434339"/>
                  </a:lnTo>
                  <a:lnTo>
                    <a:pt x="866139" y="386969"/>
                  </a:lnTo>
                  <a:lnTo>
                    <a:pt x="858647" y="341122"/>
                  </a:lnTo>
                  <a:lnTo>
                    <a:pt x="846581" y="297052"/>
                  </a:lnTo>
                  <a:lnTo>
                    <a:pt x="830072" y="254888"/>
                  </a:lnTo>
                  <a:lnTo>
                    <a:pt x="809371" y="215137"/>
                  </a:lnTo>
                  <a:lnTo>
                    <a:pt x="784859" y="177800"/>
                  </a:lnTo>
                  <a:lnTo>
                    <a:pt x="756792" y="143256"/>
                  </a:lnTo>
                  <a:lnTo>
                    <a:pt x="725297" y="111887"/>
                  </a:lnTo>
                  <a:lnTo>
                    <a:pt x="690879" y="83820"/>
                  </a:lnTo>
                  <a:lnTo>
                    <a:pt x="653541" y="59309"/>
                  </a:lnTo>
                  <a:lnTo>
                    <a:pt x="613790" y="38608"/>
                  </a:lnTo>
                  <a:lnTo>
                    <a:pt x="571626" y="22098"/>
                  </a:lnTo>
                  <a:lnTo>
                    <a:pt x="527557" y="10033"/>
                  </a:lnTo>
                  <a:lnTo>
                    <a:pt x="481710" y="253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/home/claude/icons/briefcase_whit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3195" y="2009902"/>
              <a:ext cx="643127" cy="64312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532878" y="1911172"/>
            <a:ext cx="2028825" cy="7232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Internship Overview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Role,</a:t>
            </a:r>
            <a:r>
              <a:rPr dirty="0" sz="11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duration,</a:t>
            </a:r>
            <a:r>
              <a:rPr dirty="0" sz="11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1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working</a:t>
            </a:r>
            <a:r>
              <a:rPr dirty="0" sz="11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6B7080"/>
                </a:solidFill>
                <a:latin typeface="Calibri"/>
                <a:cs typeface="Calibri"/>
              </a:rPr>
              <a:t>mode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0534" y="3148329"/>
            <a:ext cx="5399405" cy="1421765"/>
            <a:chOff x="470534" y="3148329"/>
            <a:chExt cx="5399405" cy="142176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34" y="3148329"/>
              <a:ext cx="5398897" cy="14212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8258" y="3200145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53" y="1235455"/>
                  </a:lnTo>
                  <a:lnTo>
                    <a:pt x="21424" y="1258696"/>
                  </a:lnTo>
                  <a:lnTo>
                    <a:pt x="44678" y="1274445"/>
                  </a:lnTo>
                  <a:lnTo>
                    <a:pt x="73151" y="1280159"/>
                  </a:lnTo>
                  <a:lnTo>
                    <a:pt x="5184648" y="1280159"/>
                  </a:lnTo>
                  <a:lnTo>
                    <a:pt x="5213095" y="1274445"/>
                  </a:lnTo>
                  <a:lnTo>
                    <a:pt x="5236337" y="1258696"/>
                  </a:lnTo>
                  <a:lnTo>
                    <a:pt x="5252085" y="1235455"/>
                  </a:lnTo>
                  <a:lnTo>
                    <a:pt x="5257800" y="1207008"/>
                  </a:lnTo>
                  <a:lnTo>
                    <a:pt x="5257800" y="73151"/>
                  </a:lnTo>
                  <a:lnTo>
                    <a:pt x="5252085" y="44703"/>
                  </a:lnTo>
                  <a:lnTo>
                    <a:pt x="5236337" y="21462"/>
                  </a:lnTo>
                  <a:lnTo>
                    <a:pt x="5213095" y="5714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76859" y="3405885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79">
                  <a:moveTo>
                    <a:pt x="434340" y="0"/>
                  </a:moveTo>
                  <a:lnTo>
                    <a:pt x="387019" y="2539"/>
                  </a:lnTo>
                  <a:lnTo>
                    <a:pt x="341160" y="10033"/>
                  </a:lnTo>
                  <a:lnTo>
                    <a:pt x="297053" y="22098"/>
                  </a:lnTo>
                  <a:lnTo>
                    <a:pt x="254952" y="38608"/>
                  </a:lnTo>
                  <a:lnTo>
                    <a:pt x="215125" y="59309"/>
                  </a:lnTo>
                  <a:lnTo>
                    <a:pt x="177825" y="83819"/>
                  </a:lnTo>
                  <a:lnTo>
                    <a:pt x="143332" y="111887"/>
                  </a:lnTo>
                  <a:lnTo>
                    <a:pt x="111899" y="143255"/>
                  </a:lnTo>
                  <a:lnTo>
                    <a:pt x="83807" y="177800"/>
                  </a:lnTo>
                  <a:lnTo>
                    <a:pt x="59296" y="215137"/>
                  </a:lnTo>
                  <a:lnTo>
                    <a:pt x="38658" y="254888"/>
                  </a:lnTo>
                  <a:lnTo>
                    <a:pt x="22148" y="297052"/>
                  </a:lnTo>
                  <a:lnTo>
                    <a:pt x="10020" y="341121"/>
                  </a:lnTo>
                  <a:lnTo>
                    <a:pt x="2552" y="386969"/>
                  </a:lnTo>
                  <a:lnTo>
                    <a:pt x="0" y="434339"/>
                  </a:lnTo>
                  <a:lnTo>
                    <a:pt x="2552" y="481711"/>
                  </a:lnTo>
                  <a:lnTo>
                    <a:pt x="10020" y="527557"/>
                  </a:lnTo>
                  <a:lnTo>
                    <a:pt x="22148" y="571626"/>
                  </a:lnTo>
                  <a:lnTo>
                    <a:pt x="38658" y="613790"/>
                  </a:lnTo>
                  <a:lnTo>
                    <a:pt x="59296" y="653541"/>
                  </a:lnTo>
                  <a:lnTo>
                    <a:pt x="83807" y="690880"/>
                  </a:lnTo>
                  <a:lnTo>
                    <a:pt x="111899" y="725296"/>
                  </a:lnTo>
                  <a:lnTo>
                    <a:pt x="143332" y="756793"/>
                  </a:lnTo>
                  <a:lnTo>
                    <a:pt x="177825" y="784859"/>
                  </a:lnTo>
                  <a:lnTo>
                    <a:pt x="215125" y="809370"/>
                  </a:lnTo>
                  <a:lnTo>
                    <a:pt x="254952" y="830071"/>
                  </a:lnTo>
                  <a:lnTo>
                    <a:pt x="297053" y="846582"/>
                  </a:lnTo>
                  <a:lnTo>
                    <a:pt x="341160" y="858646"/>
                  </a:lnTo>
                  <a:lnTo>
                    <a:pt x="387019" y="866139"/>
                  </a:lnTo>
                  <a:lnTo>
                    <a:pt x="434340" y="868680"/>
                  </a:lnTo>
                  <a:lnTo>
                    <a:pt x="481672" y="866139"/>
                  </a:lnTo>
                  <a:lnTo>
                    <a:pt x="527557" y="858646"/>
                  </a:lnTo>
                  <a:lnTo>
                    <a:pt x="571627" y="846582"/>
                  </a:lnTo>
                  <a:lnTo>
                    <a:pt x="613791" y="830071"/>
                  </a:lnTo>
                  <a:lnTo>
                    <a:pt x="653541" y="809370"/>
                  </a:lnTo>
                  <a:lnTo>
                    <a:pt x="690879" y="784859"/>
                  </a:lnTo>
                  <a:lnTo>
                    <a:pt x="725297" y="756793"/>
                  </a:lnTo>
                  <a:lnTo>
                    <a:pt x="756793" y="725296"/>
                  </a:lnTo>
                  <a:lnTo>
                    <a:pt x="784860" y="690880"/>
                  </a:lnTo>
                  <a:lnTo>
                    <a:pt x="809371" y="653541"/>
                  </a:lnTo>
                  <a:lnTo>
                    <a:pt x="830072" y="613790"/>
                  </a:lnTo>
                  <a:lnTo>
                    <a:pt x="846582" y="571626"/>
                  </a:lnTo>
                  <a:lnTo>
                    <a:pt x="858647" y="527557"/>
                  </a:lnTo>
                  <a:lnTo>
                    <a:pt x="866140" y="481711"/>
                  </a:lnTo>
                  <a:lnTo>
                    <a:pt x="868679" y="434339"/>
                  </a:lnTo>
                  <a:lnTo>
                    <a:pt x="866140" y="386969"/>
                  </a:lnTo>
                  <a:lnTo>
                    <a:pt x="858647" y="341121"/>
                  </a:lnTo>
                  <a:lnTo>
                    <a:pt x="846582" y="297052"/>
                  </a:lnTo>
                  <a:lnTo>
                    <a:pt x="830072" y="254888"/>
                  </a:lnTo>
                  <a:lnTo>
                    <a:pt x="809371" y="215137"/>
                  </a:lnTo>
                  <a:lnTo>
                    <a:pt x="784860" y="177800"/>
                  </a:lnTo>
                  <a:lnTo>
                    <a:pt x="756793" y="143255"/>
                  </a:lnTo>
                  <a:lnTo>
                    <a:pt x="725297" y="111887"/>
                  </a:lnTo>
                  <a:lnTo>
                    <a:pt x="690879" y="83819"/>
                  </a:lnTo>
                  <a:lnTo>
                    <a:pt x="653541" y="59309"/>
                  </a:lnTo>
                  <a:lnTo>
                    <a:pt x="613791" y="38608"/>
                  </a:lnTo>
                  <a:lnTo>
                    <a:pt x="571627" y="22098"/>
                  </a:lnTo>
                  <a:lnTo>
                    <a:pt x="527557" y="10033"/>
                  </a:lnTo>
                  <a:lnTo>
                    <a:pt x="481672" y="2539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/home/claude/icons/lightbulb_whit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9634" y="3518661"/>
              <a:ext cx="643128" cy="64312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08175" y="3421126"/>
            <a:ext cx="2143760" cy="722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Problem</a:t>
            </a:r>
            <a:r>
              <a:rPr dirty="0" sz="1500" spc="-45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500" spc="-50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Objectives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What</a:t>
            </a:r>
            <a:r>
              <a:rPr dirty="0" sz="1150" spc="-3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needed</a:t>
            </a:r>
            <a:r>
              <a:rPr dirty="0" sz="1150" spc="-3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to</a:t>
            </a:r>
            <a:r>
              <a:rPr dirty="0" sz="1150" spc="-1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be</a:t>
            </a:r>
            <a:r>
              <a:rPr dirty="0" sz="1150" spc="-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solved,</a:t>
            </a:r>
            <a:r>
              <a:rPr dirty="0" sz="1150" spc="-3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1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6B7080"/>
                </a:solidFill>
                <a:latin typeface="Calibri"/>
                <a:cs typeface="Calibri"/>
              </a:rPr>
              <a:t>why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94095" y="3148329"/>
            <a:ext cx="5399405" cy="1421765"/>
            <a:chOff x="6094095" y="3148329"/>
            <a:chExt cx="5399405" cy="142176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095" y="3148329"/>
              <a:ext cx="5398897" cy="142125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71819" y="3200145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2" y="21462"/>
                  </a:lnTo>
                  <a:lnTo>
                    <a:pt x="5714" y="44703"/>
                  </a:lnTo>
                  <a:lnTo>
                    <a:pt x="0" y="73151"/>
                  </a:lnTo>
                  <a:lnTo>
                    <a:pt x="0" y="1207008"/>
                  </a:lnTo>
                  <a:lnTo>
                    <a:pt x="5714" y="1235455"/>
                  </a:lnTo>
                  <a:lnTo>
                    <a:pt x="21462" y="1258696"/>
                  </a:lnTo>
                  <a:lnTo>
                    <a:pt x="44703" y="1274445"/>
                  </a:lnTo>
                  <a:lnTo>
                    <a:pt x="73151" y="1280159"/>
                  </a:lnTo>
                  <a:lnTo>
                    <a:pt x="5184648" y="1280159"/>
                  </a:lnTo>
                  <a:lnTo>
                    <a:pt x="5213096" y="1274445"/>
                  </a:lnTo>
                  <a:lnTo>
                    <a:pt x="5236336" y="1258696"/>
                  </a:lnTo>
                  <a:lnTo>
                    <a:pt x="5252084" y="1235455"/>
                  </a:lnTo>
                  <a:lnTo>
                    <a:pt x="5257800" y="1207008"/>
                  </a:lnTo>
                  <a:lnTo>
                    <a:pt x="5257800" y="73151"/>
                  </a:lnTo>
                  <a:lnTo>
                    <a:pt x="5252084" y="44703"/>
                  </a:lnTo>
                  <a:lnTo>
                    <a:pt x="5236336" y="21462"/>
                  </a:lnTo>
                  <a:lnTo>
                    <a:pt x="5213096" y="5714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00419" y="3405885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79">
                  <a:moveTo>
                    <a:pt x="434339" y="0"/>
                  </a:moveTo>
                  <a:lnTo>
                    <a:pt x="386969" y="2539"/>
                  </a:lnTo>
                  <a:lnTo>
                    <a:pt x="341122" y="10033"/>
                  </a:lnTo>
                  <a:lnTo>
                    <a:pt x="297052" y="22098"/>
                  </a:lnTo>
                  <a:lnTo>
                    <a:pt x="254888" y="38608"/>
                  </a:lnTo>
                  <a:lnTo>
                    <a:pt x="215137" y="59309"/>
                  </a:lnTo>
                  <a:lnTo>
                    <a:pt x="177800" y="83819"/>
                  </a:lnTo>
                  <a:lnTo>
                    <a:pt x="143382" y="111887"/>
                  </a:lnTo>
                  <a:lnTo>
                    <a:pt x="111886" y="143255"/>
                  </a:lnTo>
                  <a:lnTo>
                    <a:pt x="83819" y="177800"/>
                  </a:lnTo>
                  <a:lnTo>
                    <a:pt x="59308" y="215137"/>
                  </a:lnTo>
                  <a:lnTo>
                    <a:pt x="38607" y="254888"/>
                  </a:lnTo>
                  <a:lnTo>
                    <a:pt x="22097" y="297052"/>
                  </a:lnTo>
                  <a:lnTo>
                    <a:pt x="10032" y="341121"/>
                  </a:lnTo>
                  <a:lnTo>
                    <a:pt x="2539" y="386969"/>
                  </a:lnTo>
                  <a:lnTo>
                    <a:pt x="0" y="434339"/>
                  </a:lnTo>
                  <a:lnTo>
                    <a:pt x="2539" y="481711"/>
                  </a:lnTo>
                  <a:lnTo>
                    <a:pt x="10032" y="527557"/>
                  </a:lnTo>
                  <a:lnTo>
                    <a:pt x="22097" y="571626"/>
                  </a:lnTo>
                  <a:lnTo>
                    <a:pt x="38607" y="613790"/>
                  </a:lnTo>
                  <a:lnTo>
                    <a:pt x="59308" y="653541"/>
                  </a:lnTo>
                  <a:lnTo>
                    <a:pt x="83819" y="690880"/>
                  </a:lnTo>
                  <a:lnTo>
                    <a:pt x="111886" y="725296"/>
                  </a:lnTo>
                  <a:lnTo>
                    <a:pt x="143382" y="756793"/>
                  </a:lnTo>
                  <a:lnTo>
                    <a:pt x="177800" y="784859"/>
                  </a:lnTo>
                  <a:lnTo>
                    <a:pt x="215137" y="809370"/>
                  </a:lnTo>
                  <a:lnTo>
                    <a:pt x="254888" y="830071"/>
                  </a:lnTo>
                  <a:lnTo>
                    <a:pt x="297052" y="846582"/>
                  </a:lnTo>
                  <a:lnTo>
                    <a:pt x="341122" y="858646"/>
                  </a:lnTo>
                  <a:lnTo>
                    <a:pt x="386969" y="866139"/>
                  </a:lnTo>
                  <a:lnTo>
                    <a:pt x="434339" y="868680"/>
                  </a:lnTo>
                  <a:lnTo>
                    <a:pt x="481710" y="866139"/>
                  </a:lnTo>
                  <a:lnTo>
                    <a:pt x="527557" y="858646"/>
                  </a:lnTo>
                  <a:lnTo>
                    <a:pt x="571626" y="846582"/>
                  </a:lnTo>
                  <a:lnTo>
                    <a:pt x="613790" y="830071"/>
                  </a:lnTo>
                  <a:lnTo>
                    <a:pt x="653541" y="809370"/>
                  </a:lnTo>
                  <a:lnTo>
                    <a:pt x="690879" y="784859"/>
                  </a:lnTo>
                  <a:lnTo>
                    <a:pt x="725297" y="756793"/>
                  </a:lnTo>
                  <a:lnTo>
                    <a:pt x="756792" y="725296"/>
                  </a:lnTo>
                  <a:lnTo>
                    <a:pt x="784859" y="690880"/>
                  </a:lnTo>
                  <a:lnTo>
                    <a:pt x="809371" y="653541"/>
                  </a:lnTo>
                  <a:lnTo>
                    <a:pt x="830072" y="613790"/>
                  </a:lnTo>
                  <a:lnTo>
                    <a:pt x="846581" y="571626"/>
                  </a:lnTo>
                  <a:lnTo>
                    <a:pt x="858647" y="527557"/>
                  </a:lnTo>
                  <a:lnTo>
                    <a:pt x="866139" y="481711"/>
                  </a:lnTo>
                  <a:lnTo>
                    <a:pt x="868679" y="434339"/>
                  </a:lnTo>
                  <a:lnTo>
                    <a:pt x="866139" y="386969"/>
                  </a:lnTo>
                  <a:lnTo>
                    <a:pt x="858647" y="341121"/>
                  </a:lnTo>
                  <a:lnTo>
                    <a:pt x="846581" y="297052"/>
                  </a:lnTo>
                  <a:lnTo>
                    <a:pt x="830072" y="254888"/>
                  </a:lnTo>
                  <a:lnTo>
                    <a:pt x="809371" y="215137"/>
                  </a:lnTo>
                  <a:lnTo>
                    <a:pt x="784859" y="177800"/>
                  </a:lnTo>
                  <a:lnTo>
                    <a:pt x="756792" y="143255"/>
                  </a:lnTo>
                  <a:lnTo>
                    <a:pt x="725297" y="111887"/>
                  </a:lnTo>
                  <a:lnTo>
                    <a:pt x="690879" y="83819"/>
                  </a:lnTo>
                  <a:lnTo>
                    <a:pt x="653541" y="59309"/>
                  </a:lnTo>
                  <a:lnTo>
                    <a:pt x="613790" y="38608"/>
                  </a:lnTo>
                  <a:lnTo>
                    <a:pt x="571626" y="22098"/>
                  </a:lnTo>
                  <a:lnTo>
                    <a:pt x="527557" y="10033"/>
                  </a:lnTo>
                  <a:lnTo>
                    <a:pt x="481710" y="253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/home/claude/icons/microchip_whit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3195" y="3518661"/>
              <a:ext cx="643127" cy="64312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532878" y="3421126"/>
            <a:ext cx="2103755" cy="722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Technology</a:t>
            </a:r>
            <a:r>
              <a:rPr dirty="0" sz="1500" spc="-65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500" spc="-55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Architecture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Stack,</a:t>
            </a:r>
            <a:r>
              <a:rPr dirty="0" sz="11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tools,</a:t>
            </a:r>
            <a:r>
              <a:rPr dirty="0" sz="1150" spc="-1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150" spc="-5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system</a:t>
            </a:r>
            <a:r>
              <a:rPr dirty="0" sz="1150" spc="-5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design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0534" y="4657090"/>
            <a:ext cx="5399405" cy="1421765"/>
            <a:chOff x="470534" y="4657090"/>
            <a:chExt cx="5399405" cy="14217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34" y="4657090"/>
              <a:ext cx="5398897" cy="142125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8258" y="4708906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678" y="5715"/>
                  </a:lnTo>
                  <a:lnTo>
                    <a:pt x="21424" y="21463"/>
                  </a:lnTo>
                  <a:lnTo>
                    <a:pt x="5753" y="44704"/>
                  </a:lnTo>
                  <a:lnTo>
                    <a:pt x="0" y="73152"/>
                  </a:lnTo>
                  <a:lnTo>
                    <a:pt x="0" y="1207008"/>
                  </a:lnTo>
                  <a:lnTo>
                    <a:pt x="5753" y="1235481"/>
                  </a:lnTo>
                  <a:lnTo>
                    <a:pt x="21424" y="1258735"/>
                  </a:lnTo>
                  <a:lnTo>
                    <a:pt x="44678" y="1274406"/>
                  </a:lnTo>
                  <a:lnTo>
                    <a:pt x="73151" y="1280160"/>
                  </a:lnTo>
                  <a:lnTo>
                    <a:pt x="5184648" y="1280160"/>
                  </a:lnTo>
                  <a:lnTo>
                    <a:pt x="5213095" y="1274406"/>
                  </a:lnTo>
                  <a:lnTo>
                    <a:pt x="5236337" y="1258735"/>
                  </a:lnTo>
                  <a:lnTo>
                    <a:pt x="5252085" y="1235481"/>
                  </a:lnTo>
                  <a:lnTo>
                    <a:pt x="5257800" y="1207008"/>
                  </a:lnTo>
                  <a:lnTo>
                    <a:pt x="5257800" y="73152"/>
                  </a:lnTo>
                  <a:lnTo>
                    <a:pt x="5252085" y="44704"/>
                  </a:lnTo>
                  <a:lnTo>
                    <a:pt x="5236337" y="21463"/>
                  </a:lnTo>
                  <a:lnTo>
                    <a:pt x="5213095" y="5715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76859" y="4914646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79">
                  <a:moveTo>
                    <a:pt x="434340" y="0"/>
                  </a:moveTo>
                  <a:lnTo>
                    <a:pt x="387019" y="2539"/>
                  </a:lnTo>
                  <a:lnTo>
                    <a:pt x="341160" y="10032"/>
                  </a:lnTo>
                  <a:lnTo>
                    <a:pt x="297053" y="22097"/>
                  </a:lnTo>
                  <a:lnTo>
                    <a:pt x="254952" y="38607"/>
                  </a:lnTo>
                  <a:lnTo>
                    <a:pt x="215125" y="59308"/>
                  </a:lnTo>
                  <a:lnTo>
                    <a:pt x="177825" y="83819"/>
                  </a:lnTo>
                  <a:lnTo>
                    <a:pt x="143332" y="111886"/>
                  </a:lnTo>
                  <a:lnTo>
                    <a:pt x="111899" y="143255"/>
                  </a:lnTo>
                  <a:lnTo>
                    <a:pt x="83807" y="177799"/>
                  </a:lnTo>
                  <a:lnTo>
                    <a:pt x="59296" y="215137"/>
                  </a:lnTo>
                  <a:lnTo>
                    <a:pt x="38658" y="254888"/>
                  </a:lnTo>
                  <a:lnTo>
                    <a:pt x="22148" y="297052"/>
                  </a:lnTo>
                  <a:lnTo>
                    <a:pt x="10020" y="341121"/>
                  </a:lnTo>
                  <a:lnTo>
                    <a:pt x="2552" y="386968"/>
                  </a:lnTo>
                  <a:lnTo>
                    <a:pt x="0" y="434339"/>
                  </a:lnTo>
                  <a:lnTo>
                    <a:pt x="2552" y="481710"/>
                  </a:lnTo>
                  <a:lnTo>
                    <a:pt x="10020" y="527557"/>
                  </a:lnTo>
                  <a:lnTo>
                    <a:pt x="22148" y="571626"/>
                  </a:lnTo>
                  <a:lnTo>
                    <a:pt x="38658" y="613663"/>
                  </a:lnTo>
                  <a:lnTo>
                    <a:pt x="59296" y="653541"/>
                  </a:lnTo>
                  <a:lnTo>
                    <a:pt x="83807" y="690854"/>
                  </a:lnTo>
                  <a:lnTo>
                    <a:pt x="111899" y="725347"/>
                  </a:lnTo>
                  <a:lnTo>
                    <a:pt x="143332" y="756780"/>
                  </a:lnTo>
                  <a:lnTo>
                    <a:pt x="177825" y="784872"/>
                  </a:lnTo>
                  <a:lnTo>
                    <a:pt x="215125" y="809383"/>
                  </a:lnTo>
                  <a:lnTo>
                    <a:pt x="254952" y="830021"/>
                  </a:lnTo>
                  <a:lnTo>
                    <a:pt x="297053" y="846531"/>
                  </a:lnTo>
                  <a:lnTo>
                    <a:pt x="341160" y="858659"/>
                  </a:lnTo>
                  <a:lnTo>
                    <a:pt x="387019" y="866127"/>
                  </a:lnTo>
                  <a:lnTo>
                    <a:pt x="434340" y="868679"/>
                  </a:lnTo>
                  <a:lnTo>
                    <a:pt x="481672" y="866127"/>
                  </a:lnTo>
                  <a:lnTo>
                    <a:pt x="527557" y="858659"/>
                  </a:lnTo>
                  <a:lnTo>
                    <a:pt x="571627" y="846531"/>
                  </a:lnTo>
                  <a:lnTo>
                    <a:pt x="613791" y="830021"/>
                  </a:lnTo>
                  <a:lnTo>
                    <a:pt x="653541" y="809383"/>
                  </a:lnTo>
                  <a:lnTo>
                    <a:pt x="690879" y="784872"/>
                  </a:lnTo>
                  <a:lnTo>
                    <a:pt x="725297" y="756780"/>
                  </a:lnTo>
                  <a:lnTo>
                    <a:pt x="756793" y="725347"/>
                  </a:lnTo>
                  <a:lnTo>
                    <a:pt x="784860" y="690854"/>
                  </a:lnTo>
                  <a:lnTo>
                    <a:pt x="809371" y="653541"/>
                  </a:lnTo>
                  <a:lnTo>
                    <a:pt x="830072" y="613663"/>
                  </a:lnTo>
                  <a:lnTo>
                    <a:pt x="846582" y="571626"/>
                  </a:lnTo>
                  <a:lnTo>
                    <a:pt x="858647" y="527557"/>
                  </a:lnTo>
                  <a:lnTo>
                    <a:pt x="866140" y="481710"/>
                  </a:lnTo>
                  <a:lnTo>
                    <a:pt x="868679" y="434339"/>
                  </a:lnTo>
                  <a:lnTo>
                    <a:pt x="866140" y="386968"/>
                  </a:lnTo>
                  <a:lnTo>
                    <a:pt x="858647" y="341121"/>
                  </a:lnTo>
                  <a:lnTo>
                    <a:pt x="846582" y="297052"/>
                  </a:lnTo>
                  <a:lnTo>
                    <a:pt x="830072" y="254888"/>
                  </a:lnTo>
                  <a:lnTo>
                    <a:pt x="809371" y="215137"/>
                  </a:lnTo>
                  <a:lnTo>
                    <a:pt x="784860" y="177799"/>
                  </a:lnTo>
                  <a:lnTo>
                    <a:pt x="756793" y="143255"/>
                  </a:lnTo>
                  <a:lnTo>
                    <a:pt x="725297" y="111886"/>
                  </a:lnTo>
                  <a:lnTo>
                    <a:pt x="690879" y="83819"/>
                  </a:lnTo>
                  <a:lnTo>
                    <a:pt x="653541" y="59308"/>
                  </a:lnTo>
                  <a:lnTo>
                    <a:pt x="613791" y="38607"/>
                  </a:lnTo>
                  <a:lnTo>
                    <a:pt x="571627" y="22097"/>
                  </a:lnTo>
                  <a:lnTo>
                    <a:pt x="527557" y="10032"/>
                  </a:lnTo>
                  <a:lnTo>
                    <a:pt x="481672" y="2539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/home/claude/icons/cogs_whit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9634" y="5027422"/>
              <a:ext cx="643128" cy="64312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908175" y="4930521"/>
            <a:ext cx="1957705" cy="722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Methodology</a:t>
            </a:r>
            <a:r>
              <a:rPr dirty="0" sz="1500" spc="-40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500" spc="-80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Delivery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How</a:t>
            </a:r>
            <a:r>
              <a:rPr dirty="0" sz="1150" spc="-6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the</a:t>
            </a:r>
            <a:r>
              <a:rPr dirty="0" sz="11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project</a:t>
            </a:r>
            <a:r>
              <a:rPr dirty="0" sz="1150" spc="-3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was</a:t>
            </a:r>
            <a:r>
              <a:rPr dirty="0" sz="11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6B7080"/>
                </a:solidFill>
                <a:latin typeface="Calibri"/>
                <a:cs typeface="Calibri"/>
              </a:rPr>
              <a:t>built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94095" y="4657090"/>
            <a:ext cx="5399405" cy="1421765"/>
            <a:chOff x="6094095" y="4657090"/>
            <a:chExt cx="5399405" cy="142176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4095" y="4657090"/>
              <a:ext cx="5398897" cy="142125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171819" y="4708906"/>
              <a:ext cx="5257800" cy="1280160"/>
            </a:xfrm>
            <a:custGeom>
              <a:avLst/>
              <a:gdLst/>
              <a:ahLst/>
              <a:cxnLst/>
              <a:rect l="l" t="t" r="r" b="b"/>
              <a:pathLst>
                <a:path w="5257800" h="1280160">
                  <a:moveTo>
                    <a:pt x="5184648" y="0"/>
                  </a:moveTo>
                  <a:lnTo>
                    <a:pt x="73151" y="0"/>
                  </a:lnTo>
                  <a:lnTo>
                    <a:pt x="44703" y="5715"/>
                  </a:lnTo>
                  <a:lnTo>
                    <a:pt x="21462" y="21463"/>
                  </a:lnTo>
                  <a:lnTo>
                    <a:pt x="5714" y="44704"/>
                  </a:lnTo>
                  <a:lnTo>
                    <a:pt x="0" y="73152"/>
                  </a:lnTo>
                  <a:lnTo>
                    <a:pt x="0" y="1207008"/>
                  </a:lnTo>
                  <a:lnTo>
                    <a:pt x="5714" y="1235481"/>
                  </a:lnTo>
                  <a:lnTo>
                    <a:pt x="21462" y="1258735"/>
                  </a:lnTo>
                  <a:lnTo>
                    <a:pt x="44703" y="1274406"/>
                  </a:lnTo>
                  <a:lnTo>
                    <a:pt x="73151" y="1280160"/>
                  </a:lnTo>
                  <a:lnTo>
                    <a:pt x="5184648" y="1280160"/>
                  </a:lnTo>
                  <a:lnTo>
                    <a:pt x="5213096" y="1274406"/>
                  </a:lnTo>
                  <a:lnTo>
                    <a:pt x="5236336" y="1258735"/>
                  </a:lnTo>
                  <a:lnTo>
                    <a:pt x="5252084" y="1235481"/>
                  </a:lnTo>
                  <a:lnTo>
                    <a:pt x="5257800" y="1207008"/>
                  </a:lnTo>
                  <a:lnTo>
                    <a:pt x="5257800" y="73152"/>
                  </a:lnTo>
                  <a:lnTo>
                    <a:pt x="5252084" y="44704"/>
                  </a:lnTo>
                  <a:lnTo>
                    <a:pt x="5236336" y="21463"/>
                  </a:lnTo>
                  <a:lnTo>
                    <a:pt x="5213096" y="5715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00419" y="4914646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79">
                  <a:moveTo>
                    <a:pt x="434339" y="0"/>
                  </a:moveTo>
                  <a:lnTo>
                    <a:pt x="386969" y="2539"/>
                  </a:lnTo>
                  <a:lnTo>
                    <a:pt x="341122" y="10032"/>
                  </a:lnTo>
                  <a:lnTo>
                    <a:pt x="297052" y="22097"/>
                  </a:lnTo>
                  <a:lnTo>
                    <a:pt x="254888" y="38607"/>
                  </a:lnTo>
                  <a:lnTo>
                    <a:pt x="215137" y="59308"/>
                  </a:lnTo>
                  <a:lnTo>
                    <a:pt x="177800" y="83819"/>
                  </a:lnTo>
                  <a:lnTo>
                    <a:pt x="143382" y="111886"/>
                  </a:lnTo>
                  <a:lnTo>
                    <a:pt x="111886" y="143255"/>
                  </a:lnTo>
                  <a:lnTo>
                    <a:pt x="83819" y="177799"/>
                  </a:lnTo>
                  <a:lnTo>
                    <a:pt x="59308" y="215137"/>
                  </a:lnTo>
                  <a:lnTo>
                    <a:pt x="38607" y="254888"/>
                  </a:lnTo>
                  <a:lnTo>
                    <a:pt x="22097" y="297052"/>
                  </a:lnTo>
                  <a:lnTo>
                    <a:pt x="10032" y="341121"/>
                  </a:lnTo>
                  <a:lnTo>
                    <a:pt x="2539" y="386968"/>
                  </a:lnTo>
                  <a:lnTo>
                    <a:pt x="0" y="434339"/>
                  </a:lnTo>
                  <a:lnTo>
                    <a:pt x="2539" y="481710"/>
                  </a:lnTo>
                  <a:lnTo>
                    <a:pt x="10032" y="527557"/>
                  </a:lnTo>
                  <a:lnTo>
                    <a:pt x="22097" y="571626"/>
                  </a:lnTo>
                  <a:lnTo>
                    <a:pt x="38607" y="613663"/>
                  </a:lnTo>
                  <a:lnTo>
                    <a:pt x="59308" y="653541"/>
                  </a:lnTo>
                  <a:lnTo>
                    <a:pt x="83819" y="690854"/>
                  </a:lnTo>
                  <a:lnTo>
                    <a:pt x="111886" y="725347"/>
                  </a:lnTo>
                  <a:lnTo>
                    <a:pt x="143382" y="756780"/>
                  </a:lnTo>
                  <a:lnTo>
                    <a:pt x="177800" y="784872"/>
                  </a:lnTo>
                  <a:lnTo>
                    <a:pt x="215137" y="809383"/>
                  </a:lnTo>
                  <a:lnTo>
                    <a:pt x="254888" y="830021"/>
                  </a:lnTo>
                  <a:lnTo>
                    <a:pt x="297052" y="846531"/>
                  </a:lnTo>
                  <a:lnTo>
                    <a:pt x="341122" y="858659"/>
                  </a:lnTo>
                  <a:lnTo>
                    <a:pt x="386969" y="866127"/>
                  </a:lnTo>
                  <a:lnTo>
                    <a:pt x="434339" y="868679"/>
                  </a:lnTo>
                  <a:lnTo>
                    <a:pt x="481710" y="866127"/>
                  </a:lnTo>
                  <a:lnTo>
                    <a:pt x="527557" y="858659"/>
                  </a:lnTo>
                  <a:lnTo>
                    <a:pt x="571626" y="846531"/>
                  </a:lnTo>
                  <a:lnTo>
                    <a:pt x="613790" y="830021"/>
                  </a:lnTo>
                  <a:lnTo>
                    <a:pt x="653541" y="809383"/>
                  </a:lnTo>
                  <a:lnTo>
                    <a:pt x="690879" y="784872"/>
                  </a:lnTo>
                  <a:lnTo>
                    <a:pt x="725297" y="756780"/>
                  </a:lnTo>
                  <a:lnTo>
                    <a:pt x="756792" y="725347"/>
                  </a:lnTo>
                  <a:lnTo>
                    <a:pt x="784859" y="690854"/>
                  </a:lnTo>
                  <a:lnTo>
                    <a:pt x="809371" y="653541"/>
                  </a:lnTo>
                  <a:lnTo>
                    <a:pt x="830072" y="613663"/>
                  </a:lnTo>
                  <a:lnTo>
                    <a:pt x="846581" y="571626"/>
                  </a:lnTo>
                  <a:lnTo>
                    <a:pt x="858647" y="527557"/>
                  </a:lnTo>
                  <a:lnTo>
                    <a:pt x="866139" y="481710"/>
                  </a:lnTo>
                  <a:lnTo>
                    <a:pt x="868679" y="434339"/>
                  </a:lnTo>
                  <a:lnTo>
                    <a:pt x="866139" y="386968"/>
                  </a:lnTo>
                  <a:lnTo>
                    <a:pt x="858647" y="341121"/>
                  </a:lnTo>
                  <a:lnTo>
                    <a:pt x="846581" y="297052"/>
                  </a:lnTo>
                  <a:lnTo>
                    <a:pt x="830072" y="254888"/>
                  </a:lnTo>
                  <a:lnTo>
                    <a:pt x="809371" y="215137"/>
                  </a:lnTo>
                  <a:lnTo>
                    <a:pt x="784859" y="177799"/>
                  </a:lnTo>
                  <a:lnTo>
                    <a:pt x="756792" y="143255"/>
                  </a:lnTo>
                  <a:lnTo>
                    <a:pt x="725297" y="111886"/>
                  </a:lnTo>
                  <a:lnTo>
                    <a:pt x="690879" y="83819"/>
                  </a:lnTo>
                  <a:lnTo>
                    <a:pt x="653541" y="59308"/>
                  </a:lnTo>
                  <a:lnTo>
                    <a:pt x="613790" y="38607"/>
                  </a:lnTo>
                  <a:lnTo>
                    <a:pt x="571626" y="22097"/>
                  </a:lnTo>
                  <a:lnTo>
                    <a:pt x="527557" y="10032"/>
                  </a:lnTo>
                  <a:lnTo>
                    <a:pt x="481710" y="2539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/home/claude/icons/trophy_white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3195" y="5027422"/>
              <a:ext cx="643127" cy="64312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532878" y="4930521"/>
            <a:ext cx="1793875" cy="722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Outcomes</a:t>
            </a:r>
            <a:r>
              <a:rPr dirty="0" sz="1500" spc="-50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500" spc="-55" b="1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B1B2D"/>
                </a:solidFill>
                <a:latin typeface="Calibri"/>
                <a:cs typeface="Calibri"/>
              </a:rPr>
              <a:t>Learnings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Results</a:t>
            </a:r>
            <a:r>
              <a:rPr dirty="0" sz="115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150" spc="-5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6B7080"/>
                </a:solidFill>
                <a:latin typeface="Calibri"/>
                <a:cs typeface="Calibri"/>
              </a:rPr>
              <a:t>takeaways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2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205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G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Z</a:t>
            </a:r>
            <a:r>
              <a:rPr dirty="0" sz="1200" spc="-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3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P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F</a:t>
            </a:r>
            <a:r>
              <a:rPr dirty="0" sz="1200" spc="-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684" y="746396"/>
            <a:ext cx="4784725" cy="776605"/>
          </a:xfrm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/>
              <a:t>Codec</a:t>
            </a:r>
            <a:r>
              <a:rPr dirty="0" spc="-90"/>
              <a:t> </a:t>
            </a:r>
            <a:r>
              <a:rPr dirty="0" spc="-10"/>
              <a:t>Technologies</a:t>
            </a: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350" b="0" i="1">
                <a:solidFill>
                  <a:srgbClr val="2C9E8F"/>
                </a:solidFill>
                <a:latin typeface="Calibri"/>
                <a:cs typeface="Calibri"/>
              </a:rPr>
              <a:t>IT</a:t>
            </a:r>
            <a:r>
              <a:rPr dirty="0" sz="1350" spc="-5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b="0" i="1">
                <a:solidFill>
                  <a:srgbClr val="2C9E8F"/>
                </a:solidFill>
                <a:latin typeface="Calibri"/>
                <a:cs typeface="Calibri"/>
              </a:rPr>
              <a:t>&amp;</a:t>
            </a:r>
            <a:r>
              <a:rPr dirty="0" sz="1350" spc="-5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Business</a:t>
            </a:r>
            <a:r>
              <a:rPr dirty="0" sz="1350" spc="-1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Consultancy</a:t>
            </a:r>
            <a:r>
              <a:rPr dirty="0" sz="1350" spc="-3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b="0" i="1">
                <a:solidFill>
                  <a:srgbClr val="2C9E8F"/>
                </a:solidFill>
                <a:latin typeface="Calibri"/>
                <a:cs typeface="Calibri"/>
              </a:rPr>
              <a:t>—</a:t>
            </a:r>
            <a:r>
              <a:rPr dirty="0" sz="1350" spc="-40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AICTE</a:t>
            </a:r>
            <a:r>
              <a:rPr dirty="0" sz="1350" spc="-5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b="0" i="1">
                <a:solidFill>
                  <a:srgbClr val="2C9E8F"/>
                </a:solidFill>
                <a:latin typeface="Calibri"/>
                <a:cs typeface="Calibri"/>
              </a:rPr>
              <a:t>&amp;</a:t>
            </a:r>
            <a:r>
              <a:rPr dirty="0" sz="1350" spc="-50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b="0" i="1">
                <a:solidFill>
                  <a:srgbClr val="2C9E8F"/>
                </a:solidFill>
                <a:latin typeface="Calibri"/>
                <a:cs typeface="Calibri"/>
              </a:rPr>
              <a:t>ICAC</a:t>
            </a:r>
            <a:r>
              <a:rPr dirty="0" sz="1350" spc="-30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Approved</a:t>
            </a:r>
            <a:r>
              <a:rPr dirty="0" sz="1350" spc="-3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Training</a:t>
            </a:r>
            <a:r>
              <a:rPr dirty="0" sz="1350" spc="-35" b="0" i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350" spc="-10" b="0" i="1">
                <a:solidFill>
                  <a:srgbClr val="2C9E8F"/>
                </a:solidFill>
                <a:latin typeface="Calibri"/>
                <a:cs typeface="Calibri"/>
              </a:rPr>
              <a:t>Partner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8640" y="1782445"/>
            <a:ext cx="6492240" cy="4206240"/>
            <a:chOff x="548640" y="1782445"/>
            <a:chExt cx="6492240" cy="4206240"/>
          </a:xfrm>
        </p:grpSpPr>
        <p:sp>
          <p:nvSpPr>
            <p:cNvPr id="5" name="object 5"/>
            <p:cNvSpPr/>
            <p:nvPr/>
          </p:nvSpPr>
          <p:spPr>
            <a:xfrm>
              <a:off x="548640" y="1782445"/>
              <a:ext cx="6492240" cy="4206240"/>
            </a:xfrm>
            <a:custGeom>
              <a:avLst/>
              <a:gdLst/>
              <a:ahLst/>
              <a:cxnLst/>
              <a:rect l="l" t="t" r="r" b="b"/>
              <a:pathLst>
                <a:path w="6492240" h="4206240">
                  <a:moveTo>
                    <a:pt x="6419088" y="0"/>
                  </a:moveTo>
                  <a:lnTo>
                    <a:pt x="73139" y="0"/>
                  </a:lnTo>
                  <a:lnTo>
                    <a:pt x="44665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4133100"/>
                  </a:lnTo>
                  <a:lnTo>
                    <a:pt x="5753" y="4161561"/>
                  </a:lnTo>
                  <a:lnTo>
                    <a:pt x="21424" y="4184815"/>
                  </a:lnTo>
                  <a:lnTo>
                    <a:pt x="44665" y="4200486"/>
                  </a:lnTo>
                  <a:lnTo>
                    <a:pt x="73139" y="4206240"/>
                  </a:lnTo>
                  <a:lnTo>
                    <a:pt x="6419088" y="4206240"/>
                  </a:lnTo>
                  <a:lnTo>
                    <a:pt x="6447536" y="4200486"/>
                  </a:lnTo>
                  <a:lnTo>
                    <a:pt x="6470777" y="4184815"/>
                  </a:lnTo>
                  <a:lnTo>
                    <a:pt x="6486525" y="4161561"/>
                  </a:lnTo>
                  <a:lnTo>
                    <a:pt x="6492240" y="4133100"/>
                  </a:lnTo>
                  <a:lnTo>
                    <a:pt x="6492240" y="73151"/>
                  </a:lnTo>
                  <a:lnTo>
                    <a:pt x="6486525" y="44703"/>
                  </a:lnTo>
                  <a:lnTo>
                    <a:pt x="6470777" y="21462"/>
                  </a:lnTo>
                  <a:lnTo>
                    <a:pt x="6447536" y="5714"/>
                  </a:lnTo>
                  <a:lnTo>
                    <a:pt x="641908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0" y="3391790"/>
              <a:ext cx="109728" cy="1097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0" y="3894709"/>
              <a:ext cx="109728" cy="1097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0" y="4397629"/>
              <a:ext cx="109728" cy="1097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0" y="4900549"/>
              <a:ext cx="109728" cy="10972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47724" y="2206904"/>
            <a:ext cx="5473065" cy="68707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12300"/>
              </a:lnSpc>
              <a:spcBef>
                <a:spcPts val="50"/>
              </a:spcBef>
            </a:pP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An</a:t>
            </a:r>
            <a:r>
              <a:rPr dirty="0" sz="130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IT</a:t>
            </a:r>
            <a:r>
              <a:rPr dirty="0" sz="130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and</a:t>
            </a:r>
            <a:r>
              <a:rPr dirty="0" sz="130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business</a:t>
            </a:r>
            <a:r>
              <a:rPr dirty="0" sz="130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consultancy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and</a:t>
            </a:r>
            <a:r>
              <a:rPr dirty="0" sz="130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skilling</a:t>
            </a:r>
            <a:r>
              <a:rPr dirty="0" sz="130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platform</a:t>
            </a:r>
            <a:r>
              <a:rPr dirty="0" sz="130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delivering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services</a:t>
            </a:r>
            <a:r>
              <a:rPr dirty="0" sz="130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across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B1B2D"/>
                </a:solidFill>
                <a:latin typeface="Calibri"/>
                <a:cs typeface="Calibri"/>
              </a:rPr>
              <a:t>27+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countries,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offering</a:t>
            </a:r>
            <a:r>
              <a:rPr dirty="0" sz="130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AICTE-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and</a:t>
            </a:r>
            <a:r>
              <a:rPr dirty="0" sz="130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ICAC-approved internship</a:t>
            </a:r>
            <a:r>
              <a:rPr dirty="0" sz="130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programs</a:t>
            </a:r>
            <a:r>
              <a:rPr dirty="0" sz="130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listed</a:t>
            </a:r>
            <a:r>
              <a:rPr dirty="0" sz="1300" spc="-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on</a:t>
            </a:r>
            <a:r>
              <a:rPr dirty="0" sz="130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B1B2D"/>
                </a:solidFill>
                <a:latin typeface="Calibri"/>
                <a:cs typeface="Calibri"/>
              </a:rPr>
              <a:t>the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National</a:t>
            </a:r>
            <a:r>
              <a:rPr dirty="0" sz="1300" spc="1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Internship</a:t>
            </a:r>
            <a:r>
              <a:rPr dirty="0" sz="1300" spc="1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Portal.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324" y="3316935"/>
            <a:ext cx="12934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Program</a:t>
            </a:r>
            <a:r>
              <a:rPr dirty="0" sz="1300" spc="-45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Manager: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80028" y="3316935"/>
            <a:ext cx="15125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Dr.</a:t>
            </a:r>
            <a:r>
              <a:rPr dirty="0" sz="130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Anurag</a:t>
            </a:r>
            <a:r>
              <a:rPr dirty="0" sz="130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Shrivastava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6324" y="3820414"/>
            <a:ext cx="996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Headquarters: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0028" y="3820414"/>
            <a:ext cx="18192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Chandivali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IT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Hub,</a:t>
            </a:r>
            <a:r>
              <a:rPr dirty="0" sz="130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Mumbai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6324" y="4323715"/>
            <a:ext cx="9664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Certifications: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80028" y="4323715"/>
            <a:ext cx="18389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ISO</a:t>
            </a:r>
            <a:r>
              <a:rPr dirty="0" sz="130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9001:2015,</a:t>
            </a:r>
            <a:r>
              <a:rPr dirty="0" sz="130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B1B2D"/>
                </a:solidFill>
                <a:latin typeface="Calibri"/>
                <a:cs typeface="Calibri"/>
              </a:rPr>
              <a:t>AICTE,</a:t>
            </a:r>
            <a:r>
              <a:rPr dirty="0" sz="130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ICAC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6324" y="4826889"/>
            <a:ext cx="4184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Scale: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80028" y="4826889"/>
            <a:ext cx="15843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17,500+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interns</a:t>
            </a:r>
            <a:r>
              <a:rPr dirty="0" sz="130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B1B2D"/>
                </a:solidFill>
                <a:latin typeface="Calibri"/>
                <a:cs typeface="Calibri"/>
              </a:rPr>
              <a:t>trained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15200" y="1782445"/>
            <a:ext cx="4297680" cy="4206240"/>
            <a:chOff x="7315200" y="1782445"/>
            <a:chExt cx="4297680" cy="4206240"/>
          </a:xfrm>
        </p:grpSpPr>
        <p:sp>
          <p:nvSpPr>
            <p:cNvPr id="20" name="object 20"/>
            <p:cNvSpPr/>
            <p:nvPr/>
          </p:nvSpPr>
          <p:spPr>
            <a:xfrm>
              <a:off x="7315200" y="1782445"/>
              <a:ext cx="4297680" cy="4206240"/>
            </a:xfrm>
            <a:custGeom>
              <a:avLst/>
              <a:gdLst/>
              <a:ahLst/>
              <a:cxnLst/>
              <a:rect l="l" t="t" r="r" b="b"/>
              <a:pathLst>
                <a:path w="4297680" h="4206240">
                  <a:moveTo>
                    <a:pt x="422452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3" y="21462"/>
                  </a:lnTo>
                  <a:lnTo>
                    <a:pt x="5715" y="44703"/>
                  </a:lnTo>
                  <a:lnTo>
                    <a:pt x="0" y="73151"/>
                  </a:lnTo>
                  <a:lnTo>
                    <a:pt x="0" y="4133088"/>
                  </a:lnTo>
                  <a:lnTo>
                    <a:pt x="5715" y="4161561"/>
                  </a:lnTo>
                  <a:lnTo>
                    <a:pt x="21463" y="4184815"/>
                  </a:lnTo>
                  <a:lnTo>
                    <a:pt x="44703" y="4200486"/>
                  </a:lnTo>
                  <a:lnTo>
                    <a:pt x="73151" y="4206240"/>
                  </a:lnTo>
                  <a:lnTo>
                    <a:pt x="4224528" y="4206240"/>
                  </a:lnTo>
                  <a:lnTo>
                    <a:pt x="4252976" y="4200486"/>
                  </a:lnTo>
                  <a:lnTo>
                    <a:pt x="4276217" y="4184815"/>
                  </a:lnTo>
                  <a:lnTo>
                    <a:pt x="4291965" y="4161561"/>
                  </a:lnTo>
                  <a:lnTo>
                    <a:pt x="4297680" y="4133088"/>
                  </a:lnTo>
                  <a:lnTo>
                    <a:pt x="4297680" y="73151"/>
                  </a:lnTo>
                  <a:lnTo>
                    <a:pt x="4291965" y="44703"/>
                  </a:lnTo>
                  <a:lnTo>
                    <a:pt x="4276217" y="21462"/>
                  </a:lnTo>
                  <a:lnTo>
                    <a:pt x="4252976" y="5714"/>
                  </a:lnTo>
                  <a:lnTo>
                    <a:pt x="422452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35240" y="201104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8" y="4063"/>
                  </a:lnTo>
                  <a:lnTo>
                    <a:pt x="163702" y="15747"/>
                  </a:lnTo>
                  <a:lnTo>
                    <a:pt x="124459" y="34289"/>
                  </a:lnTo>
                  <a:lnTo>
                    <a:pt x="89407" y="59054"/>
                  </a:lnTo>
                  <a:lnTo>
                    <a:pt x="59181" y="89407"/>
                  </a:lnTo>
                  <a:lnTo>
                    <a:pt x="34289" y="124459"/>
                  </a:lnTo>
                  <a:lnTo>
                    <a:pt x="15748" y="163702"/>
                  </a:lnTo>
                  <a:lnTo>
                    <a:pt x="4063" y="206247"/>
                  </a:lnTo>
                  <a:lnTo>
                    <a:pt x="0" y="251459"/>
                  </a:lnTo>
                  <a:lnTo>
                    <a:pt x="4063" y="296671"/>
                  </a:lnTo>
                  <a:lnTo>
                    <a:pt x="15748" y="339216"/>
                  </a:lnTo>
                  <a:lnTo>
                    <a:pt x="34289" y="378459"/>
                  </a:lnTo>
                  <a:lnTo>
                    <a:pt x="59181" y="413512"/>
                  </a:lnTo>
                  <a:lnTo>
                    <a:pt x="89407" y="443738"/>
                  </a:lnTo>
                  <a:lnTo>
                    <a:pt x="124459" y="468629"/>
                  </a:lnTo>
                  <a:lnTo>
                    <a:pt x="163702" y="487171"/>
                  </a:lnTo>
                  <a:lnTo>
                    <a:pt x="206248" y="498855"/>
                  </a:lnTo>
                  <a:lnTo>
                    <a:pt x="251459" y="502919"/>
                  </a:lnTo>
                  <a:lnTo>
                    <a:pt x="296671" y="498855"/>
                  </a:lnTo>
                  <a:lnTo>
                    <a:pt x="339216" y="487171"/>
                  </a:lnTo>
                  <a:lnTo>
                    <a:pt x="378459" y="468629"/>
                  </a:lnTo>
                  <a:lnTo>
                    <a:pt x="413511" y="443738"/>
                  </a:lnTo>
                  <a:lnTo>
                    <a:pt x="443737" y="413512"/>
                  </a:lnTo>
                  <a:lnTo>
                    <a:pt x="468629" y="378459"/>
                  </a:lnTo>
                  <a:lnTo>
                    <a:pt x="487171" y="339216"/>
                  </a:lnTo>
                  <a:lnTo>
                    <a:pt x="498855" y="296671"/>
                  </a:lnTo>
                  <a:lnTo>
                    <a:pt x="502919" y="251459"/>
                  </a:lnTo>
                  <a:lnTo>
                    <a:pt x="498855" y="206247"/>
                  </a:lnTo>
                  <a:lnTo>
                    <a:pt x="487171" y="163702"/>
                  </a:lnTo>
                  <a:lnTo>
                    <a:pt x="468629" y="124459"/>
                  </a:lnTo>
                  <a:lnTo>
                    <a:pt x="443737" y="89407"/>
                  </a:lnTo>
                  <a:lnTo>
                    <a:pt x="413511" y="59054"/>
                  </a:lnTo>
                  <a:lnTo>
                    <a:pt x="378459" y="34289"/>
                  </a:lnTo>
                  <a:lnTo>
                    <a:pt x="339216" y="15747"/>
                  </a:lnTo>
                  <a:lnTo>
                    <a:pt x="296671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/home/claude/icons/globe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0772" y="2076577"/>
              <a:ext cx="371855" cy="37185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356218" y="2167889"/>
            <a:ext cx="148907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Accredited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16139" y="3800675"/>
            <a:ext cx="3508375" cy="96139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22500"/>
              </a:lnSpc>
              <a:spcBef>
                <a:spcPts val="60"/>
              </a:spcBef>
            </a:pP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Google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for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Education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partner,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MSME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accredited, 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and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a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certified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internship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provider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 recognized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by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central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and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state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universities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—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giving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academic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validity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to</a:t>
            </a:r>
            <a:endParaRPr sz="12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395"/>
              </a:spcBef>
            </a:pP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project-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based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 internship work.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2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971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S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P</a:t>
            </a:r>
            <a:r>
              <a:rPr dirty="0" sz="1200" spc="3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Role,</a:t>
            </a:r>
            <a:r>
              <a:rPr dirty="0" spc="-100"/>
              <a:t> </a:t>
            </a:r>
            <a:r>
              <a:rPr dirty="0"/>
              <a:t>Duration</a:t>
            </a:r>
            <a:r>
              <a:rPr dirty="0" spc="-12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0"/>
              <a:t>Mode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8640" y="1828164"/>
            <a:ext cx="2514600" cy="2011680"/>
            <a:chOff x="548640" y="1828164"/>
            <a:chExt cx="2514600" cy="2011680"/>
          </a:xfrm>
        </p:grpSpPr>
        <p:sp>
          <p:nvSpPr>
            <p:cNvPr id="6" name="object 6"/>
            <p:cNvSpPr/>
            <p:nvPr/>
          </p:nvSpPr>
          <p:spPr>
            <a:xfrm>
              <a:off x="548640" y="1828164"/>
              <a:ext cx="2514600" cy="2011680"/>
            </a:xfrm>
            <a:custGeom>
              <a:avLst/>
              <a:gdLst/>
              <a:ahLst/>
              <a:cxnLst/>
              <a:rect l="l" t="t" r="r" b="b"/>
              <a:pathLst>
                <a:path w="2514600" h="2011679">
                  <a:moveTo>
                    <a:pt x="2441448" y="0"/>
                  </a:moveTo>
                  <a:lnTo>
                    <a:pt x="73139" y="0"/>
                  </a:lnTo>
                  <a:lnTo>
                    <a:pt x="44665" y="5714"/>
                  </a:lnTo>
                  <a:lnTo>
                    <a:pt x="21424" y="21462"/>
                  </a:lnTo>
                  <a:lnTo>
                    <a:pt x="5753" y="44704"/>
                  </a:lnTo>
                  <a:lnTo>
                    <a:pt x="0" y="73151"/>
                  </a:lnTo>
                  <a:lnTo>
                    <a:pt x="0" y="1938528"/>
                  </a:lnTo>
                  <a:lnTo>
                    <a:pt x="5753" y="1966976"/>
                  </a:lnTo>
                  <a:lnTo>
                    <a:pt x="21424" y="1990217"/>
                  </a:lnTo>
                  <a:lnTo>
                    <a:pt x="44665" y="2005965"/>
                  </a:lnTo>
                  <a:lnTo>
                    <a:pt x="73139" y="2011680"/>
                  </a:lnTo>
                  <a:lnTo>
                    <a:pt x="2441448" y="2011680"/>
                  </a:lnTo>
                  <a:lnTo>
                    <a:pt x="2469896" y="2005965"/>
                  </a:lnTo>
                  <a:lnTo>
                    <a:pt x="2493137" y="1990217"/>
                  </a:lnTo>
                  <a:lnTo>
                    <a:pt x="2508885" y="1966976"/>
                  </a:lnTo>
                  <a:lnTo>
                    <a:pt x="2514600" y="1938528"/>
                  </a:lnTo>
                  <a:lnTo>
                    <a:pt x="2514600" y="73151"/>
                  </a:lnTo>
                  <a:lnTo>
                    <a:pt x="2508885" y="44704"/>
                  </a:lnTo>
                  <a:lnTo>
                    <a:pt x="2493137" y="21462"/>
                  </a:lnTo>
                  <a:lnTo>
                    <a:pt x="2469896" y="5714"/>
                  </a:lnTo>
                  <a:lnTo>
                    <a:pt x="244144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1520" y="202933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599" y="0"/>
                  </a:moveTo>
                  <a:lnTo>
                    <a:pt x="182524" y="4699"/>
                  </a:lnTo>
                  <a:lnTo>
                    <a:pt x="139611" y="17906"/>
                  </a:lnTo>
                  <a:lnTo>
                    <a:pt x="100787" y="38988"/>
                  </a:lnTo>
                  <a:lnTo>
                    <a:pt x="66954" y="66928"/>
                  </a:lnTo>
                  <a:lnTo>
                    <a:pt x="39039" y="100837"/>
                  </a:lnTo>
                  <a:lnTo>
                    <a:pt x="17957" y="139572"/>
                  </a:lnTo>
                  <a:lnTo>
                    <a:pt x="4648" y="182499"/>
                  </a:lnTo>
                  <a:lnTo>
                    <a:pt x="0" y="228600"/>
                  </a:lnTo>
                  <a:lnTo>
                    <a:pt x="4648" y="274700"/>
                  </a:lnTo>
                  <a:lnTo>
                    <a:pt x="17957" y="317626"/>
                  </a:lnTo>
                  <a:lnTo>
                    <a:pt x="39039" y="356362"/>
                  </a:lnTo>
                  <a:lnTo>
                    <a:pt x="66954" y="390270"/>
                  </a:lnTo>
                  <a:lnTo>
                    <a:pt x="100787" y="418211"/>
                  </a:lnTo>
                  <a:lnTo>
                    <a:pt x="139611" y="439292"/>
                  </a:lnTo>
                  <a:lnTo>
                    <a:pt x="182524" y="452500"/>
                  </a:lnTo>
                  <a:lnTo>
                    <a:pt x="228599" y="457200"/>
                  </a:lnTo>
                  <a:lnTo>
                    <a:pt x="274662" y="452500"/>
                  </a:lnTo>
                  <a:lnTo>
                    <a:pt x="317576" y="439292"/>
                  </a:lnTo>
                  <a:lnTo>
                    <a:pt x="356412" y="418211"/>
                  </a:lnTo>
                  <a:lnTo>
                    <a:pt x="390245" y="390270"/>
                  </a:lnTo>
                  <a:lnTo>
                    <a:pt x="418160" y="356362"/>
                  </a:lnTo>
                  <a:lnTo>
                    <a:pt x="439229" y="317626"/>
                  </a:lnTo>
                  <a:lnTo>
                    <a:pt x="452551" y="274700"/>
                  </a:lnTo>
                  <a:lnTo>
                    <a:pt x="457199" y="228600"/>
                  </a:lnTo>
                  <a:lnTo>
                    <a:pt x="452551" y="182499"/>
                  </a:lnTo>
                  <a:lnTo>
                    <a:pt x="439229" y="139572"/>
                  </a:lnTo>
                  <a:lnTo>
                    <a:pt x="418160" y="100837"/>
                  </a:lnTo>
                  <a:lnTo>
                    <a:pt x="390245" y="66928"/>
                  </a:lnTo>
                  <a:lnTo>
                    <a:pt x="356412" y="38988"/>
                  </a:lnTo>
                  <a:lnTo>
                    <a:pt x="317576" y="17906"/>
                  </a:lnTo>
                  <a:lnTo>
                    <a:pt x="274662" y="46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icons/briefcase_nav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956" y="2088768"/>
              <a:ext cx="338328" cy="33832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874" y="2225801"/>
            <a:ext cx="55562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Position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564" y="2951479"/>
            <a:ext cx="1590040" cy="47370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0"/>
              </a:spcBef>
            </a:pP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Artificial Intelligence</a:t>
            </a:r>
            <a:r>
              <a:rPr dirty="0" sz="1450" spc="-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Intern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91840" y="1828164"/>
            <a:ext cx="2514600" cy="2011680"/>
            <a:chOff x="3291840" y="1828164"/>
            <a:chExt cx="2514600" cy="2011680"/>
          </a:xfrm>
        </p:grpSpPr>
        <p:sp>
          <p:nvSpPr>
            <p:cNvPr id="12" name="object 12"/>
            <p:cNvSpPr/>
            <p:nvPr/>
          </p:nvSpPr>
          <p:spPr>
            <a:xfrm>
              <a:off x="3291840" y="1828164"/>
              <a:ext cx="2514600" cy="2011680"/>
            </a:xfrm>
            <a:custGeom>
              <a:avLst/>
              <a:gdLst/>
              <a:ahLst/>
              <a:cxnLst/>
              <a:rect l="l" t="t" r="r" b="b"/>
              <a:pathLst>
                <a:path w="2514600" h="2011679">
                  <a:moveTo>
                    <a:pt x="2441448" y="0"/>
                  </a:moveTo>
                  <a:lnTo>
                    <a:pt x="73151" y="0"/>
                  </a:lnTo>
                  <a:lnTo>
                    <a:pt x="44704" y="5714"/>
                  </a:lnTo>
                  <a:lnTo>
                    <a:pt x="21462" y="21462"/>
                  </a:lnTo>
                  <a:lnTo>
                    <a:pt x="5714" y="44704"/>
                  </a:lnTo>
                  <a:lnTo>
                    <a:pt x="0" y="73151"/>
                  </a:lnTo>
                  <a:lnTo>
                    <a:pt x="0" y="1938528"/>
                  </a:lnTo>
                  <a:lnTo>
                    <a:pt x="5714" y="1966976"/>
                  </a:lnTo>
                  <a:lnTo>
                    <a:pt x="21462" y="1990217"/>
                  </a:lnTo>
                  <a:lnTo>
                    <a:pt x="44704" y="2005965"/>
                  </a:lnTo>
                  <a:lnTo>
                    <a:pt x="73151" y="2011680"/>
                  </a:lnTo>
                  <a:lnTo>
                    <a:pt x="2441448" y="2011680"/>
                  </a:lnTo>
                  <a:lnTo>
                    <a:pt x="2469896" y="2005965"/>
                  </a:lnTo>
                  <a:lnTo>
                    <a:pt x="2493137" y="1990217"/>
                  </a:lnTo>
                  <a:lnTo>
                    <a:pt x="2508885" y="1966976"/>
                  </a:lnTo>
                  <a:lnTo>
                    <a:pt x="2514600" y="1938528"/>
                  </a:lnTo>
                  <a:lnTo>
                    <a:pt x="2514600" y="73151"/>
                  </a:lnTo>
                  <a:lnTo>
                    <a:pt x="2508885" y="44704"/>
                  </a:lnTo>
                  <a:lnTo>
                    <a:pt x="2493137" y="21462"/>
                  </a:lnTo>
                  <a:lnTo>
                    <a:pt x="2469896" y="5714"/>
                  </a:lnTo>
                  <a:lnTo>
                    <a:pt x="2441448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74720" y="202933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9" y="4699"/>
                  </a:lnTo>
                  <a:lnTo>
                    <a:pt x="139572" y="17906"/>
                  </a:lnTo>
                  <a:lnTo>
                    <a:pt x="100837" y="38988"/>
                  </a:lnTo>
                  <a:lnTo>
                    <a:pt x="66928" y="66928"/>
                  </a:lnTo>
                  <a:lnTo>
                    <a:pt x="38988" y="100837"/>
                  </a:lnTo>
                  <a:lnTo>
                    <a:pt x="17906" y="139572"/>
                  </a:lnTo>
                  <a:lnTo>
                    <a:pt x="4699" y="182499"/>
                  </a:lnTo>
                  <a:lnTo>
                    <a:pt x="0" y="228600"/>
                  </a:lnTo>
                  <a:lnTo>
                    <a:pt x="4699" y="274700"/>
                  </a:lnTo>
                  <a:lnTo>
                    <a:pt x="17906" y="317626"/>
                  </a:lnTo>
                  <a:lnTo>
                    <a:pt x="38988" y="356362"/>
                  </a:lnTo>
                  <a:lnTo>
                    <a:pt x="66928" y="390270"/>
                  </a:lnTo>
                  <a:lnTo>
                    <a:pt x="100837" y="418211"/>
                  </a:lnTo>
                  <a:lnTo>
                    <a:pt x="139572" y="439292"/>
                  </a:lnTo>
                  <a:lnTo>
                    <a:pt x="182499" y="452500"/>
                  </a:lnTo>
                  <a:lnTo>
                    <a:pt x="228600" y="457200"/>
                  </a:lnTo>
                  <a:lnTo>
                    <a:pt x="274700" y="452500"/>
                  </a:lnTo>
                  <a:lnTo>
                    <a:pt x="317626" y="439292"/>
                  </a:lnTo>
                  <a:lnTo>
                    <a:pt x="356362" y="418211"/>
                  </a:lnTo>
                  <a:lnTo>
                    <a:pt x="390270" y="390270"/>
                  </a:lnTo>
                  <a:lnTo>
                    <a:pt x="418210" y="356362"/>
                  </a:lnTo>
                  <a:lnTo>
                    <a:pt x="439292" y="317626"/>
                  </a:lnTo>
                  <a:lnTo>
                    <a:pt x="452500" y="274700"/>
                  </a:lnTo>
                  <a:lnTo>
                    <a:pt x="457200" y="228600"/>
                  </a:lnTo>
                  <a:lnTo>
                    <a:pt x="452500" y="182499"/>
                  </a:lnTo>
                  <a:lnTo>
                    <a:pt x="439292" y="139572"/>
                  </a:lnTo>
                  <a:lnTo>
                    <a:pt x="418210" y="100837"/>
                  </a:lnTo>
                  <a:lnTo>
                    <a:pt x="390270" y="66928"/>
                  </a:lnTo>
                  <a:lnTo>
                    <a:pt x="356362" y="38988"/>
                  </a:lnTo>
                  <a:lnTo>
                    <a:pt x="317626" y="17906"/>
                  </a:lnTo>
                  <a:lnTo>
                    <a:pt x="274700" y="469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/home/claude/icons/calendar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156" y="2088768"/>
              <a:ext cx="338327" cy="33832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149090" y="2225801"/>
            <a:ext cx="60071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4348" y="2951479"/>
            <a:ext cx="1908175" cy="4705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45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Month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(17</a:t>
            </a:r>
            <a:r>
              <a:rPr dirty="0" sz="145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AUG-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r>
              <a:rPr dirty="0" sz="145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SEP</a:t>
            </a:r>
            <a:r>
              <a:rPr dirty="0" sz="145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20" b="1">
                <a:solidFill>
                  <a:srgbClr val="FFFFFF"/>
                </a:solidFill>
                <a:latin typeface="Cambria"/>
                <a:cs typeface="Cambria"/>
              </a:rPr>
              <a:t>2026)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35040" y="1828164"/>
            <a:ext cx="2514600" cy="2011680"/>
            <a:chOff x="6035040" y="1828164"/>
            <a:chExt cx="2514600" cy="2011680"/>
          </a:xfrm>
        </p:grpSpPr>
        <p:sp>
          <p:nvSpPr>
            <p:cNvPr id="18" name="object 18"/>
            <p:cNvSpPr/>
            <p:nvPr/>
          </p:nvSpPr>
          <p:spPr>
            <a:xfrm>
              <a:off x="6035040" y="1828164"/>
              <a:ext cx="2514600" cy="2011680"/>
            </a:xfrm>
            <a:custGeom>
              <a:avLst/>
              <a:gdLst/>
              <a:ahLst/>
              <a:cxnLst/>
              <a:rect l="l" t="t" r="r" b="b"/>
              <a:pathLst>
                <a:path w="2514600" h="2011679">
                  <a:moveTo>
                    <a:pt x="2441448" y="0"/>
                  </a:moveTo>
                  <a:lnTo>
                    <a:pt x="73151" y="0"/>
                  </a:lnTo>
                  <a:lnTo>
                    <a:pt x="44704" y="5714"/>
                  </a:lnTo>
                  <a:lnTo>
                    <a:pt x="21462" y="21462"/>
                  </a:lnTo>
                  <a:lnTo>
                    <a:pt x="5714" y="44704"/>
                  </a:lnTo>
                  <a:lnTo>
                    <a:pt x="0" y="73151"/>
                  </a:lnTo>
                  <a:lnTo>
                    <a:pt x="0" y="1938528"/>
                  </a:lnTo>
                  <a:lnTo>
                    <a:pt x="5714" y="1966976"/>
                  </a:lnTo>
                  <a:lnTo>
                    <a:pt x="21462" y="1990217"/>
                  </a:lnTo>
                  <a:lnTo>
                    <a:pt x="44704" y="2005965"/>
                  </a:lnTo>
                  <a:lnTo>
                    <a:pt x="73151" y="2011680"/>
                  </a:lnTo>
                  <a:lnTo>
                    <a:pt x="2441448" y="2011680"/>
                  </a:lnTo>
                  <a:lnTo>
                    <a:pt x="2469895" y="2005965"/>
                  </a:lnTo>
                  <a:lnTo>
                    <a:pt x="2493137" y="1990217"/>
                  </a:lnTo>
                  <a:lnTo>
                    <a:pt x="2508885" y="1966976"/>
                  </a:lnTo>
                  <a:lnTo>
                    <a:pt x="2514600" y="1938528"/>
                  </a:lnTo>
                  <a:lnTo>
                    <a:pt x="2514600" y="73151"/>
                  </a:lnTo>
                  <a:lnTo>
                    <a:pt x="2508885" y="44704"/>
                  </a:lnTo>
                  <a:lnTo>
                    <a:pt x="2493137" y="21462"/>
                  </a:lnTo>
                  <a:lnTo>
                    <a:pt x="2469895" y="5714"/>
                  </a:lnTo>
                  <a:lnTo>
                    <a:pt x="244144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17920" y="202933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9" y="4699"/>
                  </a:lnTo>
                  <a:lnTo>
                    <a:pt x="139572" y="17906"/>
                  </a:lnTo>
                  <a:lnTo>
                    <a:pt x="100837" y="38988"/>
                  </a:lnTo>
                  <a:lnTo>
                    <a:pt x="66928" y="66928"/>
                  </a:lnTo>
                  <a:lnTo>
                    <a:pt x="38988" y="100837"/>
                  </a:lnTo>
                  <a:lnTo>
                    <a:pt x="17906" y="139572"/>
                  </a:lnTo>
                  <a:lnTo>
                    <a:pt x="4699" y="182499"/>
                  </a:lnTo>
                  <a:lnTo>
                    <a:pt x="0" y="228600"/>
                  </a:lnTo>
                  <a:lnTo>
                    <a:pt x="4699" y="274700"/>
                  </a:lnTo>
                  <a:lnTo>
                    <a:pt x="17906" y="317626"/>
                  </a:lnTo>
                  <a:lnTo>
                    <a:pt x="38988" y="356362"/>
                  </a:lnTo>
                  <a:lnTo>
                    <a:pt x="66928" y="390270"/>
                  </a:lnTo>
                  <a:lnTo>
                    <a:pt x="100837" y="418211"/>
                  </a:lnTo>
                  <a:lnTo>
                    <a:pt x="139572" y="439292"/>
                  </a:lnTo>
                  <a:lnTo>
                    <a:pt x="182499" y="452500"/>
                  </a:lnTo>
                  <a:lnTo>
                    <a:pt x="228600" y="457200"/>
                  </a:lnTo>
                  <a:lnTo>
                    <a:pt x="274700" y="452500"/>
                  </a:lnTo>
                  <a:lnTo>
                    <a:pt x="317626" y="439292"/>
                  </a:lnTo>
                  <a:lnTo>
                    <a:pt x="356361" y="418211"/>
                  </a:lnTo>
                  <a:lnTo>
                    <a:pt x="390271" y="390270"/>
                  </a:lnTo>
                  <a:lnTo>
                    <a:pt x="418210" y="356362"/>
                  </a:lnTo>
                  <a:lnTo>
                    <a:pt x="439293" y="317626"/>
                  </a:lnTo>
                  <a:lnTo>
                    <a:pt x="452500" y="274700"/>
                  </a:lnTo>
                  <a:lnTo>
                    <a:pt x="457200" y="228600"/>
                  </a:lnTo>
                  <a:lnTo>
                    <a:pt x="452500" y="182499"/>
                  </a:lnTo>
                  <a:lnTo>
                    <a:pt x="439293" y="139572"/>
                  </a:lnTo>
                  <a:lnTo>
                    <a:pt x="418210" y="100837"/>
                  </a:lnTo>
                  <a:lnTo>
                    <a:pt x="390271" y="66928"/>
                  </a:lnTo>
                  <a:lnTo>
                    <a:pt x="356361" y="38988"/>
                  </a:lnTo>
                  <a:lnTo>
                    <a:pt x="317626" y="17906"/>
                  </a:lnTo>
                  <a:lnTo>
                    <a:pt x="274700" y="469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/home/claude/icons/home_navy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7356" y="2088768"/>
              <a:ext cx="338327" cy="33832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92797" y="2225801"/>
            <a:ext cx="4038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8184" y="2951479"/>
            <a:ext cx="861060" cy="47370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0"/>
              </a:spcBef>
            </a:pP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Pan</a:t>
            </a:r>
            <a:r>
              <a:rPr dirty="0" sz="1450" spc="-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India, Hybrid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778240" y="1828164"/>
            <a:ext cx="2514600" cy="2011680"/>
            <a:chOff x="8778240" y="1828164"/>
            <a:chExt cx="2514600" cy="2011680"/>
          </a:xfrm>
        </p:grpSpPr>
        <p:sp>
          <p:nvSpPr>
            <p:cNvPr id="24" name="object 24"/>
            <p:cNvSpPr/>
            <p:nvPr/>
          </p:nvSpPr>
          <p:spPr>
            <a:xfrm>
              <a:off x="8778240" y="1828164"/>
              <a:ext cx="2514600" cy="2011680"/>
            </a:xfrm>
            <a:custGeom>
              <a:avLst/>
              <a:gdLst/>
              <a:ahLst/>
              <a:cxnLst/>
              <a:rect l="l" t="t" r="r" b="b"/>
              <a:pathLst>
                <a:path w="2514600" h="2011679">
                  <a:moveTo>
                    <a:pt x="244144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2" y="21462"/>
                  </a:lnTo>
                  <a:lnTo>
                    <a:pt x="5714" y="44704"/>
                  </a:lnTo>
                  <a:lnTo>
                    <a:pt x="0" y="73151"/>
                  </a:lnTo>
                  <a:lnTo>
                    <a:pt x="0" y="1938528"/>
                  </a:lnTo>
                  <a:lnTo>
                    <a:pt x="5714" y="1966976"/>
                  </a:lnTo>
                  <a:lnTo>
                    <a:pt x="21462" y="1990217"/>
                  </a:lnTo>
                  <a:lnTo>
                    <a:pt x="44703" y="2005965"/>
                  </a:lnTo>
                  <a:lnTo>
                    <a:pt x="73151" y="2011680"/>
                  </a:lnTo>
                  <a:lnTo>
                    <a:pt x="2441448" y="2011680"/>
                  </a:lnTo>
                  <a:lnTo>
                    <a:pt x="2469895" y="2005965"/>
                  </a:lnTo>
                  <a:lnTo>
                    <a:pt x="2493136" y="1990217"/>
                  </a:lnTo>
                  <a:lnTo>
                    <a:pt x="2508884" y="1966976"/>
                  </a:lnTo>
                  <a:lnTo>
                    <a:pt x="2514600" y="1938528"/>
                  </a:lnTo>
                  <a:lnTo>
                    <a:pt x="2514600" y="73151"/>
                  </a:lnTo>
                  <a:lnTo>
                    <a:pt x="2508884" y="44704"/>
                  </a:lnTo>
                  <a:lnTo>
                    <a:pt x="2493136" y="21462"/>
                  </a:lnTo>
                  <a:lnTo>
                    <a:pt x="2469895" y="5714"/>
                  </a:lnTo>
                  <a:lnTo>
                    <a:pt x="2441448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961120" y="202933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9" y="4699"/>
                  </a:lnTo>
                  <a:lnTo>
                    <a:pt x="139573" y="17906"/>
                  </a:lnTo>
                  <a:lnTo>
                    <a:pt x="100837" y="38988"/>
                  </a:lnTo>
                  <a:lnTo>
                    <a:pt x="66928" y="66928"/>
                  </a:lnTo>
                  <a:lnTo>
                    <a:pt x="38988" y="100837"/>
                  </a:lnTo>
                  <a:lnTo>
                    <a:pt x="17906" y="139572"/>
                  </a:lnTo>
                  <a:lnTo>
                    <a:pt x="4699" y="182499"/>
                  </a:lnTo>
                  <a:lnTo>
                    <a:pt x="0" y="228600"/>
                  </a:lnTo>
                  <a:lnTo>
                    <a:pt x="4699" y="274700"/>
                  </a:lnTo>
                  <a:lnTo>
                    <a:pt x="17906" y="317626"/>
                  </a:lnTo>
                  <a:lnTo>
                    <a:pt x="38988" y="356362"/>
                  </a:lnTo>
                  <a:lnTo>
                    <a:pt x="66928" y="390270"/>
                  </a:lnTo>
                  <a:lnTo>
                    <a:pt x="100837" y="418211"/>
                  </a:lnTo>
                  <a:lnTo>
                    <a:pt x="139573" y="439292"/>
                  </a:lnTo>
                  <a:lnTo>
                    <a:pt x="182499" y="452500"/>
                  </a:lnTo>
                  <a:lnTo>
                    <a:pt x="228600" y="457200"/>
                  </a:lnTo>
                  <a:lnTo>
                    <a:pt x="274700" y="452500"/>
                  </a:lnTo>
                  <a:lnTo>
                    <a:pt x="317626" y="439292"/>
                  </a:lnTo>
                  <a:lnTo>
                    <a:pt x="356361" y="418211"/>
                  </a:lnTo>
                  <a:lnTo>
                    <a:pt x="390271" y="390270"/>
                  </a:lnTo>
                  <a:lnTo>
                    <a:pt x="418210" y="356362"/>
                  </a:lnTo>
                  <a:lnTo>
                    <a:pt x="439293" y="317626"/>
                  </a:lnTo>
                  <a:lnTo>
                    <a:pt x="452500" y="274700"/>
                  </a:lnTo>
                  <a:lnTo>
                    <a:pt x="457200" y="228600"/>
                  </a:lnTo>
                  <a:lnTo>
                    <a:pt x="452500" y="182499"/>
                  </a:lnTo>
                  <a:lnTo>
                    <a:pt x="439293" y="139572"/>
                  </a:lnTo>
                  <a:lnTo>
                    <a:pt x="418210" y="100837"/>
                  </a:lnTo>
                  <a:lnTo>
                    <a:pt x="390271" y="66928"/>
                  </a:lnTo>
                  <a:lnTo>
                    <a:pt x="356361" y="38988"/>
                  </a:lnTo>
                  <a:lnTo>
                    <a:pt x="317626" y="17906"/>
                  </a:lnTo>
                  <a:lnTo>
                    <a:pt x="274700" y="469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/home/claude/icons/clipboardcheck_navy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0556" y="2088768"/>
              <a:ext cx="338327" cy="33832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636632" y="2225801"/>
            <a:ext cx="66738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42272" y="2951479"/>
            <a:ext cx="1337310" cy="47370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30"/>
              </a:spcBef>
            </a:pP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Assigned Project</a:t>
            </a:r>
            <a:r>
              <a:rPr dirty="0" sz="1450" spc="-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Head(s)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684" y="4305426"/>
            <a:ext cx="6010275" cy="134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solidFill>
                  <a:srgbClr val="16304F"/>
                </a:solidFill>
                <a:latin typeface="Calibri"/>
                <a:cs typeface="Calibri"/>
              </a:rPr>
              <a:t>Certificate</a:t>
            </a:r>
            <a:r>
              <a:rPr dirty="0" sz="1400" spc="-6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6304F"/>
                </a:solidFill>
                <a:latin typeface="Calibri"/>
                <a:cs typeface="Calibri"/>
              </a:rPr>
              <a:t>of</a:t>
            </a:r>
            <a:r>
              <a:rPr dirty="0" sz="1400" spc="-35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6304F"/>
                </a:solidFill>
                <a:latin typeface="Calibri"/>
                <a:cs typeface="Calibri"/>
              </a:rPr>
              <a:t>Internship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26499"/>
              </a:lnSpc>
            </a:pP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Issued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by</a:t>
            </a:r>
            <a:r>
              <a:rPr dirty="0" sz="12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Codec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 Technologies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Pvt.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Ltd.</a:t>
            </a:r>
            <a:r>
              <a:rPr dirty="0" sz="12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on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completion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of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the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1-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Month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AICTE</a:t>
            </a:r>
            <a:r>
              <a:rPr dirty="0" sz="12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ICAC-approved internship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program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as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Artificial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Intelligence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Intern</a:t>
            </a:r>
            <a:r>
              <a:rPr dirty="0" sz="12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(AICTE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1B1B2D"/>
                </a:solidFill>
                <a:latin typeface="Calibri"/>
                <a:cs typeface="Calibri"/>
              </a:rPr>
              <a:t>ID: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CORPORATE6759d549ce59e1733940553).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2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444" y="432816"/>
            <a:ext cx="10202418" cy="61038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8110">
              <a:lnSpc>
                <a:spcPts val="965"/>
              </a:lnSpc>
            </a:pPr>
            <a:fld id="{81D60167-4931-47E6-BA6A-407CBD079E47}" type="slidenum">
              <a:rPr dirty="0"/>
              <a:t>2</a:t>
            </a:fld>
            <a:r>
              <a:rPr dirty="0" spc="-20"/>
              <a:t> </a:t>
            </a:r>
            <a:r>
              <a:rPr dirty="0"/>
              <a:t>/</a:t>
            </a:r>
            <a:r>
              <a:rPr dirty="0" spc="25"/>
              <a:t> </a:t>
            </a:r>
            <a:r>
              <a:rPr dirty="0" spc="-35"/>
              <a:t>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7684" y="432561"/>
            <a:ext cx="1353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40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C</a:t>
            </a:r>
            <a:r>
              <a:rPr dirty="0" sz="1200" spc="-9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G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 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Problem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Statement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40080" y="2011679"/>
            <a:ext cx="10881360" cy="1828800"/>
            <a:chOff x="640080" y="2011679"/>
            <a:chExt cx="10881360" cy="1828800"/>
          </a:xfrm>
        </p:grpSpPr>
        <p:sp>
          <p:nvSpPr>
            <p:cNvPr id="6" name="object 6"/>
            <p:cNvSpPr/>
            <p:nvPr/>
          </p:nvSpPr>
          <p:spPr>
            <a:xfrm>
              <a:off x="640080" y="2011679"/>
              <a:ext cx="10881360" cy="1828800"/>
            </a:xfrm>
            <a:custGeom>
              <a:avLst/>
              <a:gdLst/>
              <a:ahLst/>
              <a:cxnLst/>
              <a:rect l="l" t="t" r="r" b="b"/>
              <a:pathLst>
                <a:path w="10881360" h="1828800">
                  <a:moveTo>
                    <a:pt x="10808208" y="0"/>
                  </a:moveTo>
                  <a:lnTo>
                    <a:pt x="73151" y="0"/>
                  </a:lnTo>
                  <a:lnTo>
                    <a:pt x="44678" y="5715"/>
                  </a:lnTo>
                  <a:lnTo>
                    <a:pt x="21424" y="21462"/>
                  </a:lnTo>
                  <a:lnTo>
                    <a:pt x="5753" y="44704"/>
                  </a:lnTo>
                  <a:lnTo>
                    <a:pt x="0" y="73152"/>
                  </a:lnTo>
                  <a:lnTo>
                    <a:pt x="0" y="1755648"/>
                  </a:lnTo>
                  <a:lnTo>
                    <a:pt x="5753" y="1784096"/>
                  </a:lnTo>
                  <a:lnTo>
                    <a:pt x="21424" y="1807337"/>
                  </a:lnTo>
                  <a:lnTo>
                    <a:pt x="44678" y="1823085"/>
                  </a:lnTo>
                  <a:lnTo>
                    <a:pt x="73151" y="1828800"/>
                  </a:lnTo>
                  <a:lnTo>
                    <a:pt x="10808208" y="1828800"/>
                  </a:lnTo>
                  <a:lnTo>
                    <a:pt x="10836656" y="1823085"/>
                  </a:lnTo>
                  <a:lnTo>
                    <a:pt x="10859897" y="1807337"/>
                  </a:lnTo>
                  <a:lnTo>
                    <a:pt x="10875645" y="1784096"/>
                  </a:lnTo>
                  <a:lnTo>
                    <a:pt x="10881360" y="1755648"/>
                  </a:lnTo>
                  <a:lnTo>
                    <a:pt x="10881360" y="73152"/>
                  </a:lnTo>
                  <a:lnTo>
                    <a:pt x="10875645" y="44704"/>
                  </a:lnTo>
                  <a:lnTo>
                    <a:pt x="10859897" y="21462"/>
                  </a:lnTo>
                  <a:lnTo>
                    <a:pt x="10836656" y="5715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6112" y="251459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0"/>
                  </a:moveTo>
                  <a:lnTo>
                    <a:pt x="363486" y="2794"/>
                  </a:lnTo>
                  <a:lnTo>
                    <a:pt x="317131" y="10922"/>
                  </a:lnTo>
                  <a:lnTo>
                    <a:pt x="272707" y="24002"/>
                  </a:lnTo>
                  <a:lnTo>
                    <a:pt x="230517" y="41783"/>
                  </a:lnTo>
                  <a:lnTo>
                    <a:pt x="190893" y="64135"/>
                  </a:lnTo>
                  <a:lnTo>
                    <a:pt x="154114" y="90424"/>
                  </a:lnTo>
                  <a:lnTo>
                    <a:pt x="120522" y="120523"/>
                  </a:lnTo>
                  <a:lnTo>
                    <a:pt x="90398" y="154177"/>
                  </a:lnTo>
                  <a:lnTo>
                    <a:pt x="64058" y="190880"/>
                  </a:lnTo>
                  <a:lnTo>
                    <a:pt x="41821" y="230504"/>
                  </a:lnTo>
                  <a:lnTo>
                    <a:pt x="23990" y="272669"/>
                  </a:lnTo>
                  <a:lnTo>
                    <a:pt x="10871" y="317119"/>
                  </a:lnTo>
                  <a:lnTo>
                    <a:pt x="2768" y="363474"/>
                  </a:lnTo>
                  <a:lnTo>
                    <a:pt x="0" y="411479"/>
                  </a:lnTo>
                  <a:lnTo>
                    <a:pt x="2768" y="459486"/>
                  </a:lnTo>
                  <a:lnTo>
                    <a:pt x="10871" y="505840"/>
                  </a:lnTo>
                  <a:lnTo>
                    <a:pt x="23990" y="550290"/>
                  </a:lnTo>
                  <a:lnTo>
                    <a:pt x="41821" y="592454"/>
                  </a:lnTo>
                  <a:lnTo>
                    <a:pt x="64058" y="632078"/>
                  </a:lnTo>
                  <a:lnTo>
                    <a:pt x="90398" y="668782"/>
                  </a:lnTo>
                  <a:lnTo>
                    <a:pt x="120522" y="702437"/>
                  </a:lnTo>
                  <a:lnTo>
                    <a:pt x="154114" y="732536"/>
                  </a:lnTo>
                  <a:lnTo>
                    <a:pt x="190893" y="758825"/>
                  </a:lnTo>
                  <a:lnTo>
                    <a:pt x="230517" y="781176"/>
                  </a:lnTo>
                  <a:lnTo>
                    <a:pt x="272707" y="798957"/>
                  </a:lnTo>
                  <a:lnTo>
                    <a:pt x="317131" y="812038"/>
                  </a:lnTo>
                  <a:lnTo>
                    <a:pt x="363486" y="820165"/>
                  </a:lnTo>
                  <a:lnTo>
                    <a:pt x="411479" y="822960"/>
                  </a:lnTo>
                  <a:lnTo>
                    <a:pt x="459485" y="820165"/>
                  </a:lnTo>
                  <a:lnTo>
                    <a:pt x="505841" y="812038"/>
                  </a:lnTo>
                  <a:lnTo>
                    <a:pt x="550291" y="798957"/>
                  </a:lnTo>
                  <a:lnTo>
                    <a:pt x="592454" y="781176"/>
                  </a:lnTo>
                  <a:lnTo>
                    <a:pt x="632079" y="758825"/>
                  </a:lnTo>
                  <a:lnTo>
                    <a:pt x="668782" y="732536"/>
                  </a:lnTo>
                  <a:lnTo>
                    <a:pt x="702437" y="702437"/>
                  </a:lnTo>
                  <a:lnTo>
                    <a:pt x="732536" y="668782"/>
                  </a:lnTo>
                  <a:lnTo>
                    <a:pt x="758825" y="632078"/>
                  </a:lnTo>
                  <a:lnTo>
                    <a:pt x="781176" y="592454"/>
                  </a:lnTo>
                  <a:lnTo>
                    <a:pt x="798957" y="550290"/>
                  </a:lnTo>
                  <a:lnTo>
                    <a:pt x="812038" y="505840"/>
                  </a:lnTo>
                  <a:lnTo>
                    <a:pt x="820165" y="459486"/>
                  </a:lnTo>
                  <a:lnTo>
                    <a:pt x="822960" y="411479"/>
                  </a:lnTo>
                  <a:lnTo>
                    <a:pt x="820165" y="363474"/>
                  </a:lnTo>
                  <a:lnTo>
                    <a:pt x="812038" y="317119"/>
                  </a:lnTo>
                  <a:lnTo>
                    <a:pt x="798957" y="272669"/>
                  </a:lnTo>
                  <a:lnTo>
                    <a:pt x="781176" y="230504"/>
                  </a:lnTo>
                  <a:lnTo>
                    <a:pt x="758825" y="190880"/>
                  </a:lnTo>
                  <a:lnTo>
                    <a:pt x="732536" y="154177"/>
                  </a:lnTo>
                  <a:lnTo>
                    <a:pt x="702437" y="120523"/>
                  </a:lnTo>
                  <a:lnTo>
                    <a:pt x="668782" y="90424"/>
                  </a:lnTo>
                  <a:lnTo>
                    <a:pt x="632079" y="64135"/>
                  </a:lnTo>
                  <a:lnTo>
                    <a:pt x="592454" y="41783"/>
                  </a:lnTo>
                  <a:lnTo>
                    <a:pt x="550291" y="24002"/>
                  </a:lnTo>
                  <a:lnTo>
                    <a:pt x="505841" y="10922"/>
                  </a:lnTo>
                  <a:lnTo>
                    <a:pt x="459485" y="2794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icons/usersSlash_nav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792" y="2621279"/>
              <a:ext cx="609600" cy="6096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45335" y="2359913"/>
            <a:ext cx="8776970" cy="1082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Unpredictable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Churn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5199"/>
              </a:lnSpc>
            </a:pP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Subscription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businesses</a:t>
            </a:r>
            <a:r>
              <a:rPr dirty="0" sz="1250" spc="-7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lose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recurring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revenue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when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customers</a:t>
            </a:r>
            <a:r>
              <a:rPr dirty="0" sz="125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leave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without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warning.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Without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predictive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system,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retention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teams</a:t>
            </a:r>
            <a:r>
              <a:rPr dirty="0" sz="125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can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only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react</a:t>
            </a:r>
            <a:r>
              <a:rPr dirty="0" sz="125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after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customer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has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already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gone.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080" y="4114800"/>
            <a:ext cx="10881360" cy="1828800"/>
            <a:chOff x="640080" y="4114800"/>
            <a:chExt cx="10881360" cy="1828800"/>
          </a:xfrm>
        </p:grpSpPr>
        <p:sp>
          <p:nvSpPr>
            <p:cNvPr id="11" name="object 11"/>
            <p:cNvSpPr/>
            <p:nvPr/>
          </p:nvSpPr>
          <p:spPr>
            <a:xfrm>
              <a:off x="640080" y="4114800"/>
              <a:ext cx="10881360" cy="1828800"/>
            </a:xfrm>
            <a:custGeom>
              <a:avLst/>
              <a:gdLst/>
              <a:ahLst/>
              <a:cxnLst/>
              <a:rect l="l" t="t" r="r" b="b"/>
              <a:pathLst>
                <a:path w="10881360" h="1828800">
                  <a:moveTo>
                    <a:pt x="1080820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4"/>
                  </a:lnTo>
                  <a:lnTo>
                    <a:pt x="0" y="73151"/>
                  </a:lnTo>
                  <a:lnTo>
                    <a:pt x="0" y="1755648"/>
                  </a:lnTo>
                  <a:lnTo>
                    <a:pt x="5753" y="1784121"/>
                  </a:lnTo>
                  <a:lnTo>
                    <a:pt x="21424" y="1807375"/>
                  </a:lnTo>
                  <a:lnTo>
                    <a:pt x="44678" y="1823046"/>
                  </a:lnTo>
                  <a:lnTo>
                    <a:pt x="73151" y="1828800"/>
                  </a:lnTo>
                  <a:lnTo>
                    <a:pt x="10808208" y="1828800"/>
                  </a:lnTo>
                  <a:lnTo>
                    <a:pt x="10836656" y="1823046"/>
                  </a:lnTo>
                  <a:lnTo>
                    <a:pt x="10859897" y="1807375"/>
                  </a:lnTo>
                  <a:lnTo>
                    <a:pt x="10875645" y="1784121"/>
                  </a:lnTo>
                  <a:lnTo>
                    <a:pt x="10881360" y="1755648"/>
                  </a:lnTo>
                  <a:lnTo>
                    <a:pt x="10881360" y="73151"/>
                  </a:lnTo>
                  <a:lnTo>
                    <a:pt x="10875645" y="44704"/>
                  </a:lnTo>
                  <a:lnTo>
                    <a:pt x="10859897" y="21462"/>
                  </a:lnTo>
                  <a:lnTo>
                    <a:pt x="10836656" y="5714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6112" y="4617719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79" y="0"/>
                  </a:moveTo>
                  <a:lnTo>
                    <a:pt x="363486" y="2793"/>
                  </a:lnTo>
                  <a:lnTo>
                    <a:pt x="317131" y="10921"/>
                  </a:lnTo>
                  <a:lnTo>
                    <a:pt x="272707" y="24002"/>
                  </a:lnTo>
                  <a:lnTo>
                    <a:pt x="230517" y="41782"/>
                  </a:lnTo>
                  <a:lnTo>
                    <a:pt x="190893" y="64134"/>
                  </a:lnTo>
                  <a:lnTo>
                    <a:pt x="154114" y="90423"/>
                  </a:lnTo>
                  <a:lnTo>
                    <a:pt x="120522" y="120522"/>
                  </a:lnTo>
                  <a:lnTo>
                    <a:pt x="90398" y="154177"/>
                  </a:lnTo>
                  <a:lnTo>
                    <a:pt x="64058" y="190880"/>
                  </a:lnTo>
                  <a:lnTo>
                    <a:pt x="41821" y="230504"/>
                  </a:lnTo>
                  <a:lnTo>
                    <a:pt x="23990" y="272668"/>
                  </a:lnTo>
                  <a:lnTo>
                    <a:pt x="10871" y="317118"/>
                  </a:lnTo>
                  <a:lnTo>
                    <a:pt x="2768" y="363473"/>
                  </a:lnTo>
                  <a:lnTo>
                    <a:pt x="0" y="411479"/>
                  </a:lnTo>
                  <a:lnTo>
                    <a:pt x="2768" y="459485"/>
                  </a:lnTo>
                  <a:lnTo>
                    <a:pt x="10871" y="505840"/>
                  </a:lnTo>
                  <a:lnTo>
                    <a:pt x="23990" y="550290"/>
                  </a:lnTo>
                  <a:lnTo>
                    <a:pt x="41821" y="592454"/>
                  </a:lnTo>
                  <a:lnTo>
                    <a:pt x="64058" y="632078"/>
                  </a:lnTo>
                  <a:lnTo>
                    <a:pt x="90398" y="668781"/>
                  </a:lnTo>
                  <a:lnTo>
                    <a:pt x="120522" y="702436"/>
                  </a:lnTo>
                  <a:lnTo>
                    <a:pt x="154114" y="732535"/>
                  </a:lnTo>
                  <a:lnTo>
                    <a:pt x="190893" y="758824"/>
                  </a:lnTo>
                  <a:lnTo>
                    <a:pt x="230517" y="781176"/>
                  </a:lnTo>
                  <a:lnTo>
                    <a:pt x="272707" y="798956"/>
                  </a:lnTo>
                  <a:lnTo>
                    <a:pt x="317131" y="812037"/>
                  </a:lnTo>
                  <a:lnTo>
                    <a:pt x="363486" y="820165"/>
                  </a:lnTo>
                  <a:lnTo>
                    <a:pt x="411479" y="822959"/>
                  </a:lnTo>
                  <a:lnTo>
                    <a:pt x="459485" y="820165"/>
                  </a:lnTo>
                  <a:lnTo>
                    <a:pt x="505841" y="812037"/>
                  </a:lnTo>
                  <a:lnTo>
                    <a:pt x="550291" y="798956"/>
                  </a:lnTo>
                  <a:lnTo>
                    <a:pt x="592454" y="781176"/>
                  </a:lnTo>
                  <a:lnTo>
                    <a:pt x="632079" y="758824"/>
                  </a:lnTo>
                  <a:lnTo>
                    <a:pt x="668782" y="732535"/>
                  </a:lnTo>
                  <a:lnTo>
                    <a:pt x="702437" y="702436"/>
                  </a:lnTo>
                  <a:lnTo>
                    <a:pt x="732536" y="668781"/>
                  </a:lnTo>
                  <a:lnTo>
                    <a:pt x="758825" y="632078"/>
                  </a:lnTo>
                  <a:lnTo>
                    <a:pt x="781176" y="592454"/>
                  </a:lnTo>
                  <a:lnTo>
                    <a:pt x="798957" y="550290"/>
                  </a:lnTo>
                  <a:lnTo>
                    <a:pt x="812038" y="505840"/>
                  </a:lnTo>
                  <a:lnTo>
                    <a:pt x="820165" y="459485"/>
                  </a:lnTo>
                  <a:lnTo>
                    <a:pt x="822960" y="411479"/>
                  </a:lnTo>
                  <a:lnTo>
                    <a:pt x="820165" y="363473"/>
                  </a:lnTo>
                  <a:lnTo>
                    <a:pt x="812038" y="317118"/>
                  </a:lnTo>
                  <a:lnTo>
                    <a:pt x="798957" y="272668"/>
                  </a:lnTo>
                  <a:lnTo>
                    <a:pt x="781176" y="230504"/>
                  </a:lnTo>
                  <a:lnTo>
                    <a:pt x="758825" y="190880"/>
                  </a:lnTo>
                  <a:lnTo>
                    <a:pt x="732536" y="154177"/>
                  </a:lnTo>
                  <a:lnTo>
                    <a:pt x="702437" y="120522"/>
                  </a:lnTo>
                  <a:lnTo>
                    <a:pt x="668782" y="90423"/>
                  </a:lnTo>
                  <a:lnTo>
                    <a:pt x="632079" y="64134"/>
                  </a:lnTo>
                  <a:lnTo>
                    <a:pt x="592454" y="41782"/>
                  </a:lnTo>
                  <a:lnTo>
                    <a:pt x="550291" y="24002"/>
                  </a:lnTo>
                  <a:lnTo>
                    <a:pt x="505841" y="10921"/>
                  </a:lnTo>
                  <a:lnTo>
                    <a:pt x="459485" y="279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icons/film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792" y="4724400"/>
              <a:ext cx="609600" cy="6096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045335" y="4463923"/>
            <a:ext cx="8565515" cy="10820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Generic,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Unpersonalized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Recommendations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Basic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approaches</a:t>
            </a:r>
            <a:r>
              <a:rPr dirty="0" sz="1250" spc="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like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“show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the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most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popular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titles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to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everyone”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fail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personalize</a:t>
            </a:r>
            <a:r>
              <a:rPr dirty="0" sz="1250" spc="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content,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leading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lower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engagement.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</a:t>
            </a:r>
            <a:r>
              <a:rPr dirty="0" sz="1250" spc="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smarter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approach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needs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both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user's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own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preferences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patterns</a:t>
            </a:r>
            <a:r>
              <a:rPr dirty="0" sz="1250" spc="-7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from</a:t>
            </a:r>
            <a:r>
              <a:rPr dirty="0" sz="1250" spc="-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similar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users.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517883" y="6590792"/>
            <a:ext cx="290830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5</a:t>
            </a:r>
            <a:r>
              <a:rPr dirty="0" sz="9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/</a:t>
            </a:r>
            <a:r>
              <a:rPr dirty="0" sz="900" spc="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6B7080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551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G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125"/>
              <a:t> </a:t>
            </a:r>
            <a:r>
              <a:rPr dirty="0" spc="-10"/>
              <a:t>Objectives</a:t>
            </a:r>
          </a:p>
        </p:txBody>
      </p:sp>
      <p:sp>
        <p:nvSpPr>
          <p:cNvPr id="9" name="object 9"/>
          <p:cNvSpPr/>
          <p:nvPr/>
        </p:nvSpPr>
        <p:spPr>
          <a:xfrm>
            <a:off x="548640" y="1829054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429768" y="0"/>
                </a:moveTo>
                <a:lnTo>
                  <a:pt x="73151" y="0"/>
                </a:lnTo>
                <a:lnTo>
                  <a:pt x="44678" y="5715"/>
                </a:lnTo>
                <a:lnTo>
                  <a:pt x="21424" y="21336"/>
                </a:lnTo>
                <a:lnTo>
                  <a:pt x="5753" y="44576"/>
                </a:lnTo>
                <a:lnTo>
                  <a:pt x="0" y="73151"/>
                </a:lnTo>
                <a:lnTo>
                  <a:pt x="0" y="429768"/>
                </a:lnTo>
                <a:lnTo>
                  <a:pt x="5753" y="458216"/>
                </a:lnTo>
                <a:lnTo>
                  <a:pt x="21424" y="481457"/>
                </a:lnTo>
                <a:lnTo>
                  <a:pt x="44678" y="497078"/>
                </a:lnTo>
                <a:lnTo>
                  <a:pt x="73151" y="502920"/>
                </a:lnTo>
                <a:lnTo>
                  <a:pt x="429768" y="502920"/>
                </a:lnTo>
                <a:lnTo>
                  <a:pt x="458241" y="497078"/>
                </a:lnTo>
                <a:lnTo>
                  <a:pt x="481495" y="481457"/>
                </a:lnTo>
                <a:lnTo>
                  <a:pt x="497166" y="458216"/>
                </a:lnTo>
                <a:lnTo>
                  <a:pt x="502919" y="429768"/>
                </a:lnTo>
                <a:lnTo>
                  <a:pt x="502919" y="73151"/>
                </a:lnTo>
                <a:lnTo>
                  <a:pt x="497166" y="44576"/>
                </a:lnTo>
                <a:lnTo>
                  <a:pt x="481495" y="21336"/>
                </a:lnTo>
                <a:lnTo>
                  <a:pt x="458241" y="5715"/>
                </a:lnTo>
                <a:lnTo>
                  <a:pt x="429768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1316" y="1935556"/>
            <a:ext cx="14668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433" y="1975485"/>
            <a:ext cx="631063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Build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churn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prediction</a:t>
            </a:r>
            <a:r>
              <a:rPr dirty="0" sz="14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model</a:t>
            </a:r>
            <a:r>
              <a:rPr dirty="0" sz="14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classifying</a:t>
            </a:r>
            <a:r>
              <a:rPr dirty="0" sz="1450" spc="-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customers</a:t>
            </a:r>
            <a:r>
              <a:rPr dirty="0" sz="14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as</a:t>
            </a:r>
            <a:r>
              <a:rPr dirty="0" sz="14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likely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to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churn</a:t>
            </a:r>
            <a:r>
              <a:rPr dirty="0" sz="14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or</a:t>
            </a:r>
            <a:r>
              <a:rPr dirty="0" sz="14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be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retained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8640" y="2670429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429768" y="0"/>
                </a:moveTo>
                <a:lnTo>
                  <a:pt x="73151" y="0"/>
                </a:lnTo>
                <a:lnTo>
                  <a:pt x="44678" y="5715"/>
                </a:lnTo>
                <a:lnTo>
                  <a:pt x="21424" y="21336"/>
                </a:lnTo>
                <a:lnTo>
                  <a:pt x="5753" y="44576"/>
                </a:lnTo>
                <a:lnTo>
                  <a:pt x="0" y="73151"/>
                </a:lnTo>
                <a:lnTo>
                  <a:pt x="0" y="429768"/>
                </a:lnTo>
                <a:lnTo>
                  <a:pt x="5753" y="458216"/>
                </a:lnTo>
                <a:lnTo>
                  <a:pt x="21424" y="481457"/>
                </a:lnTo>
                <a:lnTo>
                  <a:pt x="44678" y="497078"/>
                </a:lnTo>
                <a:lnTo>
                  <a:pt x="73151" y="502920"/>
                </a:lnTo>
                <a:lnTo>
                  <a:pt x="429768" y="502920"/>
                </a:lnTo>
                <a:lnTo>
                  <a:pt x="458241" y="497078"/>
                </a:lnTo>
                <a:lnTo>
                  <a:pt x="481495" y="481457"/>
                </a:lnTo>
                <a:lnTo>
                  <a:pt x="497166" y="458216"/>
                </a:lnTo>
                <a:lnTo>
                  <a:pt x="502919" y="429768"/>
                </a:lnTo>
                <a:lnTo>
                  <a:pt x="502919" y="73151"/>
                </a:lnTo>
                <a:lnTo>
                  <a:pt x="497166" y="44576"/>
                </a:lnTo>
                <a:lnTo>
                  <a:pt x="481495" y="21336"/>
                </a:lnTo>
                <a:lnTo>
                  <a:pt x="458241" y="5715"/>
                </a:lnTo>
                <a:lnTo>
                  <a:pt x="429768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31316" y="2777743"/>
            <a:ext cx="14668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3433" y="2817367"/>
            <a:ext cx="669226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Engineer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meaningful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features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(tenure,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engagement,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plan,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support</a:t>
            </a:r>
            <a:r>
              <a:rPr dirty="0" sz="14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history)</a:t>
            </a:r>
            <a:r>
              <a:rPr dirty="0" sz="145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for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churn</a:t>
            </a:r>
            <a:r>
              <a:rPr dirty="0" sz="14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signal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8640" y="3511803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429768" y="0"/>
                </a:moveTo>
                <a:lnTo>
                  <a:pt x="73151" y="0"/>
                </a:lnTo>
                <a:lnTo>
                  <a:pt x="44678" y="5715"/>
                </a:lnTo>
                <a:lnTo>
                  <a:pt x="21424" y="21336"/>
                </a:lnTo>
                <a:lnTo>
                  <a:pt x="5753" y="44704"/>
                </a:lnTo>
                <a:lnTo>
                  <a:pt x="0" y="73151"/>
                </a:lnTo>
                <a:lnTo>
                  <a:pt x="0" y="429768"/>
                </a:lnTo>
                <a:lnTo>
                  <a:pt x="5753" y="458216"/>
                </a:lnTo>
                <a:lnTo>
                  <a:pt x="21424" y="481457"/>
                </a:lnTo>
                <a:lnTo>
                  <a:pt x="44678" y="497078"/>
                </a:lnTo>
                <a:lnTo>
                  <a:pt x="73151" y="502920"/>
                </a:lnTo>
                <a:lnTo>
                  <a:pt x="429768" y="502920"/>
                </a:lnTo>
                <a:lnTo>
                  <a:pt x="458241" y="497078"/>
                </a:lnTo>
                <a:lnTo>
                  <a:pt x="481495" y="481457"/>
                </a:lnTo>
                <a:lnTo>
                  <a:pt x="497166" y="458216"/>
                </a:lnTo>
                <a:lnTo>
                  <a:pt x="502919" y="429768"/>
                </a:lnTo>
                <a:lnTo>
                  <a:pt x="502919" y="73151"/>
                </a:lnTo>
                <a:lnTo>
                  <a:pt x="497166" y="44704"/>
                </a:lnTo>
                <a:lnTo>
                  <a:pt x="481495" y="21336"/>
                </a:lnTo>
                <a:lnTo>
                  <a:pt x="458241" y="5715"/>
                </a:lnTo>
                <a:lnTo>
                  <a:pt x="429768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31316" y="3619246"/>
            <a:ext cx="14668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3433" y="3658870"/>
            <a:ext cx="64928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Design</a:t>
            </a:r>
            <a:r>
              <a:rPr dirty="0" sz="14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4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hybrid</a:t>
            </a:r>
            <a:r>
              <a:rPr dirty="0" sz="14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movie</a:t>
            </a:r>
            <a:r>
              <a:rPr dirty="0" sz="14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recommender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combining</a:t>
            </a:r>
            <a:r>
              <a:rPr dirty="0" sz="14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content-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based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collaborative</a:t>
            </a:r>
            <a:r>
              <a:rPr dirty="0" sz="14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filtering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8640" y="435317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429768" y="0"/>
                </a:moveTo>
                <a:lnTo>
                  <a:pt x="73151" y="0"/>
                </a:lnTo>
                <a:lnTo>
                  <a:pt x="44678" y="5715"/>
                </a:lnTo>
                <a:lnTo>
                  <a:pt x="21424" y="21336"/>
                </a:lnTo>
                <a:lnTo>
                  <a:pt x="5753" y="44704"/>
                </a:lnTo>
                <a:lnTo>
                  <a:pt x="0" y="73152"/>
                </a:lnTo>
                <a:lnTo>
                  <a:pt x="0" y="429768"/>
                </a:lnTo>
                <a:lnTo>
                  <a:pt x="5753" y="458216"/>
                </a:lnTo>
                <a:lnTo>
                  <a:pt x="21424" y="481457"/>
                </a:lnTo>
                <a:lnTo>
                  <a:pt x="44678" y="497078"/>
                </a:lnTo>
                <a:lnTo>
                  <a:pt x="73151" y="502920"/>
                </a:lnTo>
                <a:lnTo>
                  <a:pt x="429768" y="502920"/>
                </a:lnTo>
                <a:lnTo>
                  <a:pt x="458241" y="497078"/>
                </a:lnTo>
                <a:lnTo>
                  <a:pt x="481495" y="481457"/>
                </a:lnTo>
                <a:lnTo>
                  <a:pt x="497166" y="458216"/>
                </a:lnTo>
                <a:lnTo>
                  <a:pt x="502919" y="429768"/>
                </a:lnTo>
                <a:lnTo>
                  <a:pt x="502919" y="73152"/>
                </a:lnTo>
                <a:lnTo>
                  <a:pt x="497166" y="44704"/>
                </a:lnTo>
                <a:lnTo>
                  <a:pt x="481495" y="21336"/>
                </a:lnTo>
                <a:lnTo>
                  <a:pt x="458241" y="5715"/>
                </a:lnTo>
                <a:lnTo>
                  <a:pt x="429768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31316" y="4460875"/>
            <a:ext cx="14668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 b="1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3433" y="4500498"/>
            <a:ext cx="61785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Evaluate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both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models</a:t>
            </a:r>
            <a:r>
              <a:rPr dirty="0" sz="14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with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standard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metrics</a:t>
            </a:r>
            <a:r>
              <a:rPr dirty="0" sz="14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interpret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results</a:t>
            </a:r>
            <a:r>
              <a:rPr dirty="0" sz="14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in</a:t>
            </a:r>
            <a:r>
              <a:rPr dirty="0" sz="1450" spc="-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business</a:t>
            </a:r>
            <a:r>
              <a:rPr dirty="0" sz="14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terms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8640" y="5193919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20">
                <a:moveTo>
                  <a:pt x="429768" y="0"/>
                </a:moveTo>
                <a:lnTo>
                  <a:pt x="73151" y="0"/>
                </a:lnTo>
                <a:lnTo>
                  <a:pt x="44678" y="5714"/>
                </a:lnTo>
                <a:lnTo>
                  <a:pt x="21424" y="21462"/>
                </a:lnTo>
                <a:lnTo>
                  <a:pt x="5753" y="44703"/>
                </a:lnTo>
                <a:lnTo>
                  <a:pt x="0" y="73151"/>
                </a:lnTo>
                <a:lnTo>
                  <a:pt x="0" y="429742"/>
                </a:lnTo>
                <a:lnTo>
                  <a:pt x="5753" y="458215"/>
                </a:lnTo>
                <a:lnTo>
                  <a:pt x="21424" y="481469"/>
                </a:lnTo>
                <a:lnTo>
                  <a:pt x="44678" y="497141"/>
                </a:lnTo>
                <a:lnTo>
                  <a:pt x="73151" y="502894"/>
                </a:lnTo>
                <a:lnTo>
                  <a:pt x="429768" y="502894"/>
                </a:lnTo>
                <a:lnTo>
                  <a:pt x="458241" y="497141"/>
                </a:lnTo>
                <a:lnTo>
                  <a:pt x="481495" y="481469"/>
                </a:lnTo>
                <a:lnTo>
                  <a:pt x="497166" y="458215"/>
                </a:lnTo>
                <a:lnTo>
                  <a:pt x="502919" y="429742"/>
                </a:lnTo>
                <a:lnTo>
                  <a:pt x="502919" y="73151"/>
                </a:lnTo>
                <a:lnTo>
                  <a:pt x="497166" y="44703"/>
                </a:lnTo>
                <a:lnTo>
                  <a:pt x="481495" y="21462"/>
                </a:lnTo>
                <a:lnTo>
                  <a:pt x="458241" y="5714"/>
                </a:lnTo>
                <a:lnTo>
                  <a:pt x="429768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31316" y="5305120"/>
            <a:ext cx="14668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50" b="1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3433" y="5342001"/>
            <a:ext cx="612902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Document</a:t>
            </a:r>
            <a:r>
              <a:rPr dirty="0" sz="14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the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full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pipeline</a:t>
            </a:r>
            <a:r>
              <a:rPr dirty="0" sz="14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end-</a:t>
            </a:r>
            <a:r>
              <a:rPr dirty="0" sz="1450" spc="-20">
                <a:solidFill>
                  <a:srgbClr val="1B1B2D"/>
                </a:solidFill>
                <a:latin typeface="Calibri"/>
                <a:cs typeface="Calibri"/>
              </a:rPr>
              <a:t>to-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end,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from</a:t>
            </a:r>
            <a:r>
              <a:rPr dirty="0" sz="14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raw</a:t>
            </a:r>
            <a:r>
              <a:rPr dirty="0" sz="14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data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to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final</a:t>
            </a:r>
            <a:r>
              <a:rPr dirty="0" sz="14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B1B2D"/>
                </a:solidFill>
                <a:latin typeface="Calibri"/>
                <a:cs typeface="Calibri"/>
              </a:rPr>
              <a:t>model,</a:t>
            </a:r>
            <a:r>
              <a:rPr dirty="0" sz="14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B1B2D"/>
                </a:solidFill>
                <a:latin typeface="Calibri"/>
                <a:cs typeface="Calibri"/>
              </a:rPr>
              <a:t>reproducibly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463019" y="6593840"/>
            <a:ext cx="28765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6</a:t>
            </a:r>
            <a:r>
              <a:rPr dirty="0" sz="9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/ </a:t>
            </a:r>
            <a:r>
              <a:rPr dirty="0" sz="900" spc="-35">
                <a:solidFill>
                  <a:srgbClr val="6B7080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100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B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U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Scope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0"/>
              <a:t> Project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828164"/>
            <a:ext cx="5394960" cy="4114800"/>
          </a:xfrm>
          <a:custGeom>
            <a:avLst/>
            <a:gdLst/>
            <a:ahLst/>
            <a:cxnLst/>
            <a:rect l="l" t="t" r="r" b="b"/>
            <a:pathLst>
              <a:path w="5394960" h="4114800">
                <a:moveTo>
                  <a:pt x="5321808" y="0"/>
                </a:moveTo>
                <a:lnTo>
                  <a:pt x="73164" y="0"/>
                </a:lnTo>
                <a:lnTo>
                  <a:pt x="44678" y="5714"/>
                </a:lnTo>
                <a:lnTo>
                  <a:pt x="21424" y="21462"/>
                </a:lnTo>
                <a:lnTo>
                  <a:pt x="5753" y="44704"/>
                </a:lnTo>
                <a:lnTo>
                  <a:pt x="0" y="73151"/>
                </a:lnTo>
                <a:lnTo>
                  <a:pt x="0" y="4041635"/>
                </a:lnTo>
                <a:lnTo>
                  <a:pt x="5753" y="4070108"/>
                </a:lnTo>
                <a:lnTo>
                  <a:pt x="21424" y="4093375"/>
                </a:lnTo>
                <a:lnTo>
                  <a:pt x="44678" y="4109046"/>
                </a:lnTo>
                <a:lnTo>
                  <a:pt x="73164" y="4114800"/>
                </a:lnTo>
                <a:lnTo>
                  <a:pt x="5321808" y="4114800"/>
                </a:lnTo>
                <a:lnTo>
                  <a:pt x="5350256" y="4109046"/>
                </a:lnTo>
                <a:lnTo>
                  <a:pt x="5373497" y="4093375"/>
                </a:lnTo>
                <a:lnTo>
                  <a:pt x="5389245" y="4070108"/>
                </a:lnTo>
                <a:lnTo>
                  <a:pt x="5394960" y="4041635"/>
                </a:lnTo>
                <a:lnTo>
                  <a:pt x="5394960" y="73151"/>
                </a:lnTo>
                <a:lnTo>
                  <a:pt x="5389245" y="44704"/>
                </a:lnTo>
                <a:lnTo>
                  <a:pt x="5373497" y="21462"/>
                </a:lnTo>
                <a:lnTo>
                  <a:pt x="5350256" y="5714"/>
                </a:lnTo>
                <a:lnTo>
                  <a:pt x="5321808" y="0"/>
                </a:lnTo>
                <a:close/>
              </a:path>
            </a:pathLst>
          </a:custGeom>
          <a:solidFill>
            <a:srgbClr val="E9F7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2004" y="2113026"/>
            <a:ext cx="68643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F6C67"/>
                </a:solidFill>
                <a:latin typeface="Calibri"/>
                <a:cs typeface="Calibri"/>
              </a:rPr>
              <a:t>In</a:t>
            </a:r>
            <a:r>
              <a:rPr dirty="0" sz="1500" spc="-15" b="1">
                <a:solidFill>
                  <a:srgbClr val="1F6C67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F6C67"/>
                </a:solidFill>
                <a:latin typeface="Calibri"/>
                <a:cs typeface="Calibri"/>
              </a:rPr>
              <a:t>Scope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7320" y="2769107"/>
            <a:ext cx="103505" cy="2367915"/>
            <a:chOff x="967320" y="2769107"/>
            <a:chExt cx="103505" cy="23679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320" y="2769107"/>
              <a:ext cx="103124" cy="1181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320" y="3518915"/>
              <a:ext cx="103124" cy="1181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320" y="4268723"/>
              <a:ext cx="103124" cy="1181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320" y="5018531"/>
              <a:ext cx="103124" cy="11811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39748" y="2716225"/>
            <a:ext cx="302958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Data</a:t>
            </a:r>
            <a:r>
              <a:rPr dirty="0" sz="12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collection,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cleaning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25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exploratory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analysis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9748" y="3466846"/>
            <a:ext cx="26206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Feature</a:t>
            </a:r>
            <a:r>
              <a:rPr dirty="0" sz="12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engineering</a:t>
            </a:r>
            <a:r>
              <a:rPr dirty="0" sz="125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for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churn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prediction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9748" y="4217034"/>
            <a:ext cx="290449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Churn</a:t>
            </a:r>
            <a:r>
              <a:rPr dirty="0" sz="12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classification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model</a:t>
            </a:r>
            <a:r>
              <a:rPr dirty="0" sz="1250" spc="-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build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evaluation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9748" y="4967096"/>
            <a:ext cx="302577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Hybrid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movie</a:t>
            </a:r>
            <a:r>
              <a:rPr dirty="0" sz="1250" spc="-3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recommender build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&amp;</a:t>
            </a:r>
            <a:r>
              <a:rPr dirty="0" sz="12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evaluation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17920" y="1828164"/>
            <a:ext cx="5394960" cy="4114800"/>
          </a:xfrm>
          <a:custGeom>
            <a:avLst/>
            <a:gdLst/>
            <a:ahLst/>
            <a:cxnLst/>
            <a:rect l="l" t="t" r="r" b="b"/>
            <a:pathLst>
              <a:path w="5394959" h="4114800">
                <a:moveTo>
                  <a:pt x="5321808" y="0"/>
                </a:moveTo>
                <a:lnTo>
                  <a:pt x="73151" y="0"/>
                </a:lnTo>
                <a:lnTo>
                  <a:pt x="44703" y="5714"/>
                </a:lnTo>
                <a:lnTo>
                  <a:pt x="21462" y="21462"/>
                </a:lnTo>
                <a:lnTo>
                  <a:pt x="5714" y="44704"/>
                </a:lnTo>
                <a:lnTo>
                  <a:pt x="0" y="73151"/>
                </a:lnTo>
                <a:lnTo>
                  <a:pt x="0" y="4041635"/>
                </a:lnTo>
                <a:lnTo>
                  <a:pt x="5714" y="4070108"/>
                </a:lnTo>
                <a:lnTo>
                  <a:pt x="21462" y="4093375"/>
                </a:lnTo>
                <a:lnTo>
                  <a:pt x="44703" y="4109046"/>
                </a:lnTo>
                <a:lnTo>
                  <a:pt x="73151" y="4114800"/>
                </a:lnTo>
                <a:lnTo>
                  <a:pt x="5321808" y="4114800"/>
                </a:lnTo>
                <a:lnTo>
                  <a:pt x="5350256" y="4109046"/>
                </a:lnTo>
                <a:lnTo>
                  <a:pt x="5373497" y="4093375"/>
                </a:lnTo>
                <a:lnTo>
                  <a:pt x="5389245" y="4070108"/>
                </a:lnTo>
                <a:lnTo>
                  <a:pt x="5394959" y="4041635"/>
                </a:lnTo>
                <a:lnTo>
                  <a:pt x="5394959" y="73151"/>
                </a:lnTo>
                <a:lnTo>
                  <a:pt x="5389245" y="44704"/>
                </a:lnTo>
                <a:lnTo>
                  <a:pt x="5373497" y="21462"/>
                </a:lnTo>
                <a:lnTo>
                  <a:pt x="5350256" y="5714"/>
                </a:lnTo>
                <a:lnTo>
                  <a:pt x="5321808" y="0"/>
                </a:lnTo>
                <a:close/>
              </a:path>
            </a:pathLst>
          </a:custGeom>
          <a:solidFill>
            <a:srgbClr val="F9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572757" y="2113026"/>
            <a:ext cx="103378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9B3939"/>
                </a:solidFill>
                <a:latin typeface="Calibri"/>
                <a:cs typeface="Calibri"/>
              </a:rPr>
              <a:t>Out</a:t>
            </a:r>
            <a:r>
              <a:rPr dirty="0" sz="1500" spc="-35" b="1">
                <a:solidFill>
                  <a:srgbClr val="9B3939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9B3939"/>
                </a:solidFill>
                <a:latin typeface="Calibri"/>
                <a:cs typeface="Calibri"/>
              </a:rPr>
              <a:t>of</a:t>
            </a:r>
            <a:r>
              <a:rPr dirty="0" sz="1500" spc="-30" b="1">
                <a:solidFill>
                  <a:srgbClr val="9B393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9B3939"/>
                </a:solidFill>
                <a:latin typeface="Calibri"/>
                <a:cs typeface="Calibri"/>
              </a:rPr>
              <a:t>Scope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18478" y="2716225"/>
            <a:ext cx="304673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1B1B2D"/>
                </a:solidFill>
                <a:latin typeface="Segoe UI Symbol"/>
                <a:cs typeface="Segoe UI Symbol"/>
              </a:rPr>
              <a:t>✗</a:t>
            </a:r>
            <a:r>
              <a:rPr dirty="0" sz="1250" spc="120">
                <a:solidFill>
                  <a:srgbClr val="1B1B2D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Live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production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deployment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of</a:t>
            </a:r>
            <a:r>
              <a:rPr dirty="0" sz="12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either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model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18478" y="3466846"/>
            <a:ext cx="32232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1B1B2D"/>
                </a:solidFill>
                <a:latin typeface="Segoe UI Symbol"/>
                <a:cs typeface="Segoe UI Symbol"/>
              </a:rPr>
              <a:t>✗</a:t>
            </a:r>
            <a:r>
              <a:rPr dirty="0" sz="1250" spc="125">
                <a:solidFill>
                  <a:srgbClr val="1B1B2D"/>
                </a:solidFill>
                <a:latin typeface="Segoe UI Symbol"/>
                <a:cs typeface="Segoe UI Symbol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Integration</a:t>
            </a:r>
            <a:r>
              <a:rPr dirty="0" sz="12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with</a:t>
            </a:r>
            <a:r>
              <a:rPr dirty="0" sz="12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real</a:t>
            </a:r>
            <a:r>
              <a:rPr dirty="0" sz="12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company's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live</a:t>
            </a:r>
            <a:r>
              <a:rPr dirty="0" sz="12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database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18478" y="4217034"/>
            <a:ext cx="37947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1B1B2D"/>
                </a:solidFill>
                <a:latin typeface="Segoe UI Symbol"/>
                <a:cs typeface="Segoe UI Symbol"/>
              </a:rPr>
              <a:t>✗</a:t>
            </a:r>
            <a:r>
              <a:rPr dirty="0" sz="1250" spc="110">
                <a:solidFill>
                  <a:srgbClr val="1B1B2D"/>
                </a:solidFill>
                <a:latin typeface="Segoe UI Symbol"/>
                <a:cs typeface="Segoe UI Symbol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Live</a:t>
            </a:r>
            <a:r>
              <a:rPr dirty="0" sz="12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A/B</a:t>
            </a:r>
            <a:r>
              <a:rPr dirty="0" sz="12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testing</a:t>
            </a:r>
            <a:r>
              <a:rPr dirty="0" sz="12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of</a:t>
            </a:r>
            <a:r>
              <a:rPr dirty="0" sz="12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recommendations</a:t>
            </a:r>
            <a:r>
              <a:rPr dirty="0" sz="12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B1B2D"/>
                </a:solidFill>
                <a:latin typeface="Calibri"/>
                <a:cs typeface="Calibri"/>
              </a:rPr>
              <a:t>or</a:t>
            </a:r>
            <a:r>
              <a:rPr dirty="0" sz="1250" spc="-6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retention</a:t>
            </a:r>
            <a:r>
              <a:rPr dirty="0" sz="12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B1B2D"/>
                </a:solidFill>
                <a:latin typeface="Calibri"/>
                <a:cs typeface="Calibri"/>
              </a:rPr>
              <a:t>offers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7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5208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U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3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3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5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Technologies</a:t>
            </a:r>
            <a:r>
              <a:rPr dirty="0" spc="-130"/>
              <a:t> </a:t>
            </a:r>
            <a:r>
              <a:rPr dirty="0" spc="-30"/>
              <a:t>&amp;</a:t>
            </a:r>
            <a:r>
              <a:rPr dirty="0" spc="-120"/>
              <a:t> </a:t>
            </a:r>
            <a:r>
              <a:rPr dirty="0" spc="-10"/>
              <a:t>Tools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8640" y="1828164"/>
            <a:ext cx="3520440" cy="1874520"/>
            <a:chOff x="548640" y="1828164"/>
            <a:chExt cx="3520440" cy="1874520"/>
          </a:xfrm>
        </p:grpSpPr>
        <p:sp>
          <p:nvSpPr>
            <p:cNvPr id="5" name="object 5"/>
            <p:cNvSpPr/>
            <p:nvPr/>
          </p:nvSpPr>
          <p:spPr>
            <a:xfrm>
              <a:off x="548640" y="182816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8" y="0"/>
                  </a:moveTo>
                  <a:lnTo>
                    <a:pt x="73139" y="0"/>
                  </a:lnTo>
                  <a:lnTo>
                    <a:pt x="44665" y="5714"/>
                  </a:lnTo>
                  <a:lnTo>
                    <a:pt x="21424" y="21462"/>
                  </a:lnTo>
                  <a:lnTo>
                    <a:pt x="5740" y="44704"/>
                  </a:lnTo>
                  <a:lnTo>
                    <a:pt x="0" y="73151"/>
                  </a:lnTo>
                  <a:lnTo>
                    <a:pt x="0" y="1801368"/>
                  </a:lnTo>
                  <a:lnTo>
                    <a:pt x="5740" y="1829816"/>
                  </a:lnTo>
                  <a:lnTo>
                    <a:pt x="21424" y="1853057"/>
                  </a:lnTo>
                  <a:lnTo>
                    <a:pt x="44665" y="1868805"/>
                  </a:lnTo>
                  <a:lnTo>
                    <a:pt x="73139" y="1874520"/>
                  </a:lnTo>
                  <a:lnTo>
                    <a:pt x="3447288" y="1874520"/>
                  </a:lnTo>
                  <a:lnTo>
                    <a:pt x="3475736" y="1868805"/>
                  </a:lnTo>
                  <a:lnTo>
                    <a:pt x="3498977" y="1853057"/>
                  </a:lnTo>
                  <a:lnTo>
                    <a:pt x="3514725" y="1829816"/>
                  </a:lnTo>
                  <a:lnTo>
                    <a:pt x="3520440" y="1801368"/>
                  </a:lnTo>
                  <a:lnTo>
                    <a:pt x="3520440" y="73151"/>
                  </a:lnTo>
                  <a:lnTo>
                    <a:pt x="3514725" y="44704"/>
                  </a:lnTo>
                  <a:lnTo>
                    <a:pt x="3498977" y="21462"/>
                  </a:lnTo>
                  <a:lnTo>
                    <a:pt x="3475736" y="5714"/>
                  </a:lnTo>
                  <a:lnTo>
                    <a:pt x="344728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7240" y="205676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59" y="0"/>
                  </a:moveTo>
                  <a:lnTo>
                    <a:pt x="206260" y="4063"/>
                  </a:lnTo>
                  <a:lnTo>
                    <a:pt x="163715" y="15748"/>
                  </a:lnTo>
                  <a:lnTo>
                    <a:pt x="124548" y="34289"/>
                  </a:lnTo>
                  <a:lnTo>
                    <a:pt x="89446" y="59182"/>
                  </a:lnTo>
                  <a:lnTo>
                    <a:pt x="59143" y="89408"/>
                  </a:lnTo>
                  <a:lnTo>
                    <a:pt x="34328" y="124460"/>
                  </a:lnTo>
                  <a:lnTo>
                    <a:pt x="15735" y="163702"/>
                  </a:lnTo>
                  <a:lnTo>
                    <a:pt x="4051" y="206248"/>
                  </a:lnTo>
                  <a:lnTo>
                    <a:pt x="0" y="251460"/>
                  </a:lnTo>
                  <a:lnTo>
                    <a:pt x="4051" y="296672"/>
                  </a:lnTo>
                  <a:lnTo>
                    <a:pt x="15735" y="339217"/>
                  </a:lnTo>
                  <a:lnTo>
                    <a:pt x="34328" y="378460"/>
                  </a:lnTo>
                  <a:lnTo>
                    <a:pt x="59143" y="413512"/>
                  </a:lnTo>
                  <a:lnTo>
                    <a:pt x="89446" y="443738"/>
                  </a:lnTo>
                  <a:lnTo>
                    <a:pt x="124548" y="468630"/>
                  </a:lnTo>
                  <a:lnTo>
                    <a:pt x="163715" y="487172"/>
                  </a:lnTo>
                  <a:lnTo>
                    <a:pt x="206260" y="498856"/>
                  </a:lnTo>
                  <a:lnTo>
                    <a:pt x="251459" y="502920"/>
                  </a:lnTo>
                  <a:lnTo>
                    <a:pt x="296659" y="498856"/>
                  </a:lnTo>
                  <a:lnTo>
                    <a:pt x="339204" y="487172"/>
                  </a:lnTo>
                  <a:lnTo>
                    <a:pt x="378371" y="468630"/>
                  </a:lnTo>
                  <a:lnTo>
                    <a:pt x="413473" y="443738"/>
                  </a:lnTo>
                  <a:lnTo>
                    <a:pt x="443776" y="413512"/>
                  </a:lnTo>
                  <a:lnTo>
                    <a:pt x="468591" y="378460"/>
                  </a:lnTo>
                  <a:lnTo>
                    <a:pt x="487184" y="339217"/>
                  </a:lnTo>
                  <a:lnTo>
                    <a:pt x="498856" y="296672"/>
                  </a:lnTo>
                  <a:lnTo>
                    <a:pt x="502919" y="251460"/>
                  </a:lnTo>
                  <a:lnTo>
                    <a:pt x="498856" y="206248"/>
                  </a:lnTo>
                  <a:lnTo>
                    <a:pt x="487184" y="163702"/>
                  </a:lnTo>
                  <a:lnTo>
                    <a:pt x="468591" y="124460"/>
                  </a:lnTo>
                  <a:lnTo>
                    <a:pt x="443776" y="89408"/>
                  </a:lnTo>
                  <a:lnTo>
                    <a:pt x="413473" y="59182"/>
                  </a:lnTo>
                  <a:lnTo>
                    <a:pt x="378371" y="34289"/>
                  </a:lnTo>
                  <a:lnTo>
                    <a:pt x="339204" y="15748"/>
                  </a:lnTo>
                  <a:lnTo>
                    <a:pt x="296659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icons/python_whit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772" y="2122296"/>
              <a:ext cx="371856" cy="3718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6284" y="2743657"/>
            <a:ext cx="5105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Python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284" y="3222752"/>
            <a:ext cx="23456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Primary</a:t>
            </a:r>
            <a:r>
              <a:rPr dirty="0" sz="105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language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across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the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entire</a:t>
            </a:r>
            <a:r>
              <a:rPr dirty="0" sz="105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pipeline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97045" y="1828164"/>
            <a:ext cx="3520440" cy="1874520"/>
            <a:chOff x="4297045" y="1828164"/>
            <a:chExt cx="3520440" cy="1874520"/>
          </a:xfrm>
        </p:grpSpPr>
        <p:sp>
          <p:nvSpPr>
            <p:cNvPr id="11" name="object 11"/>
            <p:cNvSpPr/>
            <p:nvPr/>
          </p:nvSpPr>
          <p:spPr>
            <a:xfrm>
              <a:off x="4297045" y="182816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7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2" y="21462"/>
                  </a:lnTo>
                  <a:lnTo>
                    <a:pt x="5714" y="44704"/>
                  </a:lnTo>
                  <a:lnTo>
                    <a:pt x="0" y="73151"/>
                  </a:lnTo>
                  <a:lnTo>
                    <a:pt x="0" y="1801368"/>
                  </a:lnTo>
                  <a:lnTo>
                    <a:pt x="5714" y="1829816"/>
                  </a:lnTo>
                  <a:lnTo>
                    <a:pt x="21462" y="1853057"/>
                  </a:lnTo>
                  <a:lnTo>
                    <a:pt x="44703" y="1868805"/>
                  </a:lnTo>
                  <a:lnTo>
                    <a:pt x="73151" y="1874520"/>
                  </a:lnTo>
                  <a:lnTo>
                    <a:pt x="3447287" y="1874520"/>
                  </a:lnTo>
                  <a:lnTo>
                    <a:pt x="3475735" y="1868805"/>
                  </a:lnTo>
                  <a:lnTo>
                    <a:pt x="3498977" y="1853057"/>
                  </a:lnTo>
                  <a:lnTo>
                    <a:pt x="3514725" y="1829816"/>
                  </a:lnTo>
                  <a:lnTo>
                    <a:pt x="3520439" y="1801368"/>
                  </a:lnTo>
                  <a:lnTo>
                    <a:pt x="3520439" y="73151"/>
                  </a:lnTo>
                  <a:lnTo>
                    <a:pt x="3514725" y="44704"/>
                  </a:lnTo>
                  <a:lnTo>
                    <a:pt x="3498977" y="21462"/>
                  </a:lnTo>
                  <a:lnTo>
                    <a:pt x="3475735" y="5714"/>
                  </a:lnTo>
                  <a:lnTo>
                    <a:pt x="3447287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5645" y="205676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7" y="4063"/>
                  </a:lnTo>
                  <a:lnTo>
                    <a:pt x="163702" y="15748"/>
                  </a:lnTo>
                  <a:lnTo>
                    <a:pt x="124459" y="34289"/>
                  </a:lnTo>
                  <a:lnTo>
                    <a:pt x="89407" y="59182"/>
                  </a:lnTo>
                  <a:lnTo>
                    <a:pt x="59181" y="89408"/>
                  </a:lnTo>
                  <a:lnTo>
                    <a:pt x="34289" y="124460"/>
                  </a:lnTo>
                  <a:lnTo>
                    <a:pt x="15747" y="163702"/>
                  </a:lnTo>
                  <a:lnTo>
                    <a:pt x="4063" y="206248"/>
                  </a:lnTo>
                  <a:lnTo>
                    <a:pt x="0" y="251460"/>
                  </a:lnTo>
                  <a:lnTo>
                    <a:pt x="4063" y="296672"/>
                  </a:lnTo>
                  <a:lnTo>
                    <a:pt x="15747" y="339217"/>
                  </a:lnTo>
                  <a:lnTo>
                    <a:pt x="34289" y="378460"/>
                  </a:lnTo>
                  <a:lnTo>
                    <a:pt x="59181" y="413512"/>
                  </a:lnTo>
                  <a:lnTo>
                    <a:pt x="89407" y="443738"/>
                  </a:lnTo>
                  <a:lnTo>
                    <a:pt x="124459" y="468630"/>
                  </a:lnTo>
                  <a:lnTo>
                    <a:pt x="163702" y="487172"/>
                  </a:lnTo>
                  <a:lnTo>
                    <a:pt x="206247" y="498856"/>
                  </a:lnTo>
                  <a:lnTo>
                    <a:pt x="251459" y="502920"/>
                  </a:lnTo>
                  <a:lnTo>
                    <a:pt x="296671" y="498856"/>
                  </a:lnTo>
                  <a:lnTo>
                    <a:pt x="339216" y="487172"/>
                  </a:lnTo>
                  <a:lnTo>
                    <a:pt x="378459" y="468630"/>
                  </a:lnTo>
                  <a:lnTo>
                    <a:pt x="413512" y="443738"/>
                  </a:lnTo>
                  <a:lnTo>
                    <a:pt x="443738" y="413512"/>
                  </a:lnTo>
                  <a:lnTo>
                    <a:pt x="468629" y="378460"/>
                  </a:lnTo>
                  <a:lnTo>
                    <a:pt x="487171" y="339217"/>
                  </a:lnTo>
                  <a:lnTo>
                    <a:pt x="498855" y="296672"/>
                  </a:lnTo>
                  <a:lnTo>
                    <a:pt x="502919" y="251460"/>
                  </a:lnTo>
                  <a:lnTo>
                    <a:pt x="498855" y="206248"/>
                  </a:lnTo>
                  <a:lnTo>
                    <a:pt x="487171" y="163702"/>
                  </a:lnTo>
                  <a:lnTo>
                    <a:pt x="468629" y="124460"/>
                  </a:lnTo>
                  <a:lnTo>
                    <a:pt x="443738" y="89408"/>
                  </a:lnTo>
                  <a:lnTo>
                    <a:pt x="413512" y="59182"/>
                  </a:lnTo>
                  <a:lnTo>
                    <a:pt x="378459" y="34289"/>
                  </a:lnTo>
                  <a:lnTo>
                    <a:pt x="339216" y="15748"/>
                  </a:lnTo>
                  <a:lnTo>
                    <a:pt x="296671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icons/database_whit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1177" y="2122296"/>
              <a:ext cx="371855" cy="3718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606290" y="2743657"/>
            <a:ext cx="11982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304F"/>
                </a:solidFill>
                <a:latin typeface="Calibri"/>
                <a:cs typeface="Calibri"/>
              </a:rPr>
              <a:t>NumPy</a:t>
            </a:r>
            <a:r>
              <a:rPr dirty="0" sz="1300" spc="-2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04F"/>
                </a:solidFill>
                <a:latin typeface="Calibri"/>
                <a:cs typeface="Calibri"/>
              </a:rPr>
              <a:t>&amp;</a:t>
            </a:r>
            <a:r>
              <a:rPr dirty="0" sz="1300" spc="-5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Pandas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6290" y="3222752"/>
            <a:ext cx="283273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Data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cleaning,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transformation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&amp;</a:t>
            </a:r>
            <a:r>
              <a:rPr dirty="0" sz="1050" spc="1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feature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engineering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46084" y="1828164"/>
            <a:ext cx="3520440" cy="1874520"/>
            <a:chOff x="8046084" y="1828164"/>
            <a:chExt cx="3520440" cy="1874520"/>
          </a:xfrm>
        </p:grpSpPr>
        <p:sp>
          <p:nvSpPr>
            <p:cNvPr id="17" name="object 17"/>
            <p:cNvSpPr/>
            <p:nvPr/>
          </p:nvSpPr>
          <p:spPr>
            <a:xfrm>
              <a:off x="8046084" y="182816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8" y="0"/>
                  </a:moveTo>
                  <a:lnTo>
                    <a:pt x="73151" y="0"/>
                  </a:lnTo>
                  <a:lnTo>
                    <a:pt x="44704" y="5714"/>
                  </a:lnTo>
                  <a:lnTo>
                    <a:pt x="21463" y="21462"/>
                  </a:lnTo>
                  <a:lnTo>
                    <a:pt x="5715" y="44704"/>
                  </a:lnTo>
                  <a:lnTo>
                    <a:pt x="0" y="73151"/>
                  </a:lnTo>
                  <a:lnTo>
                    <a:pt x="0" y="1801368"/>
                  </a:lnTo>
                  <a:lnTo>
                    <a:pt x="5715" y="1829816"/>
                  </a:lnTo>
                  <a:lnTo>
                    <a:pt x="21463" y="1853057"/>
                  </a:lnTo>
                  <a:lnTo>
                    <a:pt x="44704" y="1868805"/>
                  </a:lnTo>
                  <a:lnTo>
                    <a:pt x="73151" y="1874520"/>
                  </a:lnTo>
                  <a:lnTo>
                    <a:pt x="3447288" y="1874520"/>
                  </a:lnTo>
                  <a:lnTo>
                    <a:pt x="3475736" y="1868805"/>
                  </a:lnTo>
                  <a:lnTo>
                    <a:pt x="3498977" y="1853057"/>
                  </a:lnTo>
                  <a:lnTo>
                    <a:pt x="3514725" y="1829816"/>
                  </a:lnTo>
                  <a:lnTo>
                    <a:pt x="3520440" y="1801368"/>
                  </a:lnTo>
                  <a:lnTo>
                    <a:pt x="3520440" y="73151"/>
                  </a:lnTo>
                  <a:lnTo>
                    <a:pt x="3514725" y="44704"/>
                  </a:lnTo>
                  <a:lnTo>
                    <a:pt x="3498977" y="21462"/>
                  </a:lnTo>
                  <a:lnTo>
                    <a:pt x="3475736" y="5714"/>
                  </a:lnTo>
                  <a:lnTo>
                    <a:pt x="344728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74684" y="205676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8" y="4063"/>
                  </a:lnTo>
                  <a:lnTo>
                    <a:pt x="163703" y="15748"/>
                  </a:lnTo>
                  <a:lnTo>
                    <a:pt x="124460" y="34289"/>
                  </a:lnTo>
                  <a:lnTo>
                    <a:pt x="89408" y="59182"/>
                  </a:lnTo>
                  <a:lnTo>
                    <a:pt x="59182" y="89408"/>
                  </a:lnTo>
                  <a:lnTo>
                    <a:pt x="34290" y="124460"/>
                  </a:lnTo>
                  <a:lnTo>
                    <a:pt x="15748" y="163702"/>
                  </a:lnTo>
                  <a:lnTo>
                    <a:pt x="4064" y="206248"/>
                  </a:lnTo>
                  <a:lnTo>
                    <a:pt x="0" y="251460"/>
                  </a:lnTo>
                  <a:lnTo>
                    <a:pt x="4064" y="296672"/>
                  </a:lnTo>
                  <a:lnTo>
                    <a:pt x="15748" y="339217"/>
                  </a:lnTo>
                  <a:lnTo>
                    <a:pt x="34290" y="378460"/>
                  </a:lnTo>
                  <a:lnTo>
                    <a:pt x="59182" y="413512"/>
                  </a:lnTo>
                  <a:lnTo>
                    <a:pt x="89408" y="443738"/>
                  </a:lnTo>
                  <a:lnTo>
                    <a:pt x="124460" y="468630"/>
                  </a:lnTo>
                  <a:lnTo>
                    <a:pt x="163703" y="487172"/>
                  </a:lnTo>
                  <a:lnTo>
                    <a:pt x="206248" y="498856"/>
                  </a:lnTo>
                  <a:lnTo>
                    <a:pt x="251460" y="502920"/>
                  </a:lnTo>
                  <a:lnTo>
                    <a:pt x="296672" y="498856"/>
                  </a:lnTo>
                  <a:lnTo>
                    <a:pt x="339217" y="487172"/>
                  </a:lnTo>
                  <a:lnTo>
                    <a:pt x="378460" y="468630"/>
                  </a:lnTo>
                  <a:lnTo>
                    <a:pt x="413512" y="443738"/>
                  </a:lnTo>
                  <a:lnTo>
                    <a:pt x="443738" y="413512"/>
                  </a:lnTo>
                  <a:lnTo>
                    <a:pt x="468630" y="378460"/>
                  </a:lnTo>
                  <a:lnTo>
                    <a:pt x="487172" y="339217"/>
                  </a:lnTo>
                  <a:lnTo>
                    <a:pt x="498856" y="296672"/>
                  </a:lnTo>
                  <a:lnTo>
                    <a:pt x="502920" y="251460"/>
                  </a:lnTo>
                  <a:lnTo>
                    <a:pt x="498856" y="206248"/>
                  </a:lnTo>
                  <a:lnTo>
                    <a:pt x="487172" y="163702"/>
                  </a:lnTo>
                  <a:lnTo>
                    <a:pt x="468630" y="124460"/>
                  </a:lnTo>
                  <a:lnTo>
                    <a:pt x="443738" y="89408"/>
                  </a:lnTo>
                  <a:lnTo>
                    <a:pt x="413512" y="59182"/>
                  </a:lnTo>
                  <a:lnTo>
                    <a:pt x="378460" y="34289"/>
                  </a:lnTo>
                  <a:lnTo>
                    <a:pt x="339217" y="15748"/>
                  </a:lnTo>
                  <a:lnTo>
                    <a:pt x="296672" y="4063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/home/claude/icons/chart_whit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0216" y="2122296"/>
              <a:ext cx="371855" cy="37185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56218" y="2743657"/>
            <a:ext cx="14947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Matplotlib</a:t>
            </a:r>
            <a:r>
              <a:rPr dirty="0" sz="1300" spc="-2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04F"/>
                </a:solidFill>
                <a:latin typeface="Calibri"/>
                <a:cs typeface="Calibri"/>
              </a:rPr>
              <a:t>&amp;</a:t>
            </a:r>
            <a:r>
              <a:rPr dirty="0" sz="1300" spc="-5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Seaborn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6218" y="3222752"/>
            <a:ext cx="26111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Exploratory</a:t>
            </a:r>
            <a:r>
              <a:rPr dirty="0" sz="105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data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analysis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and</a:t>
            </a:r>
            <a:r>
              <a:rPr dirty="0" sz="1050" spc="1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result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visualization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8640" y="3977004"/>
            <a:ext cx="3520440" cy="1874520"/>
            <a:chOff x="548640" y="3977004"/>
            <a:chExt cx="3520440" cy="1874520"/>
          </a:xfrm>
        </p:grpSpPr>
        <p:sp>
          <p:nvSpPr>
            <p:cNvPr id="23" name="object 23"/>
            <p:cNvSpPr/>
            <p:nvPr/>
          </p:nvSpPr>
          <p:spPr>
            <a:xfrm>
              <a:off x="548640" y="397700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8" y="0"/>
                  </a:moveTo>
                  <a:lnTo>
                    <a:pt x="73139" y="0"/>
                  </a:lnTo>
                  <a:lnTo>
                    <a:pt x="44665" y="5715"/>
                  </a:lnTo>
                  <a:lnTo>
                    <a:pt x="21424" y="21463"/>
                  </a:lnTo>
                  <a:lnTo>
                    <a:pt x="5740" y="44704"/>
                  </a:lnTo>
                  <a:lnTo>
                    <a:pt x="0" y="73152"/>
                  </a:lnTo>
                  <a:lnTo>
                    <a:pt x="0" y="1801380"/>
                  </a:lnTo>
                  <a:lnTo>
                    <a:pt x="5740" y="1829841"/>
                  </a:lnTo>
                  <a:lnTo>
                    <a:pt x="21424" y="1853095"/>
                  </a:lnTo>
                  <a:lnTo>
                    <a:pt x="44665" y="1868766"/>
                  </a:lnTo>
                  <a:lnTo>
                    <a:pt x="73139" y="1874520"/>
                  </a:lnTo>
                  <a:lnTo>
                    <a:pt x="3447288" y="1874520"/>
                  </a:lnTo>
                  <a:lnTo>
                    <a:pt x="3475736" y="1868766"/>
                  </a:lnTo>
                  <a:lnTo>
                    <a:pt x="3498977" y="1853095"/>
                  </a:lnTo>
                  <a:lnTo>
                    <a:pt x="3514725" y="1829841"/>
                  </a:lnTo>
                  <a:lnTo>
                    <a:pt x="3520440" y="1801380"/>
                  </a:lnTo>
                  <a:lnTo>
                    <a:pt x="3520440" y="73152"/>
                  </a:lnTo>
                  <a:lnTo>
                    <a:pt x="3514725" y="44704"/>
                  </a:lnTo>
                  <a:lnTo>
                    <a:pt x="3498977" y="21463"/>
                  </a:lnTo>
                  <a:lnTo>
                    <a:pt x="3475736" y="5715"/>
                  </a:lnTo>
                  <a:lnTo>
                    <a:pt x="344728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77240" y="420560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64"/>
                  </a:lnTo>
                  <a:lnTo>
                    <a:pt x="163715" y="15748"/>
                  </a:lnTo>
                  <a:lnTo>
                    <a:pt x="124548" y="34290"/>
                  </a:lnTo>
                  <a:lnTo>
                    <a:pt x="89446" y="59182"/>
                  </a:lnTo>
                  <a:lnTo>
                    <a:pt x="59143" y="89408"/>
                  </a:lnTo>
                  <a:lnTo>
                    <a:pt x="34328" y="124460"/>
                  </a:lnTo>
                  <a:lnTo>
                    <a:pt x="15735" y="163703"/>
                  </a:lnTo>
                  <a:lnTo>
                    <a:pt x="4051" y="206248"/>
                  </a:lnTo>
                  <a:lnTo>
                    <a:pt x="0" y="251460"/>
                  </a:lnTo>
                  <a:lnTo>
                    <a:pt x="4051" y="296672"/>
                  </a:lnTo>
                  <a:lnTo>
                    <a:pt x="15735" y="339217"/>
                  </a:lnTo>
                  <a:lnTo>
                    <a:pt x="34328" y="378460"/>
                  </a:lnTo>
                  <a:lnTo>
                    <a:pt x="59143" y="413512"/>
                  </a:lnTo>
                  <a:lnTo>
                    <a:pt x="89446" y="443738"/>
                  </a:lnTo>
                  <a:lnTo>
                    <a:pt x="124548" y="468630"/>
                  </a:lnTo>
                  <a:lnTo>
                    <a:pt x="163715" y="487172"/>
                  </a:lnTo>
                  <a:lnTo>
                    <a:pt x="206260" y="498856"/>
                  </a:lnTo>
                  <a:lnTo>
                    <a:pt x="251459" y="502920"/>
                  </a:lnTo>
                  <a:lnTo>
                    <a:pt x="296659" y="498856"/>
                  </a:lnTo>
                  <a:lnTo>
                    <a:pt x="339204" y="487172"/>
                  </a:lnTo>
                  <a:lnTo>
                    <a:pt x="378371" y="468630"/>
                  </a:lnTo>
                  <a:lnTo>
                    <a:pt x="413473" y="443738"/>
                  </a:lnTo>
                  <a:lnTo>
                    <a:pt x="443776" y="413512"/>
                  </a:lnTo>
                  <a:lnTo>
                    <a:pt x="468591" y="378460"/>
                  </a:lnTo>
                  <a:lnTo>
                    <a:pt x="487184" y="339217"/>
                  </a:lnTo>
                  <a:lnTo>
                    <a:pt x="498856" y="296672"/>
                  </a:lnTo>
                  <a:lnTo>
                    <a:pt x="502919" y="251460"/>
                  </a:lnTo>
                  <a:lnTo>
                    <a:pt x="498856" y="206248"/>
                  </a:lnTo>
                  <a:lnTo>
                    <a:pt x="487184" y="163703"/>
                  </a:lnTo>
                  <a:lnTo>
                    <a:pt x="468591" y="124460"/>
                  </a:lnTo>
                  <a:lnTo>
                    <a:pt x="443776" y="89408"/>
                  </a:lnTo>
                  <a:lnTo>
                    <a:pt x="413473" y="59182"/>
                  </a:lnTo>
                  <a:lnTo>
                    <a:pt x="378371" y="34290"/>
                  </a:lnTo>
                  <a:lnTo>
                    <a:pt x="339204" y="15748"/>
                  </a:lnTo>
                  <a:lnTo>
                    <a:pt x="296659" y="4064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/home/claude/icons/brain_whit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2772" y="4271136"/>
              <a:ext cx="371856" cy="3718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56284" y="4878704"/>
            <a:ext cx="7810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16304F"/>
                </a:solidFill>
                <a:latin typeface="Calibri"/>
                <a:cs typeface="Calibri"/>
              </a:rPr>
              <a:t>Scikit-</a:t>
            </a: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learn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284" y="5281040"/>
            <a:ext cx="2660015" cy="3517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65"/>
              </a:spcBef>
            </a:pP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Churn</a:t>
            </a:r>
            <a:r>
              <a:rPr dirty="0" sz="1050" spc="-7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classification: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Logistic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Regression,</a:t>
            </a:r>
            <a:r>
              <a:rPr dirty="0" sz="1050" spc="-6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Random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Forest,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XGBoost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97045" y="3977004"/>
            <a:ext cx="3520440" cy="1874520"/>
            <a:chOff x="4297045" y="3977004"/>
            <a:chExt cx="3520440" cy="1874520"/>
          </a:xfrm>
        </p:grpSpPr>
        <p:sp>
          <p:nvSpPr>
            <p:cNvPr id="29" name="object 29"/>
            <p:cNvSpPr/>
            <p:nvPr/>
          </p:nvSpPr>
          <p:spPr>
            <a:xfrm>
              <a:off x="4297045" y="397700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7" y="0"/>
                  </a:moveTo>
                  <a:lnTo>
                    <a:pt x="73151" y="0"/>
                  </a:lnTo>
                  <a:lnTo>
                    <a:pt x="44703" y="5715"/>
                  </a:lnTo>
                  <a:lnTo>
                    <a:pt x="21462" y="21463"/>
                  </a:lnTo>
                  <a:lnTo>
                    <a:pt x="5714" y="44704"/>
                  </a:lnTo>
                  <a:lnTo>
                    <a:pt x="0" y="73152"/>
                  </a:lnTo>
                  <a:lnTo>
                    <a:pt x="0" y="1801380"/>
                  </a:lnTo>
                  <a:lnTo>
                    <a:pt x="5714" y="1829841"/>
                  </a:lnTo>
                  <a:lnTo>
                    <a:pt x="21462" y="1853095"/>
                  </a:lnTo>
                  <a:lnTo>
                    <a:pt x="44703" y="1868766"/>
                  </a:lnTo>
                  <a:lnTo>
                    <a:pt x="73151" y="1874520"/>
                  </a:lnTo>
                  <a:lnTo>
                    <a:pt x="3447287" y="1874520"/>
                  </a:lnTo>
                  <a:lnTo>
                    <a:pt x="3475735" y="1868766"/>
                  </a:lnTo>
                  <a:lnTo>
                    <a:pt x="3498977" y="1853095"/>
                  </a:lnTo>
                  <a:lnTo>
                    <a:pt x="3514725" y="1829841"/>
                  </a:lnTo>
                  <a:lnTo>
                    <a:pt x="3520439" y="1801380"/>
                  </a:lnTo>
                  <a:lnTo>
                    <a:pt x="3520439" y="73152"/>
                  </a:lnTo>
                  <a:lnTo>
                    <a:pt x="3514725" y="44704"/>
                  </a:lnTo>
                  <a:lnTo>
                    <a:pt x="3498977" y="21463"/>
                  </a:lnTo>
                  <a:lnTo>
                    <a:pt x="3475735" y="5715"/>
                  </a:lnTo>
                  <a:lnTo>
                    <a:pt x="3447287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25645" y="420560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7" y="4064"/>
                  </a:lnTo>
                  <a:lnTo>
                    <a:pt x="163702" y="15748"/>
                  </a:lnTo>
                  <a:lnTo>
                    <a:pt x="124459" y="34290"/>
                  </a:lnTo>
                  <a:lnTo>
                    <a:pt x="89407" y="59182"/>
                  </a:lnTo>
                  <a:lnTo>
                    <a:pt x="59181" y="89408"/>
                  </a:lnTo>
                  <a:lnTo>
                    <a:pt x="34289" y="124460"/>
                  </a:lnTo>
                  <a:lnTo>
                    <a:pt x="15747" y="163703"/>
                  </a:lnTo>
                  <a:lnTo>
                    <a:pt x="4063" y="206248"/>
                  </a:lnTo>
                  <a:lnTo>
                    <a:pt x="0" y="251460"/>
                  </a:lnTo>
                  <a:lnTo>
                    <a:pt x="4063" y="296672"/>
                  </a:lnTo>
                  <a:lnTo>
                    <a:pt x="15747" y="339217"/>
                  </a:lnTo>
                  <a:lnTo>
                    <a:pt x="34289" y="378460"/>
                  </a:lnTo>
                  <a:lnTo>
                    <a:pt x="59181" y="413512"/>
                  </a:lnTo>
                  <a:lnTo>
                    <a:pt x="89407" y="443738"/>
                  </a:lnTo>
                  <a:lnTo>
                    <a:pt x="124459" y="468630"/>
                  </a:lnTo>
                  <a:lnTo>
                    <a:pt x="163702" y="487172"/>
                  </a:lnTo>
                  <a:lnTo>
                    <a:pt x="206247" y="498856"/>
                  </a:lnTo>
                  <a:lnTo>
                    <a:pt x="251459" y="502920"/>
                  </a:lnTo>
                  <a:lnTo>
                    <a:pt x="296671" y="498856"/>
                  </a:lnTo>
                  <a:lnTo>
                    <a:pt x="339216" y="487172"/>
                  </a:lnTo>
                  <a:lnTo>
                    <a:pt x="378459" y="468630"/>
                  </a:lnTo>
                  <a:lnTo>
                    <a:pt x="413512" y="443738"/>
                  </a:lnTo>
                  <a:lnTo>
                    <a:pt x="443738" y="413512"/>
                  </a:lnTo>
                  <a:lnTo>
                    <a:pt x="468629" y="378460"/>
                  </a:lnTo>
                  <a:lnTo>
                    <a:pt x="487171" y="339217"/>
                  </a:lnTo>
                  <a:lnTo>
                    <a:pt x="498855" y="296672"/>
                  </a:lnTo>
                  <a:lnTo>
                    <a:pt x="502919" y="251460"/>
                  </a:lnTo>
                  <a:lnTo>
                    <a:pt x="498855" y="206248"/>
                  </a:lnTo>
                  <a:lnTo>
                    <a:pt x="487171" y="163703"/>
                  </a:lnTo>
                  <a:lnTo>
                    <a:pt x="468629" y="124460"/>
                  </a:lnTo>
                  <a:lnTo>
                    <a:pt x="443738" y="89408"/>
                  </a:lnTo>
                  <a:lnTo>
                    <a:pt x="413512" y="59182"/>
                  </a:lnTo>
                  <a:lnTo>
                    <a:pt x="378459" y="34290"/>
                  </a:lnTo>
                  <a:lnTo>
                    <a:pt x="339216" y="15748"/>
                  </a:lnTo>
                  <a:lnTo>
                    <a:pt x="296671" y="4064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/home/claude/icons/film_whit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1177" y="4271136"/>
              <a:ext cx="371855" cy="37185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606290" y="4878704"/>
            <a:ext cx="17272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Recommendation</a:t>
            </a:r>
            <a:r>
              <a:rPr dirty="0" sz="1300" spc="-5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04F"/>
                </a:solidFill>
                <a:latin typeface="Calibri"/>
                <a:cs typeface="Calibri"/>
              </a:rPr>
              <a:t>Engine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06290" y="5281040"/>
            <a:ext cx="2592070" cy="3517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65"/>
              </a:spcBef>
            </a:pP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Cosine</a:t>
            </a:r>
            <a:r>
              <a:rPr dirty="0" sz="1050" spc="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similarity,</a:t>
            </a:r>
            <a:r>
              <a:rPr dirty="0" sz="1050" spc="-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content-based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&amp;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 collaborative filtering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46084" y="3977004"/>
            <a:ext cx="3520440" cy="1874520"/>
            <a:chOff x="8046084" y="3977004"/>
            <a:chExt cx="3520440" cy="1874520"/>
          </a:xfrm>
        </p:grpSpPr>
        <p:sp>
          <p:nvSpPr>
            <p:cNvPr id="35" name="object 35"/>
            <p:cNvSpPr/>
            <p:nvPr/>
          </p:nvSpPr>
          <p:spPr>
            <a:xfrm>
              <a:off x="8046084" y="3977004"/>
              <a:ext cx="3520440" cy="1874520"/>
            </a:xfrm>
            <a:custGeom>
              <a:avLst/>
              <a:gdLst/>
              <a:ahLst/>
              <a:cxnLst/>
              <a:rect l="l" t="t" r="r" b="b"/>
              <a:pathLst>
                <a:path w="3520440" h="1874520">
                  <a:moveTo>
                    <a:pt x="3447288" y="0"/>
                  </a:moveTo>
                  <a:lnTo>
                    <a:pt x="73151" y="0"/>
                  </a:lnTo>
                  <a:lnTo>
                    <a:pt x="44704" y="5715"/>
                  </a:lnTo>
                  <a:lnTo>
                    <a:pt x="21463" y="21463"/>
                  </a:lnTo>
                  <a:lnTo>
                    <a:pt x="5715" y="44704"/>
                  </a:lnTo>
                  <a:lnTo>
                    <a:pt x="0" y="73152"/>
                  </a:lnTo>
                  <a:lnTo>
                    <a:pt x="0" y="1801380"/>
                  </a:lnTo>
                  <a:lnTo>
                    <a:pt x="5715" y="1829841"/>
                  </a:lnTo>
                  <a:lnTo>
                    <a:pt x="21463" y="1853095"/>
                  </a:lnTo>
                  <a:lnTo>
                    <a:pt x="44704" y="1868766"/>
                  </a:lnTo>
                  <a:lnTo>
                    <a:pt x="73151" y="1874520"/>
                  </a:lnTo>
                  <a:lnTo>
                    <a:pt x="3447288" y="1874520"/>
                  </a:lnTo>
                  <a:lnTo>
                    <a:pt x="3475736" y="1868766"/>
                  </a:lnTo>
                  <a:lnTo>
                    <a:pt x="3498977" y="1853095"/>
                  </a:lnTo>
                  <a:lnTo>
                    <a:pt x="3514725" y="1829841"/>
                  </a:lnTo>
                  <a:lnTo>
                    <a:pt x="3520440" y="1801380"/>
                  </a:lnTo>
                  <a:lnTo>
                    <a:pt x="3520440" y="73152"/>
                  </a:lnTo>
                  <a:lnTo>
                    <a:pt x="3514725" y="44704"/>
                  </a:lnTo>
                  <a:lnTo>
                    <a:pt x="3498977" y="21463"/>
                  </a:lnTo>
                  <a:lnTo>
                    <a:pt x="3475736" y="5715"/>
                  </a:lnTo>
                  <a:lnTo>
                    <a:pt x="3447288" y="0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74684" y="420560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8" y="4064"/>
                  </a:lnTo>
                  <a:lnTo>
                    <a:pt x="163703" y="15748"/>
                  </a:lnTo>
                  <a:lnTo>
                    <a:pt x="124460" y="34290"/>
                  </a:lnTo>
                  <a:lnTo>
                    <a:pt x="89408" y="59182"/>
                  </a:lnTo>
                  <a:lnTo>
                    <a:pt x="59182" y="89408"/>
                  </a:lnTo>
                  <a:lnTo>
                    <a:pt x="34290" y="124460"/>
                  </a:lnTo>
                  <a:lnTo>
                    <a:pt x="15748" y="163703"/>
                  </a:lnTo>
                  <a:lnTo>
                    <a:pt x="4064" y="206248"/>
                  </a:lnTo>
                  <a:lnTo>
                    <a:pt x="0" y="251460"/>
                  </a:lnTo>
                  <a:lnTo>
                    <a:pt x="4064" y="296672"/>
                  </a:lnTo>
                  <a:lnTo>
                    <a:pt x="15748" y="339217"/>
                  </a:lnTo>
                  <a:lnTo>
                    <a:pt x="34290" y="378460"/>
                  </a:lnTo>
                  <a:lnTo>
                    <a:pt x="59182" y="413512"/>
                  </a:lnTo>
                  <a:lnTo>
                    <a:pt x="89408" y="443738"/>
                  </a:lnTo>
                  <a:lnTo>
                    <a:pt x="124460" y="468630"/>
                  </a:lnTo>
                  <a:lnTo>
                    <a:pt x="163703" y="487172"/>
                  </a:lnTo>
                  <a:lnTo>
                    <a:pt x="206248" y="498856"/>
                  </a:lnTo>
                  <a:lnTo>
                    <a:pt x="251460" y="502920"/>
                  </a:lnTo>
                  <a:lnTo>
                    <a:pt x="296672" y="498856"/>
                  </a:lnTo>
                  <a:lnTo>
                    <a:pt x="339217" y="487172"/>
                  </a:lnTo>
                  <a:lnTo>
                    <a:pt x="378460" y="468630"/>
                  </a:lnTo>
                  <a:lnTo>
                    <a:pt x="413512" y="443738"/>
                  </a:lnTo>
                  <a:lnTo>
                    <a:pt x="443738" y="413512"/>
                  </a:lnTo>
                  <a:lnTo>
                    <a:pt x="468630" y="378460"/>
                  </a:lnTo>
                  <a:lnTo>
                    <a:pt x="487172" y="339217"/>
                  </a:lnTo>
                  <a:lnTo>
                    <a:pt x="498856" y="296672"/>
                  </a:lnTo>
                  <a:lnTo>
                    <a:pt x="502920" y="251460"/>
                  </a:lnTo>
                  <a:lnTo>
                    <a:pt x="498856" y="206248"/>
                  </a:lnTo>
                  <a:lnTo>
                    <a:pt x="487172" y="163703"/>
                  </a:lnTo>
                  <a:lnTo>
                    <a:pt x="468630" y="124460"/>
                  </a:lnTo>
                  <a:lnTo>
                    <a:pt x="443738" y="89408"/>
                  </a:lnTo>
                  <a:lnTo>
                    <a:pt x="413512" y="59182"/>
                  </a:lnTo>
                  <a:lnTo>
                    <a:pt x="378460" y="34290"/>
                  </a:lnTo>
                  <a:lnTo>
                    <a:pt x="339217" y="15748"/>
                  </a:lnTo>
                  <a:lnTo>
                    <a:pt x="296672" y="4064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/home/claude/icons/git_whit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0216" y="4271136"/>
              <a:ext cx="371855" cy="37185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356218" y="4893945"/>
            <a:ext cx="9118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6304F"/>
                </a:solidFill>
                <a:latin typeface="Calibri"/>
                <a:cs typeface="Calibri"/>
              </a:rPr>
              <a:t>Jupyter</a:t>
            </a:r>
            <a:r>
              <a:rPr dirty="0" sz="1300" spc="-50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04F"/>
                </a:solidFill>
                <a:latin typeface="Calibri"/>
                <a:cs typeface="Calibri"/>
              </a:rPr>
              <a:t>&amp;</a:t>
            </a:r>
            <a:r>
              <a:rPr dirty="0" sz="1300" spc="-45" b="1">
                <a:solidFill>
                  <a:srgbClr val="16304F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16304F"/>
                </a:solidFill>
                <a:latin typeface="Calibri"/>
                <a:cs typeface="Calibri"/>
              </a:rPr>
              <a:t>Git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56218" y="5375224"/>
            <a:ext cx="269367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Iterative</a:t>
            </a:r>
            <a:r>
              <a:rPr dirty="0" sz="1050" spc="-1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model</a:t>
            </a:r>
            <a:r>
              <a:rPr dirty="0" sz="105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development</a:t>
            </a:r>
            <a:r>
              <a:rPr dirty="0" sz="1050" spc="-1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080"/>
                </a:solidFill>
                <a:latin typeface="Calibri"/>
                <a:cs typeface="Calibri"/>
              </a:rPr>
              <a:t>with</a:t>
            </a:r>
            <a:r>
              <a:rPr dirty="0" sz="105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version</a:t>
            </a:r>
            <a:r>
              <a:rPr dirty="0" sz="1050" spc="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080"/>
                </a:solidFill>
                <a:latin typeface="Calibri"/>
                <a:cs typeface="Calibri"/>
              </a:rPr>
              <a:t>control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8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629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S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G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System</a:t>
            </a:r>
            <a:r>
              <a:rPr dirty="0" spc="-120"/>
              <a:t> </a:t>
            </a:r>
            <a:r>
              <a:rPr dirty="0" spc="-1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7684" y="1386967"/>
            <a:ext cx="79940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A</a:t>
            </a:r>
            <a:r>
              <a:rPr dirty="0" sz="1300" spc="-7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shared</a:t>
            </a:r>
            <a:r>
              <a:rPr dirty="0" sz="13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data</a:t>
            </a:r>
            <a:r>
              <a:rPr dirty="0" sz="130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pipeline</a:t>
            </a:r>
            <a:r>
              <a:rPr dirty="0" sz="1300" spc="-3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branches</a:t>
            </a:r>
            <a:r>
              <a:rPr dirty="0" sz="130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into</a:t>
            </a:r>
            <a:r>
              <a:rPr dirty="0" sz="1300" spc="-5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two</a:t>
            </a:r>
            <a:r>
              <a:rPr dirty="0" sz="1300" spc="-5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independent</a:t>
            </a:r>
            <a:r>
              <a:rPr dirty="0" sz="1300" spc="-4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modelling</a:t>
            </a:r>
            <a:r>
              <a:rPr dirty="0" sz="1300" spc="-2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tracks</a:t>
            </a:r>
            <a:r>
              <a:rPr dirty="0" sz="1300" spc="-6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that</a:t>
            </a:r>
            <a:r>
              <a:rPr dirty="0" sz="13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both</a:t>
            </a:r>
            <a:r>
              <a:rPr dirty="0" sz="1300" spc="-5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feed</a:t>
            </a:r>
            <a:r>
              <a:rPr dirty="0" sz="1300" spc="-3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into</a:t>
            </a:r>
            <a:r>
              <a:rPr dirty="0" sz="1300" spc="-5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6B7080"/>
                </a:solidFill>
                <a:latin typeface="Calibri"/>
                <a:cs typeface="Calibri"/>
              </a:rPr>
              <a:t>actionable</a:t>
            </a:r>
            <a:r>
              <a:rPr dirty="0" sz="13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business</a:t>
            </a:r>
            <a:r>
              <a:rPr dirty="0" sz="1300" spc="-4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6B7080"/>
                </a:solidFill>
                <a:latin typeface="Calibri"/>
                <a:cs typeface="Calibri"/>
              </a:rPr>
              <a:t>insights.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5" name="object 5" descr="/home/claude/architectu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639" y="1783029"/>
            <a:ext cx="7470140" cy="45815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9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27684" y="432561"/>
            <a:ext cx="1622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H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W</a:t>
            </a:r>
            <a:r>
              <a:rPr dirty="0" sz="1200" spc="3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40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W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S</a:t>
            </a:r>
            <a:r>
              <a:rPr dirty="0" sz="1200" spc="3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B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U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Development</a:t>
            </a:r>
            <a:r>
              <a:rPr dirty="0" spc="-155"/>
              <a:t> </a:t>
            </a:r>
            <a:r>
              <a:rPr dirty="0" spc="-10"/>
              <a:t>Methodology</a:t>
            </a:r>
          </a:p>
        </p:txBody>
      </p:sp>
      <p:sp>
        <p:nvSpPr>
          <p:cNvPr id="14" name="object 14"/>
          <p:cNvSpPr/>
          <p:nvPr/>
        </p:nvSpPr>
        <p:spPr>
          <a:xfrm>
            <a:off x="548640" y="2103754"/>
            <a:ext cx="2487295" cy="3291840"/>
          </a:xfrm>
          <a:custGeom>
            <a:avLst/>
            <a:gdLst/>
            <a:ahLst/>
            <a:cxnLst/>
            <a:rect l="l" t="t" r="r" b="b"/>
            <a:pathLst>
              <a:path w="2487295" h="3291840">
                <a:moveTo>
                  <a:pt x="2414016" y="0"/>
                </a:moveTo>
                <a:lnTo>
                  <a:pt x="73151" y="0"/>
                </a:lnTo>
                <a:lnTo>
                  <a:pt x="44678" y="5715"/>
                </a:lnTo>
                <a:lnTo>
                  <a:pt x="21424" y="21462"/>
                </a:lnTo>
                <a:lnTo>
                  <a:pt x="5753" y="44704"/>
                </a:lnTo>
                <a:lnTo>
                  <a:pt x="0" y="73152"/>
                </a:lnTo>
                <a:lnTo>
                  <a:pt x="0" y="3218688"/>
                </a:lnTo>
                <a:lnTo>
                  <a:pt x="5753" y="3247136"/>
                </a:lnTo>
                <a:lnTo>
                  <a:pt x="21424" y="3270377"/>
                </a:lnTo>
                <a:lnTo>
                  <a:pt x="44678" y="3286125"/>
                </a:lnTo>
                <a:lnTo>
                  <a:pt x="73151" y="3291840"/>
                </a:lnTo>
                <a:lnTo>
                  <a:pt x="2414016" y="3291840"/>
                </a:lnTo>
                <a:lnTo>
                  <a:pt x="2442464" y="3286125"/>
                </a:lnTo>
                <a:lnTo>
                  <a:pt x="2465704" y="3270377"/>
                </a:lnTo>
                <a:lnTo>
                  <a:pt x="2481453" y="3247136"/>
                </a:lnTo>
                <a:lnTo>
                  <a:pt x="2487167" y="3218688"/>
                </a:lnTo>
                <a:lnTo>
                  <a:pt x="2487167" y="73152"/>
                </a:lnTo>
                <a:lnTo>
                  <a:pt x="2481453" y="44704"/>
                </a:lnTo>
                <a:lnTo>
                  <a:pt x="2465704" y="21462"/>
                </a:lnTo>
                <a:lnTo>
                  <a:pt x="2442464" y="5715"/>
                </a:lnTo>
                <a:lnTo>
                  <a:pt x="2414016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0564" y="2350465"/>
            <a:ext cx="612775" cy="83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CFDFEC"/>
                </a:solidFill>
                <a:latin typeface="Cambria"/>
                <a:cs typeface="Cambria"/>
              </a:rPr>
              <a:t>01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3328034" y="2103754"/>
            <a:ext cx="2487295" cy="3291840"/>
          </a:xfrm>
          <a:custGeom>
            <a:avLst/>
            <a:gdLst/>
            <a:ahLst/>
            <a:cxnLst/>
            <a:rect l="l" t="t" r="r" b="b"/>
            <a:pathLst>
              <a:path w="2487295" h="3291840">
                <a:moveTo>
                  <a:pt x="2414016" y="0"/>
                </a:moveTo>
                <a:lnTo>
                  <a:pt x="73151" y="0"/>
                </a:lnTo>
                <a:lnTo>
                  <a:pt x="44703" y="5715"/>
                </a:lnTo>
                <a:lnTo>
                  <a:pt x="21462" y="21462"/>
                </a:lnTo>
                <a:lnTo>
                  <a:pt x="5714" y="44704"/>
                </a:lnTo>
                <a:lnTo>
                  <a:pt x="0" y="73152"/>
                </a:lnTo>
                <a:lnTo>
                  <a:pt x="0" y="3218688"/>
                </a:lnTo>
                <a:lnTo>
                  <a:pt x="5714" y="3247136"/>
                </a:lnTo>
                <a:lnTo>
                  <a:pt x="21462" y="3270377"/>
                </a:lnTo>
                <a:lnTo>
                  <a:pt x="44703" y="3286125"/>
                </a:lnTo>
                <a:lnTo>
                  <a:pt x="73151" y="3291840"/>
                </a:lnTo>
                <a:lnTo>
                  <a:pt x="2414016" y="3291840"/>
                </a:lnTo>
                <a:lnTo>
                  <a:pt x="2442464" y="3286125"/>
                </a:lnTo>
                <a:lnTo>
                  <a:pt x="2465704" y="3270377"/>
                </a:lnTo>
                <a:lnTo>
                  <a:pt x="2481453" y="3247136"/>
                </a:lnTo>
                <a:lnTo>
                  <a:pt x="2487167" y="3218688"/>
                </a:lnTo>
                <a:lnTo>
                  <a:pt x="2487167" y="73152"/>
                </a:lnTo>
                <a:lnTo>
                  <a:pt x="2481453" y="44704"/>
                </a:lnTo>
                <a:lnTo>
                  <a:pt x="2465704" y="21462"/>
                </a:lnTo>
                <a:lnTo>
                  <a:pt x="2442464" y="5715"/>
                </a:lnTo>
                <a:lnTo>
                  <a:pt x="2414016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90925" y="2350465"/>
            <a:ext cx="712470" cy="83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CFDFEC"/>
                </a:solidFill>
                <a:latin typeface="Cambria"/>
                <a:cs typeface="Cambria"/>
              </a:rPr>
              <a:t>02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Engineer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0925" y="4012133"/>
            <a:ext cx="1668145" cy="574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5"/>
              </a:spcBef>
            </a:pP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Build</a:t>
            </a:r>
            <a:r>
              <a:rPr dirty="0" sz="1150" spc="-7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predictive</a:t>
            </a:r>
            <a:r>
              <a:rPr dirty="0" sz="11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features</a:t>
            </a:r>
            <a:r>
              <a:rPr dirty="0" sz="115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CFDFEC"/>
                </a:solidFill>
                <a:latin typeface="Calibri"/>
                <a:cs typeface="Calibri"/>
              </a:rPr>
              <a:t>for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churn;</a:t>
            </a:r>
            <a:r>
              <a:rPr dirty="0" sz="11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vectorize</a:t>
            </a:r>
            <a:r>
              <a:rPr dirty="0" sz="11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content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features</a:t>
            </a:r>
            <a:r>
              <a:rPr dirty="0" sz="11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for</a:t>
            </a:r>
            <a:r>
              <a:rPr dirty="0" sz="11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recs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08065" y="2103754"/>
            <a:ext cx="2487295" cy="3291840"/>
          </a:xfrm>
          <a:custGeom>
            <a:avLst/>
            <a:gdLst/>
            <a:ahLst/>
            <a:cxnLst/>
            <a:rect l="l" t="t" r="r" b="b"/>
            <a:pathLst>
              <a:path w="2487295" h="3291840">
                <a:moveTo>
                  <a:pt x="2414016" y="0"/>
                </a:moveTo>
                <a:lnTo>
                  <a:pt x="73151" y="0"/>
                </a:lnTo>
                <a:lnTo>
                  <a:pt x="44704" y="5715"/>
                </a:lnTo>
                <a:lnTo>
                  <a:pt x="21462" y="21462"/>
                </a:lnTo>
                <a:lnTo>
                  <a:pt x="5714" y="44704"/>
                </a:lnTo>
                <a:lnTo>
                  <a:pt x="0" y="73152"/>
                </a:lnTo>
                <a:lnTo>
                  <a:pt x="0" y="3218688"/>
                </a:lnTo>
                <a:lnTo>
                  <a:pt x="5714" y="3247136"/>
                </a:lnTo>
                <a:lnTo>
                  <a:pt x="21462" y="3270377"/>
                </a:lnTo>
                <a:lnTo>
                  <a:pt x="44704" y="3286125"/>
                </a:lnTo>
                <a:lnTo>
                  <a:pt x="73151" y="3291840"/>
                </a:lnTo>
                <a:lnTo>
                  <a:pt x="2414016" y="3291840"/>
                </a:lnTo>
                <a:lnTo>
                  <a:pt x="2442464" y="3286125"/>
                </a:lnTo>
                <a:lnTo>
                  <a:pt x="2465705" y="3270377"/>
                </a:lnTo>
                <a:lnTo>
                  <a:pt x="2481453" y="3247136"/>
                </a:lnTo>
                <a:lnTo>
                  <a:pt x="2487167" y="3218688"/>
                </a:lnTo>
                <a:lnTo>
                  <a:pt x="2487167" y="73152"/>
                </a:lnTo>
                <a:lnTo>
                  <a:pt x="2481453" y="44704"/>
                </a:lnTo>
                <a:lnTo>
                  <a:pt x="2465705" y="21462"/>
                </a:lnTo>
                <a:lnTo>
                  <a:pt x="2442464" y="5715"/>
                </a:lnTo>
                <a:lnTo>
                  <a:pt x="2414016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71335" y="2350465"/>
            <a:ext cx="537210" cy="83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CFDFEC"/>
                </a:solidFill>
                <a:latin typeface="Cambria"/>
                <a:cs typeface="Cambria"/>
              </a:rPr>
              <a:t>03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0573" y="3433317"/>
            <a:ext cx="2546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0" b="1">
                <a:solidFill>
                  <a:srgbClr val="16304F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40984" y="3433317"/>
            <a:ext cx="2546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0" b="1">
                <a:solidFill>
                  <a:srgbClr val="16304F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21394" y="3433317"/>
            <a:ext cx="25463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50" b="1">
                <a:solidFill>
                  <a:srgbClr val="16304F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0564" y="4012133"/>
            <a:ext cx="1915160" cy="574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5"/>
              </a:spcBef>
            </a:pP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Clean</a:t>
            </a:r>
            <a:r>
              <a:rPr dirty="0" sz="11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data</a:t>
            </a:r>
            <a:r>
              <a:rPr dirty="0" sz="1150" spc="-6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and</a:t>
            </a:r>
            <a:r>
              <a:rPr dirty="0" sz="11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explore</a:t>
            </a:r>
            <a:r>
              <a:rPr dirty="0" sz="11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class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balance,</a:t>
            </a:r>
            <a:r>
              <a:rPr dirty="0" sz="11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distributions</a:t>
            </a:r>
            <a:r>
              <a:rPr dirty="0" sz="11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&amp;</a:t>
            </a:r>
            <a:r>
              <a:rPr dirty="0" sz="1150" spc="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rating patterns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1335" y="4012133"/>
            <a:ext cx="1868170" cy="574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15"/>
              </a:spcBef>
            </a:pP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Train</a:t>
            </a:r>
            <a:r>
              <a:rPr dirty="0" sz="11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classifiers</a:t>
            </a:r>
            <a:r>
              <a:rPr dirty="0" sz="115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for</a:t>
            </a:r>
            <a:r>
              <a:rPr dirty="0" sz="11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churn;</a:t>
            </a:r>
            <a:r>
              <a:rPr dirty="0" sz="11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build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hybrid</a:t>
            </a:r>
            <a:r>
              <a:rPr dirty="0" sz="11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content</a:t>
            </a:r>
            <a:r>
              <a:rPr dirty="0" sz="11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+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collaborative recommender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887459" y="2103754"/>
            <a:ext cx="2487295" cy="3291840"/>
          </a:xfrm>
          <a:custGeom>
            <a:avLst/>
            <a:gdLst/>
            <a:ahLst/>
            <a:cxnLst/>
            <a:rect l="l" t="t" r="r" b="b"/>
            <a:pathLst>
              <a:path w="2487295" h="3291840">
                <a:moveTo>
                  <a:pt x="2414016" y="0"/>
                </a:moveTo>
                <a:lnTo>
                  <a:pt x="73151" y="0"/>
                </a:lnTo>
                <a:lnTo>
                  <a:pt x="44704" y="5715"/>
                </a:lnTo>
                <a:lnTo>
                  <a:pt x="21463" y="21462"/>
                </a:lnTo>
                <a:lnTo>
                  <a:pt x="5715" y="44704"/>
                </a:lnTo>
                <a:lnTo>
                  <a:pt x="0" y="73152"/>
                </a:lnTo>
                <a:lnTo>
                  <a:pt x="0" y="3218688"/>
                </a:lnTo>
                <a:lnTo>
                  <a:pt x="5715" y="3247136"/>
                </a:lnTo>
                <a:lnTo>
                  <a:pt x="21463" y="3270377"/>
                </a:lnTo>
                <a:lnTo>
                  <a:pt x="44704" y="3286125"/>
                </a:lnTo>
                <a:lnTo>
                  <a:pt x="73151" y="3291840"/>
                </a:lnTo>
                <a:lnTo>
                  <a:pt x="2414016" y="3291840"/>
                </a:lnTo>
                <a:lnTo>
                  <a:pt x="2442464" y="3286125"/>
                </a:lnTo>
                <a:lnTo>
                  <a:pt x="2465705" y="3270377"/>
                </a:lnTo>
                <a:lnTo>
                  <a:pt x="2481453" y="3247136"/>
                </a:lnTo>
                <a:lnTo>
                  <a:pt x="2487168" y="3218688"/>
                </a:lnTo>
                <a:lnTo>
                  <a:pt x="2487168" y="73152"/>
                </a:lnTo>
                <a:lnTo>
                  <a:pt x="2481453" y="44704"/>
                </a:lnTo>
                <a:lnTo>
                  <a:pt x="2465705" y="21462"/>
                </a:lnTo>
                <a:lnTo>
                  <a:pt x="2442464" y="5715"/>
                </a:lnTo>
                <a:lnTo>
                  <a:pt x="2414016" y="0"/>
                </a:lnTo>
                <a:close/>
              </a:path>
            </a:pathLst>
          </a:custGeom>
          <a:solidFill>
            <a:srgbClr val="2C9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152001" y="2350465"/>
            <a:ext cx="697865" cy="83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CFDFEC"/>
                </a:solidFill>
                <a:latin typeface="Cambria"/>
                <a:cs typeface="Cambria"/>
              </a:rPr>
              <a:t>04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52001" y="4012133"/>
            <a:ext cx="1796414" cy="5740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12700" marR="5080">
              <a:lnSpc>
                <a:spcPct val="106200"/>
              </a:lnSpc>
              <a:spcBef>
                <a:spcPts val="15"/>
              </a:spcBef>
            </a:pP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Accuracy/F1/confusion</a:t>
            </a:r>
            <a:r>
              <a:rPr dirty="0" sz="1150" spc="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matrix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for</a:t>
            </a:r>
            <a:r>
              <a:rPr dirty="0" sz="11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churn;</a:t>
            </a:r>
            <a:r>
              <a:rPr dirty="0" sz="115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RMSE/precision@K </a:t>
            </a:r>
            <a:r>
              <a:rPr dirty="0" sz="1150">
                <a:solidFill>
                  <a:srgbClr val="CFDFEC"/>
                </a:solidFill>
                <a:latin typeface="Calibri"/>
                <a:cs typeface="Calibri"/>
              </a:rPr>
              <a:t>for</a:t>
            </a:r>
            <a:r>
              <a:rPr dirty="0" sz="11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CFDFEC"/>
                </a:solidFill>
                <a:latin typeface="Calibri"/>
                <a:cs typeface="Calibri"/>
              </a:rPr>
              <a:t>recommender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684" y="5738571"/>
            <a:ext cx="66655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Progress</a:t>
            </a:r>
            <a:r>
              <a:rPr dirty="0" sz="1250" spc="-4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was</a:t>
            </a:r>
            <a:r>
              <a:rPr dirty="0" sz="1250" spc="-5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tracked</a:t>
            </a:r>
            <a:r>
              <a:rPr dirty="0" sz="1250" spc="-2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through</a:t>
            </a:r>
            <a:r>
              <a:rPr dirty="0" sz="1250" spc="-2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weekly</a:t>
            </a:r>
            <a:r>
              <a:rPr dirty="0" sz="1250" spc="-4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performance</a:t>
            </a:r>
            <a:r>
              <a:rPr dirty="0" sz="1250" spc="-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reviews</a:t>
            </a:r>
            <a:r>
              <a:rPr dirty="0" sz="1250" spc="-4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conducted</a:t>
            </a:r>
            <a:r>
              <a:rPr dirty="0" sz="1250" spc="-2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by</a:t>
            </a:r>
            <a:r>
              <a:rPr dirty="0" sz="1250" spc="-5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the</a:t>
            </a:r>
            <a:r>
              <a:rPr dirty="0" sz="1250" spc="-4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080"/>
                </a:solidFill>
                <a:latin typeface="Calibri"/>
                <a:cs typeface="Calibri"/>
              </a:rPr>
              <a:t>assigned</a:t>
            </a:r>
            <a:r>
              <a:rPr dirty="0" sz="1250" spc="5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project</a:t>
            </a:r>
            <a:r>
              <a:rPr dirty="0" sz="1250" spc="-50" i="1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080"/>
                </a:solidFill>
                <a:latin typeface="Calibri"/>
                <a:cs typeface="Calibri"/>
              </a:rPr>
              <a:t>supervisor.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10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7551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K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Y</a:t>
            </a:r>
            <a:r>
              <a:rPr dirty="0" sz="1200" spc="409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B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39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0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10"/>
              <a:t> </a:t>
            </a:r>
            <a:r>
              <a:rPr dirty="0"/>
              <a:t>Churn</a:t>
            </a:r>
            <a:r>
              <a:rPr dirty="0" spc="-135"/>
              <a:t> </a:t>
            </a:r>
            <a:r>
              <a:rPr dirty="0"/>
              <a:t>Prediction</a:t>
            </a:r>
            <a:r>
              <a:rPr dirty="0" spc="-114"/>
              <a:t> </a:t>
            </a:r>
            <a:r>
              <a:rPr dirty="0" spc="-10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828164"/>
            <a:ext cx="10881360" cy="914400"/>
          </a:xfrm>
          <a:custGeom>
            <a:avLst/>
            <a:gdLst/>
            <a:ahLst/>
            <a:cxnLst/>
            <a:rect l="l" t="t" r="r" b="b"/>
            <a:pathLst>
              <a:path w="10881360" h="914400">
                <a:moveTo>
                  <a:pt x="10808208" y="0"/>
                </a:moveTo>
                <a:lnTo>
                  <a:pt x="73151" y="0"/>
                </a:lnTo>
                <a:lnTo>
                  <a:pt x="44678" y="5714"/>
                </a:lnTo>
                <a:lnTo>
                  <a:pt x="21424" y="21462"/>
                </a:lnTo>
                <a:lnTo>
                  <a:pt x="5753" y="44704"/>
                </a:lnTo>
                <a:lnTo>
                  <a:pt x="0" y="73151"/>
                </a:lnTo>
                <a:lnTo>
                  <a:pt x="0" y="841248"/>
                </a:lnTo>
                <a:lnTo>
                  <a:pt x="5753" y="869696"/>
                </a:lnTo>
                <a:lnTo>
                  <a:pt x="21424" y="892937"/>
                </a:lnTo>
                <a:lnTo>
                  <a:pt x="44678" y="908685"/>
                </a:lnTo>
                <a:lnTo>
                  <a:pt x="73151" y="914400"/>
                </a:lnTo>
                <a:lnTo>
                  <a:pt x="10808208" y="914400"/>
                </a:lnTo>
                <a:lnTo>
                  <a:pt x="10836656" y="908685"/>
                </a:lnTo>
                <a:lnTo>
                  <a:pt x="10859896" y="892937"/>
                </a:lnTo>
                <a:lnTo>
                  <a:pt x="10875644" y="869696"/>
                </a:lnTo>
                <a:lnTo>
                  <a:pt x="10881360" y="841248"/>
                </a:lnTo>
                <a:lnTo>
                  <a:pt x="10881360" y="73151"/>
                </a:lnTo>
                <a:lnTo>
                  <a:pt x="10875644" y="44704"/>
                </a:lnTo>
                <a:lnTo>
                  <a:pt x="10859896" y="21462"/>
                </a:lnTo>
                <a:lnTo>
                  <a:pt x="10836656" y="5714"/>
                </a:lnTo>
                <a:lnTo>
                  <a:pt x="10808208" y="0"/>
                </a:lnTo>
                <a:close/>
              </a:path>
            </a:pathLst>
          </a:custGeom>
          <a:solidFill>
            <a:srgbClr val="F4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2004" y="2155697"/>
            <a:ext cx="86321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350" spc="-7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classification</a:t>
            </a:r>
            <a:r>
              <a:rPr dirty="0" sz="13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model</a:t>
            </a:r>
            <a:r>
              <a:rPr dirty="0" sz="13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that</a:t>
            </a:r>
            <a:r>
              <a:rPr dirty="0" sz="13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flags</a:t>
            </a:r>
            <a:r>
              <a:rPr dirty="0" sz="13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customers</a:t>
            </a:r>
            <a:r>
              <a:rPr dirty="0" sz="135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likely</a:t>
            </a:r>
            <a:r>
              <a:rPr dirty="0" sz="13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churn,</a:t>
            </a:r>
            <a:r>
              <a:rPr dirty="0" sz="1350" spc="-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giving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retention</a:t>
            </a:r>
            <a:r>
              <a:rPr dirty="0" sz="13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teams</a:t>
            </a:r>
            <a:r>
              <a:rPr dirty="0" sz="13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3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usable</a:t>
            </a:r>
            <a:r>
              <a:rPr dirty="0" sz="1350" spc="-3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signal</a:t>
            </a:r>
            <a:r>
              <a:rPr dirty="0" sz="1350" spc="-2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to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act</a:t>
            </a:r>
            <a:r>
              <a:rPr dirty="0" sz="13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on</a:t>
            </a:r>
            <a:r>
              <a:rPr dirty="0" sz="1350" spc="-6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before</a:t>
            </a:r>
            <a:r>
              <a:rPr dirty="0" sz="13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it's</a:t>
            </a:r>
            <a:r>
              <a:rPr dirty="0" sz="1350" spc="-5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too</a:t>
            </a:r>
            <a:r>
              <a:rPr dirty="0" sz="13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late.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8640" y="3061970"/>
            <a:ext cx="3474720" cy="2880360"/>
            <a:chOff x="548640" y="3061970"/>
            <a:chExt cx="3474720" cy="2880360"/>
          </a:xfrm>
        </p:grpSpPr>
        <p:sp>
          <p:nvSpPr>
            <p:cNvPr id="7" name="object 7"/>
            <p:cNvSpPr/>
            <p:nvPr/>
          </p:nvSpPr>
          <p:spPr>
            <a:xfrm>
              <a:off x="548640" y="3061970"/>
              <a:ext cx="3474720" cy="2880360"/>
            </a:xfrm>
            <a:custGeom>
              <a:avLst/>
              <a:gdLst/>
              <a:ahLst/>
              <a:cxnLst/>
              <a:rect l="l" t="t" r="r" b="b"/>
              <a:pathLst>
                <a:path w="3474720" h="2880360">
                  <a:moveTo>
                    <a:pt x="3401568" y="0"/>
                  </a:moveTo>
                  <a:lnTo>
                    <a:pt x="73164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2807195"/>
                  </a:lnTo>
                  <a:lnTo>
                    <a:pt x="5753" y="2835668"/>
                  </a:lnTo>
                  <a:lnTo>
                    <a:pt x="21424" y="2858922"/>
                  </a:lnTo>
                  <a:lnTo>
                    <a:pt x="44678" y="2874606"/>
                  </a:lnTo>
                  <a:lnTo>
                    <a:pt x="73164" y="2880360"/>
                  </a:lnTo>
                  <a:lnTo>
                    <a:pt x="3401568" y="2880360"/>
                  </a:lnTo>
                  <a:lnTo>
                    <a:pt x="3430016" y="2874606"/>
                  </a:lnTo>
                  <a:lnTo>
                    <a:pt x="3453257" y="2858922"/>
                  </a:lnTo>
                  <a:lnTo>
                    <a:pt x="3469005" y="2835668"/>
                  </a:lnTo>
                  <a:lnTo>
                    <a:pt x="3474720" y="2807195"/>
                  </a:lnTo>
                  <a:lnTo>
                    <a:pt x="3474720" y="73151"/>
                  </a:lnTo>
                  <a:lnTo>
                    <a:pt x="3469005" y="44703"/>
                  </a:lnTo>
                  <a:lnTo>
                    <a:pt x="3453257" y="21462"/>
                  </a:lnTo>
                  <a:lnTo>
                    <a:pt x="3430016" y="5714"/>
                  </a:lnTo>
                  <a:lnTo>
                    <a:pt x="340156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7240" y="329057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5" y="4444"/>
                  </a:lnTo>
                  <a:lnTo>
                    <a:pt x="178600" y="17144"/>
                  </a:lnTo>
                  <a:lnTo>
                    <a:pt x="135864" y="37464"/>
                  </a:lnTo>
                  <a:lnTo>
                    <a:pt x="97574" y="64515"/>
                  </a:lnTo>
                  <a:lnTo>
                    <a:pt x="64515" y="97535"/>
                  </a:lnTo>
                  <a:lnTo>
                    <a:pt x="37452" y="135889"/>
                  </a:lnTo>
                  <a:lnTo>
                    <a:pt x="17157" y="178562"/>
                  </a:lnTo>
                  <a:lnTo>
                    <a:pt x="4419" y="225043"/>
                  </a:lnTo>
                  <a:lnTo>
                    <a:pt x="0" y="274319"/>
                  </a:lnTo>
                  <a:lnTo>
                    <a:pt x="4419" y="323595"/>
                  </a:lnTo>
                  <a:lnTo>
                    <a:pt x="17157" y="370077"/>
                  </a:lnTo>
                  <a:lnTo>
                    <a:pt x="37452" y="412749"/>
                  </a:lnTo>
                  <a:lnTo>
                    <a:pt x="64515" y="451103"/>
                  </a:lnTo>
                  <a:lnTo>
                    <a:pt x="97574" y="484123"/>
                  </a:lnTo>
                  <a:lnTo>
                    <a:pt x="135864" y="511174"/>
                  </a:lnTo>
                  <a:lnTo>
                    <a:pt x="178600" y="531494"/>
                  </a:lnTo>
                  <a:lnTo>
                    <a:pt x="225005" y="544194"/>
                  </a:lnTo>
                  <a:lnTo>
                    <a:pt x="274319" y="548639"/>
                  </a:lnTo>
                  <a:lnTo>
                    <a:pt x="323621" y="544194"/>
                  </a:lnTo>
                  <a:lnTo>
                    <a:pt x="370039" y="531494"/>
                  </a:lnTo>
                  <a:lnTo>
                    <a:pt x="412775" y="511174"/>
                  </a:lnTo>
                  <a:lnTo>
                    <a:pt x="451053" y="484123"/>
                  </a:lnTo>
                  <a:lnTo>
                    <a:pt x="484123" y="451103"/>
                  </a:lnTo>
                  <a:lnTo>
                    <a:pt x="511175" y="412749"/>
                  </a:lnTo>
                  <a:lnTo>
                    <a:pt x="531494" y="370077"/>
                  </a:lnTo>
                  <a:lnTo>
                    <a:pt x="544194" y="323595"/>
                  </a:lnTo>
                  <a:lnTo>
                    <a:pt x="548640" y="274319"/>
                  </a:lnTo>
                  <a:lnTo>
                    <a:pt x="544194" y="225043"/>
                  </a:lnTo>
                  <a:lnTo>
                    <a:pt x="531494" y="178562"/>
                  </a:lnTo>
                  <a:lnTo>
                    <a:pt x="511175" y="135889"/>
                  </a:lnTo>
                  <a:lnTo>
                    <a:pt x="484123" y="97535"/>
                  </a:lnTo>
                  <a:lnTo>
                    <a:pt x="451053" y="64515"/>
                  </a:lnTo>
                  <a:lnTo>
                    <a:pt x="412775" y="37464"/>
                  </a:lnTo>
                  <a:lnTo>
                    <a:pt x="370039" y="17144"/>
                  </a:lnTo>
                  <a:lnTo>
                    <a:pt x="323621" y="444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/home/claude/icons/layer_nav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8" y="3362198"/>
              <a:ext cx="405384" cy="40538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6284" y="4082922"/>
            <a:ext cx="15322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dirty="0" sz="145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284" y="4887848"/>
            <a:ext cx="2663825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Tenure,</a:t>
            </a:r>
            <a:r>
              <a:rPr dirty="0" sz="120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engagement,</a:t>
            </a:r>
            <a:r>
              <a:rPr dirty="0" sz="120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subscription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plan</a:t>
            </a:r>
            <a:r>
              <a:rPr dirty="0" sz="120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CFDFEC"/>
                </a:solidFill>
                <a:latin typeface="Calibri"/>
                <a:cs typeface="Calibri"/>
              </a:rPr>
              <a:t>&amp;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support</a:t>
            </a:r>
            <a:r>
              <a:rPr dirty="0" sz="120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history</a:t>
            </a:r>
            <a:r>
              <a:rPr dirty="0" sz="1200" spc="-6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encoded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as</a:t>
            </a:r>
            <a:r>
              <a:rPr dirty="0" sz="120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model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51325" y="3061970"/>
            <a:ext cx="3474720" cy="2880360"/>
            <a:chOff x="4251325" y="3061970"/>
            <a:chExt cx="3474720" cy="2880360"/>
          </a:xfrm>
        </p:grpSpPr>
        <p:sp>
          <p:nvSpPr>
            <p:cNvPr id="13" name="object 13"/>
            <p:cNvSpPr/>
            <p:nvPr/>
          </p:nvSpPr>
          <p:spPr>
            <a:xfrm>
              <a:off x="4251325" y="3061970"/>
              <a:ext cx="3474720" cy="2880360"/>
            </a:xfrm>
            <a:custGeom>
              <a:avLst/>
              <a:gdLst/>
              <a:ahLst/>
              <a:cxnLst/>
              <a:rect l="l" t="t" r="r" b="b"/>
              <a:pathLst>
                <a:path w="3474720" h="2880360">
                  <a:moveTo>
                    <a:pt x="340156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2" y="21462"/>
                  </a:lnTo>
                  <a:lnTo>
                    <a:pt x="5714" y="44703"/>
                  </a:lnTo>
                  <a:lnTo>
                    <a:pt x="0" y="73151"/>
                  </a:lnTo>
                  <a:lnTo>
                    <a:pt x="0" y="2807195"/>
                  </a:lnTo>
                  <a:lnTo>
                    <a:pt x="5714" y="2835668"/>
                  </a:lnTo>
                  <a:lnTo>
                    <a:pt x="21462" y="2858922"/>
                  </a:lnTo>
                  <a:lnTo>
                    <a:pt x="44703" y="2874606"/>
                  </a:lnTo>
                  <a:lnTo>
                    <a:pt x="73151" y="2880360"/>
                  </a:lnTo>
                  <a:lnTo>
                    <a:pt x="3401568" y="2880360"/>
                  </a:lnTo>
                  <a:lnTo>
                    <a:pt x="3430016" y="2874606"/>
                  </a:lnTo>
                  <a:lnTo>
                    <a:pt x="3453256" y="2858922"/>
                  </a:lnTo>
                  <a:lnTo>
                    <a:pt x="3469004" y="2835668"/>
                  </a:lnTo>
                  <a:lnTo>
                    <a:pt x="3474720" y="2807195"/>
                  </a:lnTo>
                  <a:lnTo>
                    <a:pt x="3474720" y="73151"/>
                  </a:lnTo>
                  <a:lnTo>
                    <a:pt x="3469004" y="44703"/>
                  </a:lnTo>
                  <a:lnTo>
                    <a:pt x="3453256" y="21462"/>
                  </a:lnTo>
                  <a:lnTo>
                    <a:pt x="3430016" y="5714"/>
                  </a:lnTo>
                  <a:lnTo>
                    <a:pt x="340156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79925" y="329057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25044" y="4444"/>
                  </a:lnTo>
                  <a:lnTo>
                    <a:pt x="178562" y="17144"/>
                  </a:lnTo>
                  <a:lnTo>
                    <a:pt x="135889" y="37464"/>
                  </a:lnTo>
                  <a:lnTo>
                    <a:pt x="97536" y="64515"/>
                  </a:lnTo>
                  <a:lnTo>
                    <a:pt x="64515" y="97535"/>
                  </a:lnTo>
                  <a:lnTo>
                    <a:pt x="37464" y="135889"/>
                  </a:lnTo>
                  <a:lnTo>
                    <a:pt x="17145" y="178562"/>
                  </a:lnTo>
                  <a:lnTo>
                    <a:pt x="4445" y="225043"/>
                  </a:lnTo>
                  <a:lnTo>
                    <a:pt x="0" y="274319"/>
                  </a:lnTo>
                  <a:lnTo>
                    <a:pt x="4445" y="323595"/>
                  </a:lnTo>
                  <a:lnTo>
                    <a:pt x="17145" y="370077"/>
                  </a:lnTo>
                  <a:lnTo>
                    <a:pt x="37464" y="412749"/>
                  </a:lnTo>
                  <a:lnTo>
                    <a:pt x="64515" y="451103"/>
                  </a:lnTo>
                  <a:lnTo>
                    <a:pt x="97536" y="484123"/>
                  </a:lnTo>
                  <a:lnTo>
                    <a:pt x="135889" y="511174"/>
                  </a:lnTo>
                  <a:lnTo>
                    <a:pt x="178562" y="531494"/>
                  </a:lnTo>
                  <a:lnTo>
                    <a:pt x="225044" y="544194"/>
                  </a:lnTo>
                  <a:lnTo>
                    <a:pt x="274320" y="548639"/>
                  </a:lnTo>
                  <a:lnTo>
                    <a:pt x="323596" y="544194"/>
                  </a:lnTo>
                  <a:lnTo>
                    <a:pt x="370077" y="531494"/>
                  </a:lnTo>
                  <a:lnTo>
                    <a:pt x="412750" y="511174"/>
                  </a:lnTo>
                  <a:lnTo>
                    <a:pt x="451103" y="484123"/>
                  </a:lnTo>
                  <a:lnTo>
                    <a:pt x="484124" y="451103"/>
                  </a:lnTo>
                  <a:lnTo>
                    <a:pt x="511175" y="412749"/>
                  </a:lnTo>
                  <a:lnTo>
                    <a:pt x="531495" y="370077"/>
                  </a:lnTo>
                  <a:lnTo>
                    <a:pt x="544195" y="323595"/>
                  </a:lnTo>
                  <a:lnTo>
                    <a:pt x="548639" y="274319"/>
                  </a:lnTo>
                  <a:lnTo>
                    <a:pt x="544195" y="225043"/>
                  </a:lnTo>
                  <a:lnTo>
                    <a:pt x="531495" y="178562"/>
                  </a:lnTo>
                  <a:lnTo>
                    <a:pt x="511175" y="135889"/>
                  </a:lnTo>
                  <a:lnTo>
                    <a:pt x="484124" y="97535"/>
                  </a:lnTo>
                  <a:lnTo>
                    <a:pt x="451103" y="64515"/>
                  </a:lnTo>
                  <a:lnTo>
                    <a:pt x="412750" y="37464"/>
                  </a:lnTo>
                  <a:lnTo>
                    <a:pt x="370077" y="17144"/>
                  </a:lnTo>
                  <a:lnTo>
                    <a:pt x="323596" y="4444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/home/claude/icons/brain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1552" y="3362198"/>
              <a:ext cx="405384" cy="40538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560570" y="4082922"/>
            <a:ext cx="13087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r>
              <a:rPr dirty="0" sz="14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0570" y="4887848"/>
            <a:ext cx="2483485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Logistic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Regression,</a:t>
            </a:r>
            <a:r>
              <a:rPr dirty="0" sz="1200" spc="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Random</a:t>
            </a:r>
            <a:r>
              <a:rPr dirty="0" sz="1200" spc="-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Forest,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and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XGBoost</a:t>
            </a:r>
            <a:r>
              <a:rPr dirty="0" sz="120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trained</a:t>
            </a:r>
            <a:r>
              <a:rPr dirty="0" sz="120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compared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55280" y="3061970"/>
            <a:ext cx="3474720" cy="2880360"/>
            <a:chOff x="7955280" y="3061970"/>
            <a:chExt cx="3474720" cy="2880360"/>
          </a:xfrm>
        </p:grpSpPr>
        <p:sp>
          <p:nvSpPr>
            <p:cNvPr id="19" name="object 19"/>
            <p:cNvSpPr/>
            <p:nvPr/>
          </p:nvSpPr>
          <p:spPr>
            <a:xfrm>
              <a:off x="7955280" y="3061970"/>
              <a:ext cx="3474720" cy="2880360"/>
            </a:xfrm>
            <a:custGeom>
              <a:avLst/>
              <a:gdLst/>
              <a:ahLst/>
              <a:cxnLst/>
              <a:rect l="l" t="t" r="r" b="b"/>
              <a:pathLst>
                <a:path w="3474720" h="2880360">
                  <a:moveTo>
                    <a:pt x="3401568" y="0"/>
                  </a:moveTo>
                  <a:lnTo>
                    <a:pt x="73151" y="0"/>
                  </a:lnTo>
                  <a:lnTo>
                    <a:pt x="44703" y="5714"/>
                  </a:lnTo>
                  <a:lnTo>
                    <a:pt x="21463" y="21462"/>
                  </a:lnTo>
                  <a:lnTo>
                    <a:pt x="5715" y="44703"/>
                  </a:lnTo>
                  <a:lnTo>
                    <a:pt x="0" y="73151"/>
                  </a:lnTo>
                  <a:lnTo>
                    <a:pt x="0" y="2807195"/>
                  </a:lnTo>
                  <a:lnTo>
                    <a:pt x="5715" y="2835668"/>
                  </a:lnTo>
                  <a:lnTo>
                    <a:pt x="21463" y="2858922"/>
                  </a:lnTo>
                  <a:lnTo>
                    <a:pt x="44703" y="2874606"/>
                  </a:lnTo>
                  <a:lnTo>
                    <a:pt x="73151" y="2880360"/>
                  </a:lnTo>
                  <a:lnTo>
                    <a:pt x="3401568" y="2880360"/>
                  </a:lnTo>
                  <a:lnTo>
                    <a:pt x="3430016" y="2874606"/>
                  </a:lnTo>
                  <a:lnTo>
                    <a:pt x="3453256" y="2858922"/>
                  </a:lnTo>
                  <a:lnTo>
                    <a:pt x="3469004" y="2835668"/>
                  </a:lnTo>
                  <a:lnTo>
                    <a:pt x="3474720" y="2807195"/>
                  </a:lnTo>
                  <a:lnTo>
                    <a:pt x="3474720" y="73151"/>
                  </a:lnTo>
                  <a:lnTo>
                    <a:pt x="3469004" y="44703"/>
                  </a:lnTo>
                  <a:lnTo>
                    <a:pt x="3453256" y="21462"/>
                  </a:lnTo>
                  <a:lnTo>
                    <a:pt x="3430016" y="5714"/>
                  </a:lnTo>
                  <a:lnTo>
                    <a:pt x="340156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183880" y="329057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44" y="4444"/>
                  </a:lnTo>
                  <a:lnTo>
                    <a:pt x="178562" y="17144"/>
                  </a:lnTo>
                  <a:lnTo>
                    <a:pt x="135890" y="37464"/>
                  </a:lnTo>
                  <a:lnTo>
                    <a:pt x="97536" y="64515"/>
                  </a:lnTo>
                  <a:lnTo>
                    <a:pt x="64516" y="97535"/>
                  </a:lnTo>
                  <a:lnTo>
                    <a:pt x="37465" y="135889"/>
                  </a:lnTo>
                  <a:lnTo>
                    <a:pt x="17145" y="178562"/>
                  </a:lnTo>
                  <a:lnTo>
                    <a:pt x="4445" y="225043"/>
                  </a:lnTo>
                  <a:lnTo>
                    <a:pt x="0" y="274319"/>
                  </a:lnTo>
                  <a:lnTo>
                    <a:pt x="4445" y="323595"/>
                  </a:lnTo>
                  <a:lnTo>
                    <a:pt x="17145" y="370077"/>
                  </a:lnTo>
                  <a:lnTo>
                    <a:pt x="37465" y="412749"/>
                  </a:lnTo>
                  <a:lnTo>
                    <a:pt x="64516" y="451103"/>
                  </a:lnTo>
                  <a:lnTo>
                    <a:pt x="97536" y="484123"/>
                  </a:lnTo>
                  <a:lnTo>
                    <a:pt x="135890" y="511174"/>
                  </a:lnTo>
                  <a:lnTo>
                    <a:pt x="178562" y="531494"/>
                  </a:lnTo>
                  <a:lnTo>
                    <a:pt x="225044" y="544194"/>
                  </a:lnTo>
                  <a:lnTo>
                    <a:pt x="274320" y="548639"/>
                  </a:lnTo>
                  <a:lnTo>
                    <a:pt x="323596" y="544194"/>
                  </a:lnTo>
                  <a:lnTo>
                    <a:pt x="370077" y="531494"/>
                  </a:lnTo>
                  <a:lnTo>
                    <a:pt x="412750" y="511174"/>
                  </a:lnTo>
                  <a:lnTo>
                    <a:pt x="451103" y="484123"/>
                  </a:lnTo>
                  <a:lnTo>
                    <a:pt x="484124" y="451103"/>
                  </a:lnTo>
                  <a:lnTo>
                    <a:pt x="511175" y="412749"/>
                  </a:lnTo>
                  <a:lnTo>
                    <a:pt x="531495" y="370077"/>
                  </a:lnTo>
                  <a:lnTo>
                    <a:pt x="544195" y="323595"/>
                  </a:lnTo>
                  <a:lnTo>
                    <a:pt x="548640" y="274319"/>
                  </a:lnTo>
                  <a:lnTo>
                    <a:pt x="544195" y="225043"/>
                  </a:lnTo>
                  <a:lnTo>
                    <a:pt x="531495" y="178562"/>
                  </a:lnTo>
                  <a:lnTo>
                    <a:pt x="511175" y="135889"/>
                  </a:lnTo>
                  <a:lnTo>
                    <a:pt x="484124" y="97535"/>
                  </a:lnTo>
                  <a:lnTo>
                    <a:pt x="451103" y="64515"/>
                  </a:lnTo>
                  <a:lnTo>
                    <a:pt x="412750" y="37464"/>
                  </a:lnTo>
                  <a:lnTo>
                    <a:pt x="370077" y="17144"/>
                  </a:lnTo>
                  <a:lnTo>
                    <a:pt x="323596" y="4444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/home/claude/icons/chart_navy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5508" y="3362198"/>
              <a:ext cx="405383" cy="40538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264779" y="4082922"/>
            <a:ext cx="160274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solidFill>
                  <a:srgbClr val="FFFFFF"/>
                </a:solidFill>
                <a:latin typeface="Calibri"/>
                <a:cs typeface="Calibri"/>
              </a:rPr>
              <a:t>Evaluated</a:t>
            </a:r>
            <a:r>
              <a:rPr dirty="0" sz="14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Rigorously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64779" y="4887848"/>
            <a:ext cx="2590165" cy="44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Accuracy,</a:t>
            </a:r>
            <a:r>
              <a:rPr dirty="0" sz="120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precision, recall,</a:t>
            </a:r>
            <a:r>
              <a:rPr dirty="0" sz="120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F1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&amp;</a:t>
            </a:r>
            <a:r>
              <a:rPr dirty="0" sz="120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confusion matrix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used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weigh</a:t>
            </a:r>
            <a:r>
              <a:rPr dirty="0" sz="120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trade-</a:t>
            </a:r>
            <a:r>
              <a:rPr dirty="0" sz="1200" spc="-20">
                <a:solidFill>
                  <a:srgbClr val="CFDFEC"/>
                </a:solidFill>
                <a:latin typeface="Calibri"/>
                <a:cs typeface="Calibri"/>
              </a:rPr>
              <a:t>offs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11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7551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K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Y</a:t>
            </a:r>
            <a:r>
              <a:rPr dirty="0" sz="1200" spc="409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D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B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L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39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0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Advanced</a:t>
            </a:r>
            <a:r>
              <a:rPr dirty="0" spc="-90"/>
              <a:t> </a:t>
            </a:r>
            <a:r>
              <a:rPr dirty="0" spc="-10"/>
              <a:t>Movie</a:t>
            </a:r>
            <a:r>
              <a:rPr dirty="0" spc="-114"/>
              <a:t> </a:t>
            </a:r>
            <a:r>
              <a:rPr dirty="0" spc="-20"/>
              <a:t>Recommendation</a:t>
            </a:r>
            <a:r>
              <a:rPr dirty="0" spc="-65"/>
              <a:t> </a:t>
            </a:r>
            <a:r>
              <a:rPr dirty="0" spc="-10"/>
              <a:t>System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828164"/>
            <a:ext cx="10881360" cy="914400"/>
          </a:xfrm>
          <a:custGeom>
            <a:avLst/>
            <a:gdLst/>
            <a:ahLst/>
            <a:cxnLst/>
            <a:rect l="l" t="t" r="r" b="b"/>
            <a:pathLst>
              <a:path w="10881360" h="914400">
                <a:moveTo>
                  <a:pt x="10808208" y="0"/>
                </a:moveTo>
                <a:lnTo>
                  <a:pt x="73151" y="0"/>
                </a:lnTo>
                <a:lnTo>
                  <a:pt x="44678" y="5714"/>
                </a:lnTo>
                <a:lnTo>
                  <a:pt x="21424" y="21462"/>
                </a:lnTo>
                <a:lnTo>
                  <a:pt x="5753" y="44704"/>
                </a:lnTo>
                <a:lnTo>
                  <a:pt x="0" y="73151"/>
                </a:lnTo>
                <a:lnTo>
                  <a:pt x="0" y="841248"/>
                </a:lnTo>
                <a:lnTo>
                  <a:pt x="5753" y="869696"/>
                </a:lnTo>
                <a:lnTo>
                  <a:pt x="21424" y="892937"/>
                </a:lnTo>
                <a:lnTo>
                  <a:pt x="44678" y="908685"/>
                </a:lnTo>
                <a:lnTo>
                  <a:pt x="73151" y="914400"/>
                </a:lnTo>
                <a:lnTo>
                  <a:pt x="10808208" y="914400"/>
                </a:lnTo>
                <a:lnTo>
                  <a:pt x="10836656" y="908685"/>
                </a:lnTo>
                <a:lnTo>
                  <a:pt x="10859896" y="892937"/>
                </a:lnTo>
                <a:lnTo>
                  <a:pt x="10875644" y="869696"/>
                </a:lnTo>
                <a:lnTo>
                  <a:pt x="10881360" y="841248"/>
                </a:lnTo>
                <a:lnTo>
                  <a:pt x="10881360" y="73151"/>
                </a:lnTo>
                <a:lnTo>
                  <a:pt x="10875644" y="44704"/>
                </a:lnTo>
                <a:lnTo>
                  <a:pt x="10859896" y="21462"/>
                </a:lnTo>
                <a:lnTo>
                  <a:pt x="10836656" y="5714"/>
                </a:lnTo>
                <a:lnTo>
                  <a:pt x="10808208" y="0"/>
                </a:lnTo>
                <a:close/>
              </a:path>
            </a:pathLst>
          </a:custGeom>
          <a:solidFill>
            <a:srgbClr val="F4F6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2004" y="2155697"/>
            <a:ext cx="81375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A</a:t>
            </a:r>
            <a:r>
              <a:rPr dirty="0" sz="1350" spc="-7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hybrid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recommender</a:t>
            </a:r>
            <a:r>
              <a:rPr dirty="0" sz="1350" spc="-1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combining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content-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based</a:t>
            </a:r>
            <a:r>
              <a:rPr dirty="0" sz="13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and</a:t>
            </a:r>
            <a:r>
              <a:rPr dirty="0" sz="13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collaborative</a:t>
            </a:r>
            <a:r>
              <a:rPr dirty="0" sz="1350" spc="-4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filtering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for</a:t>
            </a:r>
            <a:r>
              <a:rPr dirty="0" sz="1350" spc="-2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B1B2D"/>
                </a:solidFill>
                <a:latin typeface="Calibri"/>
                <a:cs typeface="Calibri"/>
              </a:rPr>
              <a:t>more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personalized</a:t>
            </a:r>
            <a:r>
              <a:rPr dirty="0" sz="1350" spc="-4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movie</a:t>
            </a:r>
            <a:r>
              <a:rPr dirty="0" sz="1350" spc="-55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B1B2D"/>
                </a:solidFill>
                <a:latin typeface="Calibri"/>
                <a:cs typeface="Calibri"/>
              </a:rPr>
              <a:t>suggestions.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8640" y="3061970"/>
            <a:ext cx="5212080" cy="2880360"/>
            <a:chOff x="548640" y="3061970"/>
            <a:chExt cx="5212080" cy="2880360"/>
          </a:xfrm>
        </p:grpSpPr>
        <p:sp>
          <p:nvSpPr>
            <p:cNvPr id="7" name="object 7"/>
            <p:cNvSpPr/>
            <p:nvPr/>
          </p:nvSpPr>
          <p:spPr>
            <a:xfrm>
              <a:off x="548640" y="3061970"/>
              <a:ext cx="5212080" cy="2880360"/>
            </a:xfrm>
            <a:custGeom>
              <a:avLst/>
              <a:gdLst/>
              <a:ahLst/>
              <a:cxnLst/>
              <a:rect l="l" t="t" r="r" b="b"/>
              <a:pathLst>
                <a:path w="5212080" h="2880360">
                  <a:moveTo>
                    <a:pt x="5138928" y="0"/>
                  </a:moveTo>
                  <a:lnTo>
                    <a:pt x="73164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2807195"/>
                  </a:lnTo>
                  <a:lnTo>
                    <a:pt x="5753" y="2835668"/>
                  </a:lnTo>
                  <a:lnTo>
                    <a:pt x="21424" y="2858922"/>
                  </a:lnTo>
                  <a:lnTo>
                    <a:pt x="44678" y="2874606"/>
                  </a:lnTo>
                  <a:lnTo>
                    <a:pt x="73164" y="2880360"/>
                  </a:lnTo>
                  <a:lnTo>
                    <a:pt x="5138928" y="2880360"/>
                  </a:lnTo>
                  <a:lnTo>
                    <a:pt x="5167376" y="2874606"/>
                  </a:lnTo>
                  <a:lnTo>
                    <a:pt x="5190617" y="2858922"/>
                  </a:lnTo>
                  <a:lnTo>
                    <a:pt x="5206365" y="2835668"/>
                  </a:lnTo>
                  <a:lnTo>
                    <a:pt x="5212080" y="2807195"/>
                  </a:lnTo>
                  <a:lnTo>
                    <a:pt x="5212080" y="73151"/>
                  </a:lnTo>
                  <a:lnTo>
                    <a:pt x="5206365" y="44703"/>
                  </a:lnTo>
                  <a:lnTo>
                    <a:pt x="5190617" y="21462"/>
                  </a:lnTo>
                  <a:lnTo>
                    <a:pt x="5167376" y="5714"/>
                  </a:lnTo>
                  <a:lnTo>
                    <a:pt x="5138928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329057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5" y="4444"/>
                  </a:lnTo>
                  <a:lnTo>
                    <a:pt x="178600" y="17144"/>
                  </a:lnTo>
                  <a:lnTo>
                    <a:pt x="135864" y="37464"/>
                  </a:lnTo>
                  <a:lnTo>
                    <a:pt x="97574" y="64515"/>
                  </a:lnTo>
                  <a:lnTo>
                    <a:pt x="64515" y="97535"/>
                  </a:lnTo>
                  <a:lnTo>
                    <a:pt x="37452" y="135889"/>
                  </a:lnTo>
                  <a:lnTo>
                    <a:pt x="17157" y="178562"/>
                  </a:lnTo>
                  <a:lnTo>
                    <a:pt x="4419" y="225043"/>
                  </a:lnTo>
                  <a:lnTo>
                    <a:pt x="0" y="274319"/>
                  </a:lnTo>
                  <a:lnTo>
                    <a:pt x="4419" y="323595"/>
                  </a:lnTo>
                  <a:lnTo>
                    <a:pt x="17157" y="370077"/>
                  </a:lnTo>
                  <a:lnTo>
                    <a:pt x="37452" y="412749"/>
                  </a:lnTo>
                  <a:lnTo>
                    <a:pt x="64515" y="451103"/>
                  </a:lnTo>
                  <a:lnTo>
                    <a:pt x="97574" y="484123"/>
                  </a:lnTo>
                  <a:lnTo>
                    <a:pt x="135864" y="511174"/>
                  </a:lnTo>
                  <a:lnTo>
                    <a:pt x="178600" y="531494"/>
                  </a:lnTo>
                  <a:lnTo>
                    <a:pt x="225005" y="544194"/>
                  </a:lnTo>
                  <a:lnTo>
                    <a:pt x="274320" y="548639"/>
                  </a:lnTo>
                  <a:lnTo>
                    <a:pt x="323621" y="544194"/>
                  </a:lnTo>
                  <a:lnTo>
                    <a:pt x="370039" y="531494"/>
                  </a:lnTo>
                  <a:lnTo>
                    <a:pt x="412775" y="511174"/>
                  </a:lnTo>
                  <a:lnTo>
                    <a:pt x="451103" y="484123"/>
                  </a:lnTo>
                  <a:lnTo>
                    <a:pt x="484124" y="451103"/>
                  </a:lnTo>
                  <a:lnTo>
                    <a:pt x="511175" y="412749"/>
                  </a:lnTo>
                  <a:lnTo>
                    <a:pt x="531495" y="370077"/>
                  </a:lnTo>
                  <a:lnTo>
                    <a:pt x="544195" y="323595"/>
                  </a:lnTo>
                  <a:lnTo>
                    <a:pt x="548640" y="274319"/>
                  </a:lnTo>
                  <a:lnTo>
                    <a:pt x="544195" y="225043"/>
                  </a:lnTo>
                  <a:lnTo>
                    <a:pt x="531495" y="178562"/>
                  </a:lnTo>
                  <a:lnTo>
                    <a:pt x="511175" y="135889"/>
                  </a:lnTo>
                  <a:lnTo>
                    <a:pt x="484124" y="97535"/>
                  </a:lnTo>
                  <a:lnTo>
                    <a:pt x="451103" y="64515"/>
                  </a:lnTo>
                  <a:lnTo>
                    <a:pt x="412775" y="37464"/>
                  </a:lnTo>
                  <a:lnTo>
                    <a:pt x="370039" y="17144"/>
                  </a:lnTo>
                  <a:lnTo>
                    <a:pt x="323621" y="4444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/home/claude/icons/film_nav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4588" y="3362198"/>
              <a:ext cx="405384" cy="40538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7753" y="3506470"/>
            <a:ext cx="18008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Content-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Filtering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004" y="4562424"/>
            <a:ext cx="4369435" cy="64516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40"/>
              </a:spcBef>
            </a:pP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Movie</a:t>
            </a:r>
            <a:r>
              <a:rPr dirty="0" sz="12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(genre</a:t>
            </a:r>
            <a:r>
              <a:rPr dirty="0" sz="12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attributes)</a:t>
            </a:r>
            <a:r>
              <a:rPr dirty="0" sz="1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vectorized </a:t>
            </a:r>
            <a:r>
              <a:rPr dirty="0" sz="125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compared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cosine</a:t>
            </a:r>
            <a:r>
              <a:rPr dirty="0" sz="12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similarity</a:t>
            </a:r>
            <a:r>
              <a:rPr dirty="0" sz="12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recommending</a:t>
            </a:r>
            <a:r>
              <a:rPr dirty="0" sz="1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“movies</a:t>
            </a:r>
            <a:r>
              <a:rPr dirty="0" sz="12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1250" spc="-25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ones</a:t>
            </a:r>
            <a:r>
              <a:rPr dirty="0" sz="12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12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rated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highly.”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35040" y="3061970"/>
            <a:ext cx="5394960" cy="2880360"/>
            <a:chOff x="6035040" y="3061970"/>
            <a:chExt cx="5394960" cy="2880360"/>
          </a:xfrm>
        </p:grpSpPr>
        <p:sp>
          <p:nvSpPr>
            <p:cNvPr id="13" name="object 13"/>
            <p:cNvSpPr/>
            <p:nvPr/>
          </p:nvSpPr>
          <p:spPr>
            <a:xfrm>
              <a:off x="6035040" y="3061970"/>
              <a:ext cx="5394960" cy="2880360"/>
            </a:xfrm>
            <a:custGeom>
              <a:avLst/>
              <a:gdLst/>
              <a:ahLst/>
              <a:cxnLst/>
              <a:rect l="l" t="t" r="r" b="b"/>
              <a:pathLst>
                <a:path w="5394959" h="2880360">
                  <a:moveTo>
                    <a:pt x="5321808" y="0"/>
                  </a:moveTo>
                  <a:lnTo>
                    <a:pt x="73151" y="0"/>
                  </a:lnTo>
                  <a:lnTo>
                    <a:pt x="44704" y="5714"/>
                  </a:lnTo>
                  <a:lnTo>
                    <a:pt x="21462" y="21462"/>
                  </a:lnTo>
                  <a:lnTo>
                    <a:pt x="5714" y="44703"/>
                  </a:lnTo>
                  <a:lnTo>
                    <a:pt x="0" y="73151"/>
                  </a:lnTo>
                  <a:lnTo>
                    <a:pt x="0" y="2807195"/>
                  </a:lnTo>
                  <a:lnTo>
                    <a:pt x="5714" y="2835668"/>
                  </a:lnTo>
                  <a:lnTo>
                    <a:pt x="21462" y="2858922"/>
                  </a:lnTo>
                  <a:lnTo>
                    <a:pt x="44704" y="2874606"/>
                  </a:lnTo>
                  <a:lnTo>
                    <a:pt x="73151" y="2880360"/>
                  </a:lnTo>
                  <a:lnTo>
                    <a:pt x="5321808" y="2880360"/>
                  </a:lnTo>
                  <a:lnTo>
                    <a:pt x="5350256" y="2874606"/>
                  </a:lnTo>
                  <a:lnTo>
                    <a:pt x="5373496" y="2858922"/>
                  </a:lnTo>
                  <a:lnTo>
                    <a:pt x="5389245" y="2835668"/>
                  </a:lnTo>
                  <a:lnTo>
                    <a:pt x="5394960" y="2807195"/>
                  </a:lnTo>
                  <a:lnTo>
                    <a:pt x="5394960" y="73151"/>
                  </a:lnTo>
                  <a:lnTo>
                    <a:pt x="5389245" y="44703"/>
                  </a:lnTo>
                  <a:lnTo>
                    <a:pt x="5373496" y="21462"/>
                  </a:lnTo>
                  <a:lnTo>
                    <a:pt x="5350256" y="5714"/>
                  </a:lnTo>
                  <a:lnTo>
                    <a:pt x="5321808" y="0"/>
                  </a:lnTo>
                  <a:close/>
                </a:path>
              </a:pathLst>
            </a:custGeom>
            <a:solidFill>
              <a:srgbClr val="163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09360" y="329057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43" y="4444"/>
                  </a:lnTo>
                  <a:lnTo>
                    <a:pt x="178562" y="17144"/>
                  </a:lnTo>
                  <a:lnTo>
                    <a:pt x="135889" y="37464"/>
                  </a:lnTo>
                  <a:lnTo>
                    <a:pt x="97536" y="64515"/>
                  </a:lnTo>
                  <a:lnTo>
                    <a:pt x="64515" y="97535"/>
                  </a:lnTo>
                  <a:lnTo>
                    <a:pt x="37464" y="135889"/>
                  </a:lnTo>
                  <a:lnTo>
                    <a:pt x="17144" y="178562"/>
                  </a:lnTo>
                  <a:lnTo>
                    <a:pt x="4444" y="225043"/>
                  </a:lnTo>
                  <a:lnTo>
                    <a:pt x="0" y="274319"/>
                  </a:lnTo>
                  <a:lnTo>
                    <a:pt x="4444" y="323595"/>
                  </a:lnTo>
                  <a:lnTo>
                    <a:pt x="17144" y="370077"/>
                  </a:lnTo>
                  <a:lnTo>
                    <a:pt x="37464" y="412749"/>
                  </a:lnTo>
                  <a:lnTo>
                    <a:pt x="64515" y="451103"/>
                  </a:lnTo>
                  <a:lnTo>
                    <a:pt x="97536" y="484123"/>
                  </a:lnTo>
                  <a:lnTo>
                    <a:pt x="135889" y="511174"/>
                  </a:lnTo>
                  <a:lnTo>
                    <a:pt x="178562" y="531494"/>
                  </a:lnTo>
                  <a:lnTo>
                    <a:pt x="225043" y="544194"/>
                  </a:lnTo>
                  <a:lnTo>
                    <a:pt x="274319" y="548639"/>
                  </a:lnTo>
                  <a:lnTo>
                    <a:pt x="323595" y="544194"/>
                  </a:lnTo>
                  <a:lnTo>
                    <a:pt x="370078" y="531494"/>
                  </a:lnTo>
                  <a:lnTo>
                    <a:pt x="412749" y="511174"/>
                  </a:lnTo>
                  <a:lnTo>
                    <a:pt x="451104" y="484123"/>
                  </a:lnTo>
                  <a:lnTo>
                    <a:pt x="484123" y="451103"/>
                  </a:lnTo>
                  <a:lnTo>
                    <a:pt x="511174" y="412749"/>
                  </a:lnTo>
                  <a:lnTo>
                    <a:pt x="531494" y="370077"/>
                  </a:lnTo>
                  <a:lnTo>
                    <a:pt x="544194" y="323595"/>
                  </a:lnTo>
                  <a:lnTo>
                    <a:pt x="548639" y="274319"/>
                  </a:lnTo>
                  <a:lnTo>
                    <a:pt x="544194" y="225043"/>
                  </a:lnTo>
                  <a:lnTo>
                    <a:pt x="531494" y="178562"/>
                  </a:lnTo>
                  <a:lnTo>
                    <a:pt x="511174" y="135889"/>
                  </a:lnTo>
                  <a:lnTo>
                    <a:pt x="484123" y="97535"/>
                  </a:lnTo>
                  <a:lnTo>
                    <a:pt x="451104" y="64515"/>
                  </a:lnTo>
                  <a:lnTo>
                    <a:pt x="412749" y="37464"/>
                  </a:lnTo>
                  <a:lnTo>
                    <a:pt x="370078" y="17144"/>
                  </a:lnTo>
                  <a:lnTo>
                    <a:pt x="323595" y="4444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/home/claude/icons/star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0988" y="3362198"/>
              <a:ext cx="405384" cy="40538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75678" y="3506470"/>
            <a:ext cx="169100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Collaborative</a:t>
            </a:r>
            <a:r>
              <a:rPr dirty="0" sz="14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Filtering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9623" y="4562424"/>
            <a:ext cx="4621530" cy="64516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40"/>
              </a:spcBef>
            </a:pP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user-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item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ratings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matrix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captures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patterns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across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similar</a:t>
            </a:r>
            <a:r>
              <a:rPr dirty="0" sz="1250" spc="-4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users, blended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with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the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content</a:t>
            </a:r>
            <a:r>
              <a:rPr dirty="0" sz="1250" spc="-5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signal</a:t>
            </a:r>
            <a:r>
              <a:rPr dirty="0" sz="125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into</a:t>
            </a:r>
            <a:r>
              <a:rPr dirty="0" sz="1250" spc="-3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one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hybrid</a:t>
            </a:r>
            <a:r>
              <a:rPr dirty="0" sz="1250" spc="-1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score</a:t>
            </a:r>
            <a:r>
              <a:rPr dirty="0" sz="125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—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evaluated</a:t>
            </a:r>
            <a:r>
              <a:rPr dirty="0" sz="1250" spc="-5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CFDFEC"/>
                </a:solidFill>
                <a:latin typeface="Calibri"/>
                <a:cs typeface="Calibri"/>
              </a:rPr>
              <a:t>with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RMSE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FDFEC"/>
                </a:solidFill>
                <a:latin typeface="Calibri"/>
                <a:cs typeface="Calibri"/>
              </a:rPr>
              <a:t>and</a:t>
            </a:r>
            <a:r>
              <a:rPr dirty="0" sz="125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FDFEC"/>
                </a:solidFill>
                <a:latin typeface="Calibri"/>
                <a:cs typeface="Calibri"/>
              </a:rPr>
              <a:t>precision@K.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12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7684" y="432561"/>
            <a:ext cx="6527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C9E8F"/>
                </a:solidFill>
                <a:latin typeface="Calibri"/>
                <a:cs typeface="Calibri"/>
              </a:rPr>
              <a:t>M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P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C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Outcomes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Results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40080" y="1920239"/>
            <a:ext cx="10881360" cy="959485"/>
            <a:chOff x="640080" y="1920239"/>
            <a:chExt cx="10881360" cy="959485"/>
          </a:xfrm>
        </p:grpSpPr>
        <p:sp>
          <p:nvSpPr>
            <p:cNvPr id="6" name="object 6"/>
            <p:cNvSpPr/>
            <p:nvPr/>
          </p:nvSpPr>
          <p:spPr>
            <a:xfrm>
              <a:off x="640080" y="1920239"/>
              <a:ext cx="10881360" cy="959485"/>
            </a:xfrm>
            <a:custGeom>
              <a:avLst/>
              <a:gdLst/>
              <a:ahLst/>
              <a:cxnLst/>
              <a:rect l="l" t="t" r="r" b="b"/>
              <a:pathLst>
                <a:path w="10881360" h="959485">
                  <a:moveTo>
                    <a:pt x="1080820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4"/>
                  </a:lnTo>
                  <a:lnTo>
                    <a:pt x="0" y="73151"/>
                  </a:lnTo>
                  <a:lnTo>
                    <a:pt x="0" y="886333"/>
                  </a:lnTo>
                  <a:lnTo>
                    <a:pt x="5753" y="914781"/>
                  </a:lnTo>
                  <a:lnTo>
                    <a:pt x="21424" y="938022"/>
                  </a:lnTo>
                  <a:lnTo>
                    <a:pt x="44678" y="953770"/>
                  </a:lnTo>
                  <a:lnTo>
                    <a:pt x="73151" y="959485"/>
                  </a:lnTo>
                  <a:lnTo>
                    <a:pt x="10808208" y="959485"/>
                  </a:lnTo>
                  <a:lnTo>
                    <a:pt x="10836656" y="953770"/>
                  </a:lnTo>
                  <a:lnTo>
                    <a:pt x="10859897" y="938022"/>
                  </a:lnTo>
                  <a:lnTo>
                    <a:pt x="10875645" y="914781"/>
                  </a:lnTo>
                  <a:lnTo>
                    <a:pt x="10881360" y="886333"/>
                  </a:lnTo>
                  <a:lnTo>
                    <a:pt x="10881360" y="73151"/>
                  </a:lnTo>
                  <a:lnTo>
                    <a:pt x="10875645" y="44704"/>
                  </a:lnTo>
                  <a:lnTo>
                    <a:pt x="10859897" y="21462"/>
                  </a:lnTo>
                  <a:lnTo>
                    <a:pt x="10836656" y="5714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8680" y="214871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59" y="0"/>
                  </a:moveTo>
                  <a:lnTo>
                    <a:pt x="206260" y="4063"/>
                  </a:lnTo>
                  <a:lnTo>
                    <a:pt x="163715" y="15748"/>
                  </a:lnTo>
                  <a:lnTo>
                    <a:pt x="124548" y="34289"/>
                  </a:lnTo>
                  <a:lnTo>
                    <a:pt x="89446" y="59054"/>
                  </a:lnTo>
                  <a:lnTo>
                    <a:pt x="59143" y="89281"/>
                  </a:lnTo>
                  <a:lnTo>
                    <a:pt x="34328" y="124460"/>
                  </a:lnTo>
                  <a:lnTo>
                    <a:pt x="15735" y="163575"/>
                  </a:lnTo>
                  <a:lnTo>
                    <a:pt x="4051" y="206121"/>
                  </a:lnTo>
                  <a:lnTo>
                    <a:pt x="0" y="251206"/>
                  </a:lnTo>
                  <a:lnTo>
                    <a:pt x="4051" y="296417"/>
                  </a:lnTo>
                  <a:lnTo>
                    <a:pt x="15735" y="338963"/>
                  </a:lnTo>
                  <a:lnTo>
                    <a:pt x="34328" y="378078"/>
                  </a:lnTo>
                  <a:lnTo>
                    <a:pt x="59143" y="413258"/>
                  </a:lnTo>
                  <a:lnTo>
                    <a:pt x="89446" y="443484"/>
                  </a:lnTo>
                  <a:lnTo>
                    <a:pt x="124548" y="468249"/>
                  </a:lnTo>
                  <a:lnTo>
                    <a:pt x="163715" y="486790"/>
                  </a:lnTo>
                  <a:lnTo>
                    <a:pt x="206260" y="498475"/>
                  </a:lnTo>
                  <a:lnTo>
                    <a:pt x="251459" y="502538"/>
                  </a:lnTo>
                  <a:lnTo>
                    <a:pt x="296659" y="498475"/>
                  </a:lnTo>
                  <a:lnTo>
                    <a:pt x="339204" y="486790"/>
                  </a:lnTo>
                  <a:lnTo>
                    <a:pt x="378371" y="468249"/>
                  </a:lnTo>
                  <a:lnTo>
                    <a:pt x="413511" y="443484"/>
                  </a:lnTo>
                  <a:lnTo>
                    <a:pt x="443738" y="413258"/>
                  </a:lnTo>
                  <a:lnTo>
                    <a:pt x="468629" y="378078"/>
                  </a:lnTo>
                  <a:lnTo>
                    <a:pt x="487172" y="338963"/>
                  </a:lnTo>
                  <a:lnTo>
                    <a:pt x="498856" y="296417"/>
                  </a:lnTo>
                  <a:lnTo>
                    <a:pt x="502919" y="251206"/>
                  </a:lnTo>
                  <a:lnTo>
                    <a:pt x="498856" y="206121"/>
                  </a:lnTo>
                  <a:lnTo>
                    <a:pt x="487172" y="163575"/>
                  </a:lnTo>
                  <a:lnTo>
                    <a:pt x="468629" y="124460"/>
                  </a:lnTo>
                  <a:lnTo>
                    <a:pt x="443738" y="89281"/>
                  </a:lnTo>
                  <a:lnTo>
                    <a:pt x="413511" y="59054"/>
                  </a:lnTo>
                  <a:lnTo>
                    <a:pt x="378371" y="34289"/>
                  </a:lnTo>
                  <a:lnTo>
                    <a:pt x="339204" y="15748"/>
                  </a:lnTo>
                  <a:lnTo>
                    <a:pt x="296659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/home/claude/icons/usersSlash_navy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212" y="2214232"/>
              <a:ext cx="371856" cy="37161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79194" y="2265425"/>
            <a:ext cx="80733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Churn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distinguished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at-risk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retained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meaningfully</a:t>
            </a:r>
            <a:r>
              <a:rPr dirty="0"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better-than-baseline</a:t>
            </a:r>
            <a:r>
              <a:rPr dirty="0" sz="1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0080" y="3035935"/>
            <a:ext cx="10881360" cy="959485"/>
            <a:chOff x="640080" y="3035935"/>
            <a:chExt cx="10881360" cy="959485"/>
          </a:xfrm>
        </p:grpSpPr>
        <p:sp>
          <p:nvSpPr>
            <p:cNvPr id="11" name="object 11"/>
            <p:cNvSpPr/>
            <p:nvPr/>
          </p:nvSpPr>
          <p:spPr>
            <a:xfrm>
              <a:off x="640080" y="3035935"/>
              <a:ext cx="10881360" cy="959485"/>
            </a:xfrm>
            <a:custGeom>
              <a:avLst/>
              <a:gdLst/>
              <a:ahLst/>
              <a:cxnLst/>
              <a:rect l="l" t="t" r="r" b="b"/>
              <a:pathLst>
                <a:path w="10881360" h="959485">
                  <a:moveTo>
                    <a:pt x="1080820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886332"/>
                  </a:lnTo>
                  <a:lnTo>
                    <a:pt x="5753" y="914781"/>
                  </a:lnTo>
                  <a:lnTo>
                    <a:pt x="21424" y="938021"/>
                  </a:lnTo>
                  <a:lnTo>
                    <a:pt x="44678" y="953769"/>
                  </a:lnTo>
                  <a:lnTo>
                    <a:pt x="73151" y="959484"/>
                  </a:lnTo>
                  <a:lnTo>
                    <a:pt x="10808208" y="959484"/>
                  </a:lnTo>
                  <a:lnTo>
                    <a:pt x="10836656" y="953769"/>
                  </a:lnTo>
                  <a:lnTo>
                    <a:pt x="10859897" y="938021"/>
                  </a:lnTo>
                  <a:lnTo>
                    <a:pt x="10875645" y="914781"/>
                  </a:lnTo>
                  <a:lnTo>
                    <a:pt x="10881360" y="886332"/>
                  </a:lnTo>
                  <a:lnTo>
                    <a:pt x="10881360" y="73151"/>
                  </a:lnTo>
                  <a:lnTo>
                    <a:pt x="10875645" y="44703"/>
                  </a:lnTo>
                  <a:lnTo>
                    <a:pt x="10859897" y="21462"/>
                  </a:lnTo>
                  <a:lnTo>
                    <a:pt x="10836656" y="5714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68680" y="3264408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63"/>
                  </a:lnTo>
                  <a:lnTo>
                    <a:pt x="163715" y="15747"/>
                  </a:lnTo>
                  <a:lnTo>
                    <a:pt x="124548" y="34289"/>
                  </a:lnTo>
                  <a:lnTo>
                    <a:pt x="89446" y="59054"/>
                  </a:lnTo>
                  <a:lnTo>
                    <a:pt x="59143" y="89280"/>
                  </a:lnTo>
                  <a:lnTo>
                    <a:pt x="34328" y="124459"/>
                  </a:lnTo>
                  <a:lnTo>
                    <a:pt x="15735" y="163575"/>
                  </a:lnTo>
                  <a:lnTo>
                    <a:pt x="4051" y="206120"/>
                  </a:lnTo>
                  <a:lnTo>
                    <a:pt x="0" y="251205"/>
                  </a:lnTo>
                  <a:lnTo>
                    <a:pt x="4051" y="296417"/>
                  </a:lnTo>
                  <a:lnTo>
                    <a:pt x="15735" y="338963"/>
                  </a:lnTo>
                  <a:lnTo>
                    <a:pt x="34328" y="378078"/>
                  </a:lnTo>
                  <a:lnTo>
                    <a:pt x="59143" y="413257"/>
                  </a:lnTo>
                  <a:lnTo>
                    <a:pt x="89446" y="443483"/>
                  </a:lnTo>
                  <a:lnTo>
                    <a:pt x="124548" y="468248"/>
                  </a:lnTo>
                  <a:lnTo>
                    <a:pt x="163715" y="486790"/>
                  </a:lnTo>
                  <a:lnTo>
                    <a:pt x="206260" y="498474"/>
                  </a:lnTo>
                  <a:lnTo>
                    <a:pt x="251459" y="502538"/>
                  </a:lnTo>
                  <a:lnTo>
                    <a:pt x="296659" y="498474"/>
                  </a:lnTo>
                  <a:lnTo>
                    <a:pt x="339204" y="486790"/>
                  </a:lnTo>
                  <a:lnTo>
                    <a:pt x="378371" y="468248"/>
                  </a:lnTo>
                  <a:lnTo>
                    <a:pt x="413511" y="443483"/>
                  </a:lnTo>
                  <a:lnTo>
                    <a:pt x="443738" y="413257"/>
                  </a:lnTo>
                  <a:lnTo>
                    <a:pt x="468629" y="378078"/>
                  </a:lnTo>
                  <a:lnTo>
                    <a:pt x="487172" y="338963"/>
                  </a:lnTo>
                  <a:lnTo>
                    <a:pt x="498856" y="296417"/>
                  </a:lnTo>
                  <a:lnTo>
                    <a:pt x="502919" y="251205"/>
                  </a:lnTo>
                  <a:lnTo>
                    <a:pt x="498856" y="206120"/>
                  </a:lnTo>
                  <a:lnTo>
                    <a:pt x="487172" y="163575"/>
                  </a:lnTo>
                  <a:lnTo>
                    <a:pt x="468629" y="124459"/>
                  </a:lnTo>
                  <a:lnTo>
                    <a:pt x="443738" y="89280"/>
                  </a:lnTo>
                  <a:lnTo>
                    <a:pt x="413511" y="59054"/>
                  </a:lnTo>
                  <a:lnTo>
                    <a:pt x="378371" y="34289"/>
                  </a:lnTo>
                  <a:lnTo>
                    <a:pt x="339204" y="15747"/>
                  </a:lnTo>
                  <a:lnTo>
                    <a:pt x="296659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/home/claude/icons/chart_nav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212" y="3329927"/>
              <a:ext cx="371856" cy="37161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79194" y="3380943"/>
            <a:ext cx="732091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Confusion</a:t>
            </a:r>
            <a:r>
              <a:rPr dirty="0" sz="1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precision/recall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trade-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offs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framed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misses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vs.</a:t>
            </a:r>
            <a:r>
              <a:rPr dirty="0" sz="1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false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alarms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0080" y="4150995"/>
            <a:ext cx="10881360" cy="959485"/>
            <a:chOff x="640080" y="4150995"/>
            <a:chExt cx="10881360" cy="959485"/>
          </a:xfrm>
        </p:grpSpPr>
        <p:sp>
          <p:nvSpPr>
            <p:cNvPr id="16" name="object 16"/>
            <p:cNvSpPr/>
            <p:nvPr/>
          </p:nvSpPr>
          <p:spPr>
            <a:xfrm>
              <a:off x="640080" y="4150995"/>
              <a:ext cx="10881360" cy="959485"/>
            </a:xfrm>
            <a:custGeom>
              <a:avLst/>
              <a:gdLst/>
              <a:ahLst/>
              <a:cxnLst/>
              <a:rect l="l" t="t" r="r" b="b"/>
              <a:pathLst>
                <a:path w="10881360" h="959485">
                  <a:moveTo>
                    <a:pt x="10808208" y="0"/>
                  </a:moveTo>
                  <a:lnTo>
                    <a:pt x="73151" y="0"/>
                  </a:lnTo>
                  <a:lnTo>
                    <a:pt x="44678" y="5714"/>
                  </a:lnTo>
                  <a:lnTo>
                    <a:pt x="21424" y="21462"/>
                  </a:lnTo>
                  <a:lnTo>
                    <a:pt x="5753" y="44703"/>
                  </a:lnTo>
                  <a:lnTo>
                    <a:pt x="0" y="73151"/>
                  </a:lnTo>
                  <a:lnTo>
                    <a:pt x="0" y="886332"/>
                  </a:lnTo>
                  <a:lnTo>
                    <a:pt x="5753" y="914780"/>
                  </a:lnTo>
                  <a:lnTo>
                    <a:pt x="21424" y="938021"/>
                  </a:lnTo>
                  <a:lnTo>
                    <a:pt x="44678" y="953769"/>
                  </a:lnTo>
                  <a:lnTo>
                    <a:pt x="73151" y="959484"/>
                  </a:lnTo>
                  <a:lnTo>
                    <a:pt x="10808208" y="959484"/>
                  </a:lnTo>
                  <a:lnTo>
                    <a:pt x="10836656" y="953769"/>
                  </a:lnTo>
                  <a:lnTo>
                    <a:pt x="10859897" y="938021"/>
                  </a:lnTo>
                  <a:lnTo>
                    <a:pt x="10875645" y="914780"/>
                  </a:lnTo>
                  <a:lnTo>
                    <a:pt x="10881360" y="886332"/>
                  </a:lnTo>
                  <a:lnTo>
                    <a:pt x="10881360" y="73151"/>
                  </a:lnTo>
                  <a:lnTo>
                    <a:pt x="10875645" y="44703"/>
                  </a:lnTo>
                  <a:lnTo>
                    <a:pt x="10859897" y="21462"/>
                  </a:lnTo>
                  <a:lnTo>
                    <a:pt x="10836656" y="5714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68680" y="4379468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63"/>
                  </a:lnTo>
                  <a:lnTo>
                    <a:pt x="163715" y="15747"/>
                  </a:lnTo>
                  <a:lnTo>
                    <a:pt x="124548" y="34289"/>
                  </a:lnTo>
                  <a:lnTo>
                    <a:pt x="89446" y="59054"/>
                  </a:lnTo>
                  <a:lnTo>
                    <a:pt x="59143" y="89280"/>
                  </a:lnTo>
                  <a:lnTo>
                    <a:pt x="34328" y="124459"/>
                  </a:lnTo>
                  <a:lnTo>
                    <a:pt x="15735" y="163575"/>
                  </a:lnTo>
                  <a:lnTo>
                    <a:pt x="4051" y="206120"/>
                  </a:lnTo>
                  <a:lnTo>
                    <a:pt x="0" y="251205"/>
                  </a:lnTo>
                  <a:lnTo>
                    <a:pt x="4051" y="296417"/>
                  </a:lnTo>
                  <a:lnTo>
                    <a:pt x="15735" y="338962"/>
                  </a:lnTo>
                  <a:lnTo>
                    <a:pt x="34328" y="378078"/>
                  </a:lnTo>
                  <a:lnTo>
                    <a:pt x="59143" y="413257"/>
                  </a:lnTo>
                  <a:lnTo>
                    <a:pt x="89446" y="443483"/>
                  </a:lnTo>
                  <a:lnTo>
                    <a:pt x="124548" y="468248"/>
                  </a:lnTo>
                  <a:lnTo>
                    <a:pt x="163715" y="486790"/>
                  </a:lnTo>
                  <a:lnTo>
                    <a:pt x="206260" y="498474"/>
                  </a:lnTo>
                  <a:lnTo>
                    <a:pt x="251459" y="502538"/>
                  </a:lnTo>
                  <a:lnTo>
                    <a:pt x="296659" y="498474"/>
                  </a:lnTo>
                  <a:lnTo>
                    <a:pt x="339204" y="486790"/>
                  </a:lnTo>
                  <a:lnTo>
                    <a:pt x="378371" y="468248"/>
                  </a:lnTo>
                  <a:lnTo>
                    <a:pt x="413511" y="443483"/>
                  </a:lnTo>
                  <a:lnTo>
                    <a:pt x="443738" y="413257"/>
                  </a:lnTo>
                  <a:lnTo>
                    <a:pt x="468629" y="378078"/>
                  </a:lnTo>
                  <a:lnTo>
                    <a:pt x="487172" y="338962"/>
                  </a:lnTo>
                  <a:lnTo>
                    <a:pt x="498856" y="296417"/>
                  </a:lnTo>
                  <a:lnTo>
                    <a:pt x="502919" y="251205"/>
                  </a:lnTo>
                  <a:lnTo>
                    <a:pt x="498856" y="206120"/>
                  </a:lnTo>
                  <a:lnTo>
                    <a:pt x="487172" y="163575"/>
                  </a:lnTo>
                  <a:lnTo>
                    <a:pt x="468629" y="124459"/>
                  </a:lnTo>
                  <a:lnTo>
                    <a:pt x="443738" y="89280"/>
                  </a:lnTo>
                  <a:lnTo>
                    <a:pt x="413511" y="59054"/>
                  </a:lnTo>
                  <a:lnTo>
                    <a:pt x="378371" y="34289"/>
                  </a:lnTo>
                  <a:lnTo>
                    <a:pt x="339204" y="15747"/>
                  </a:lnTo>
                  <a:lnTo>
                    <a:pt x="296659" y="4063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/home/claude/icons/film_navy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212" y="4444987"/>
              <a:ext cx="371856" cy="37161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79194" y="4500498"/>
            <a:ext cx="622617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Hybrid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recommender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produced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personalized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single-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signal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0080" y="5266690"/>
            <a:ext cx="10881360" cy="959485"/>
            <a:chOff x="640080" y="5266690"/>
            <a:chExt cx="10881360" cy="959485"/>
          </a:xfrm>
        </p:grpSpPr>
        <p:sp>
          <p:nvSpPr>
            <p:cNvPr id="21" name="object 21"/>
            <p:cNvSpPr/>
            <p:nvPr/>
          </p:nvSpPr>
          <p:spPr>
            <a:xfrm>
              <a:off x="640080" y="5266690"/>
              <a:ext cx="10881360" cy="959485"/>
            </a:xfrm>
            <a:custGeom>
              <a:avLst/>
              <a:gdLst/>
              <a:ahLst/>
              <a:cxnLst/>
              <a:rect l="l" t="t" r="r" b="b"/>
              <a:pathLst>
                <a:path w="10881360" h="959485">
                  <a:moveTo>
                    <a:pt x="10808208" y="0"/>
                  </a:moveTo>
                  <a:lnTo>
                    <a:pt x="73151" y="0"/>
                  </a:lnTo>
                  <a:lnTo>
                    <a:pt x="44678" y="5715"/>
                  </a:lnTo>
                  <a:lnTo>
                    <a:pt x="21424" y="21463"/>
                  </a:lnTo>
                  <a:lnTo>
                    <a:pt x="5753" y="44704"/>
                  </a:lnTo>
                  <a:lnTo>
                    <a:pt x="0" y="73152"/>
                  </a:lnTo>
                  <a:lnTo>
                    <a:pt x="0" y="886383"/>
                  </a:lnTo>
                  <a:lnTo>
                    <a:pt x="5753" y="914831"/>
                  </a:lnTo>
                  <a:lnTo>
                    <a:pt x="21424" y="938072"/>
                  </a:lnTo>
                  <a:lnTo>
                    <a:pt x="44678" y="953744"/>
                  </a:lnTo>
                  <a:lnTo>
                    <a:pt x="73151" y="959485"/>
                  </a:lnTo>
                  <a:lnTo>
                    <a:pt x="10808208" y="959485"/>
                  </a:lnTo>
                  <a:lnTo>
                    <a:pt x="10836656" y="953744"/>
                  </a:lnTo>
                  <a:lnTo>
                    <a:pt x="10859897" y="938072"/>
                  </a:lnTo>
                  <a:lnTo>
                    <a:pt x="10875645" y="914831"/>
                  </a:lnTo>
                  <a:lnTo>
                    <a:pt x="10881360" y="886383"/>
                  </a:lnTo>
                  <a:lnTo>
                    <a:pt x="10881360" y="73152"/>
                  </a:lnTo>
                  <a:lnTo>
                    <a:pt x="10875645" y="44704"/>
                  </a:lnTo>
                  <a:lnTo>
                    <a:pt x="10859897" y="21463"/>
                  </a:lnTo>
                  <a:lnTo>
                    <a:pt x="10836656" y="5715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8680" y="549516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64"/>
                  </a:lnTo>
                  <a:lnTo>
                    <a:pt x="163715" y="15748"/>
                  </a:lnTo>
                  <a:lnTo>
                    <a:pt x="124548" y="34290"/>
                  </a:lnTo>
                  <a:lnTo>
                    <a:pt x="89446" y="59055"/>
                  </a:lnTo>
                  <a:lnTo>
                    <a:pt x="59143" y="89408"/>
                  </a:lnTo>
                  <a:lnTo>
                    <a:pt x="34328" y="124434"/>
                  </a:lnTo>
                  <a:lnTo>
                    <a:pt x="15735" y="163588"/>
                  </a:lnTo>
                  <a:lnTo>
                    <a:pt x="4051" y="206095"/>
                  </a:lnTo>
                  <a:lnTo>
                    <a:pt x="0" y="251269"/>
                  </a:lnTo>
                  <a:lnTo>
                    <a:pt x="4051" y="296443"/>
                  </a:lnTo>
                  <a:lnTo>
                    <a:pt x="15735" y="338950"/>
                  </a:lnTo>
                  <a:lnTo>
                    <a:pt x="34328" y="378104"/>
                  </a:lnTo>
                  <a:lnTo>
                    <a:pt x="59143" y="413169"/>
                  </a:lnTo>
                  <a:lnTo>
                    <a:pt x="89446" y="443458"/>
                  </a:lnTo>
                  <a:lnTo>
                    <a:pt x="124548" y="468249"/>
                  </a:lnTo>
                  <a:lnTo>
                    <a:pt x="163715" y="486841"/>
                  </a:lnTo>
                  <a:lnTo>
                    <a:pt x="206260" y="498513"/>
                  </a:lnTo>
                  <a:lnTo>
                    <a:pt x="251459" y="502564"/>
                  </a:lnTo>
                  <a:lnTo>
                    <a:pt x="296659" y="498513"/>
                  </a:lnTo>
                  <a:lnTo>
                    <a:pt x="339204" y="486841"/>
                  </a:lnTo>
                  <a:lnTo>
                    <a:pt x="378371" y="468249"/>
                  </a:lnTo>
                  <a:lnTo>
                    <a:pt x="413511" y="443458"/>
                  </a:lnTo>
                  <a:lnTo>
                    <a:pt x="443738" y="413169"/>
                  </a:lnTo>
                  <a:lnTo>
                    <a:pt x="468629" y="378104"/>
                  </a:lnTo>
                  <a:lnTo>
                    <a:pt x="487172" y="338950"/>
                  </a:lnTo>
                  <a:lnTo>
                    <a:pt x="498856" y="296443"/>
                  </a:lnTo>
                  <a:lnTo>
                    <a:pt x="502919" y="251269"/>
                  </a:lnTo>
                  <a:lnTo>
                    <a:pt x="498856" y="206095"/>
                  </a:lnTo>
                  <a:lnTo>
                    <a:pt x="487172" y="163588"/>
                  </a:lnTo>
                  <a:lnTo>
                    <a:pt x="468629" y="124434"/>
                  </a:lnTo>
                  <a:lnTo>
                    <a:pt x="443738" y="89408"/>
                  </a:lnTo>
                  <a:lnTo>
                    <a:pt x="413511" y="59055"/>
                  </a:lnTo>
                  <a:lnTo>
                    <a:pt x="378371" y="34290"/>
                  </a:lnTo>
                  <a:lnTo>
                    <a:pt x="339204" y="15748"/>
                  </a:lnTo>
                  <a:lnTo>
                    <a:pt x="296659" y="4064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9E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/home/claude/icons/trophy_navy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" y="5560618"/>
              <a:ext cx="371856" cy="37161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79194" y="5613603"/>
            <a:ext cx="678497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documented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reproducibly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updated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4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extend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further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5"/>
              </a:lnSpc>
            </a:pPr>
            <a:r>
              <a:rPr dirty="0"/>
              <a:t>Summer </a:t>
            </a:r>
            <a:r>
              <a:rPr dirty="0" spc="-10"/>
              <a:t>Internship</a:t>
            </a:r>
            <a:r>
              <a:rPr dirty="0" spc="5"/>
              <a:t> </a:t>
            </a:r>
            <a:r>
              <a:rPr dirty="0" spc="-10"/>
              <a:t>Presentation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965"/>
              </a:lnSpc>
            </a:pPr>
            <a:r>
              <a:rPr dirty="0"/>
              <a:t>13</a:t>
            </a:r>
            <a:r>
              <a:rPr dirty="0" spc="-15"/>
              <a:t> </a:t>
            </a:r>
            <a:r>
              <a:rPr dirty="0"/>
              <a:t>/</a:t>
            </a:r>
            <a:r>
              <a:rPr dirty="0" spc="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684" y="432561"/>
            <a:ext cx="1195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V</a:t>
            </a:r>
            <a:r>
              <a:rPr dirty="0" sz="1200" spc="-7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E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R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F</a:t>
            </a:r>
            <a:r>
              <a:rPr dirty="0" sz="1200" spc="-8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C</a:t>
            </a:r>
            <a:r>
              <a:rPr dirty="0" sz="1200" spc="-6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A</a:t>
            </a:r>
            <a:r>
              <a:rPr dirty="0" sz="1200" spc="-9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C9E8F"/>
                </a:solidFill>
                <a:latin typeface="Calibri"/>
                <a:cs typeface="Calibri"/>
              </a:rPr>
              <a:t>T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I</a:t>
            </a:r>
            <a:r>
              <a:rPr dirty="0" sz="1200" spc="-8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C9E8F"/>
                </a:solidFill>
                <a:latin typeface="Calibri"/>
                <a:cs typeface="Calibri"/>
              </a:rPr>
              <a:t>O</a:t>
            </a:r>
            <a:r>
              <a:rPr dirty="0" sz="1200" spc="-75" b="1">
                <a:solidFill>
                  <a:srgbClr val="2C9E8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C9E8F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Offer</a:t>
            </a:r>
            <a:r>
              <a:rPr dirty="0" spc="-90"/>
              <a:t> </a:t>
            </a:r>
            <a:r>
              <a:rPr dirty="0"/>
              <a:t>Letter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/>
              <a:t>Completion</a:t>
            </a:r>
            <a:r>
              <a:rPr dirty="0" spc="-75"/>
              <a:t> </a:t>
            </a:r>
            <a:r>
              <a:rPr dirty="0" spc="-10"/>
              <a:t>Certificate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7472" y="532077"/>
            <a:ext cx="467925" cy="384402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416139" y="487577"/>
            <a:ext cx="766445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0">
                <a:solidFill>
                  <a:srgbClr val="E14B5E"/>
                </a:solidFill>
                <a:latin typeface="Arial"/>
                <a:cs typeface="Arial"/>
              </a:rPr>
              <a:t>CODEC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8956" y="782774"/>
            <a:ext cx="1002697" cy="668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2816" y="711743"/>
            <a:ext cx="192183" cy="2381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46778" y="832914"/>
            <a:ext cx="259030" cy="6685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25352" y="563713"/>
            <a:ext cx="743585" cy="2787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14"/>
              </a:spcBef>
            </a:pPr>
            <a:r>
              <a:rPr dirty="0" sz="850" spc="-10">
                <a:solidFill>
                  <a:srgbClr val="FBC183"/>
                </a:solidFill>
                <a:latin typeface="Arial"/>
                <a:cs typeface="Arial"/>
              </a:rPr>
              <a:t>NATIONAL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075"/>
              </a:lnSpc>
            </a:pPr>
            <a:r>
              <a:rPr dirty="0" sz="1000" spc="-40" b="1">
                <a:solidFill>
                  <a:srgbClr val="2362D8"/>
                </a:solidFill>
                <a:latin typeface="Arial"/>
                <a:cs typeface="Arial"/>
              </a:rPr>
              <a:t>INTERNSHIP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3375" y="1087789"/>
            <a:ext cx="4578985" cy="0"/>
          </a:xfrm>
          <a:custGeom>
            <a:avLst/>
            <a:gdLst/>
            <a:ahLst/>
            <a:cxnLst/>
            <a:rect l="l" t="t" r="r" b="b"/>
            <a:pathLst>
              <a:path w="4578985" h="0">
                <a:moveTo>
                  <a:pt x="0" y="0"/>
                </a:moveTo>
                <a:lnTo>
                  <a:pt x="4578986" y="0"/>
                </a:lnTo>
              </a:path>
            </a:pathLst>
          </a:custGeom>
          <a:ln w="25069">
            <a:solidFill>
              <a:srgbClr val="5D5D5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39422" y="1263576"/>
            <a:ext cx="4076700" cy="35864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51865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3B9AED"/>
                </a:solidFill>
                <a:latin typeface="Arial"/>
                <a:cs typeface="Arial"/>
              </a:rPr>
              <a:t>INTERNSHIP</a:t>
            </a:r>
            <a:r>
              <a:rPr dirty="0" sz="1250" spc="355">
                <a:solidFill>
                  <a:srgbClr val="3B9A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3B9AED"/>
                </a:solidFill>
                <a:latin typeface="Arial"/>
                <a:cs typeface="Arial"/>
              </a:rPr>
              <a:t>OFFER</a:t>
            </a:r>
            <a:r>
              <a:rPr dirty="0" sz="1250" spc="290">
                <a:solidFill>
                  <a:srgbClr val="3B9A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B9AED"/>
                </a:solidFill>
                <a:latin typeface="Arial"/>
                <a:cs typeface="Arial"/>
              </a:rPr>
              <a:t>LETTER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solidFill>
                  <a:srgbClr val="5D7085"/>
                </a:solidFill>
                <a:latin typeface="Arial"/>
                <a:cs typeface="Arial"/>
              </a:rPr>
              <a:t>oeor</a:t>
            </a:r>
            <a:r>
              <a:rPr dirty="0" sz="850" spc="45">
                <a:solidFill>
                  <a:srgbClr val="5D708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voishnovi</a:t>
            </a:r>
            <a:r>
              <a:rPr dirty="0" sz="850" spc="6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7C8C9E"/>
                </a:solidFill>
                <a:latin typeface="Arial"/>
                <a:cs typeface="Arial"/>
              </a:rPr>
              <a:t>shormo,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50">
              <a:latin typeface="Arial"/>
              <a:cs typeface="Arial"/>
            </a:endParaRPr>
          </a:p>
          <a:p>
            <a:pPr algn="just" marL="18415" marR="15875" indent="3810">
              <a:lnSpc>
                <a:spcPct val="111300"/>
              </a:lnSpc>
              <a:spcBef>
                <a:spcPts val="5"/>
              </a:spcBef>
            </a:pPr>
            <a:r>
              <a:rPr dirty="0" sz="850">
                <a:solidFill>
                  <a:srgbClr val="364D69"/>
                </a:solidFill>
                <a:latin typeface="Arial"/>
                <a:cs typeface="Arial"/>
              </a:rPr>
              <a:t>\^/e</a:t>
            </a:r>
            <a:r>
              <a:rPr dirty="0" sz="850" spc="204">
                <a:solidFill>
                  <a:srgbClr val="364D69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ore</a:t>
            </a:r>
            <a:r>
              <a:rPr dirty="0" sz="850" spc="175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99A5B3"/>
                </a:solidFill>
                <a:latin typeface="Arial"/>
                <a:cs typeface="Arial"/>
              </a:rPr>
              <a:t>pleased</a:t>
            </a:r>
            <a:r>
              <a:rPr dirty="0" sz="850" spc="229">
                <a:solidFill>
                  <a:srgbClr val="99A5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7798E"/>
                </a:solidFill>
                <a:latin typeface="Arial"/>
                <a:cs typeface="Arial"/>
              </a:rPr>
              <a:t>to</a:t>
            </a:r>
            <a:r>
              <a:rPr dirty="0" sz="850" spc="195">
                <a:solidFill>
                  <a:srgbClr val="67798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offer</a:t>
            </a:r>
            <a:r>
              <a:rPr dirty="0" sz="850" spc="200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43F5D"/>
                </a:solidFill>
                <a:latin typeface="Arial"/>
                <a:cs typeface="Arial"/>
              </a:rPr>
              <a:t>you</a:t>
            </a:r>
            <a:r>
              <a:rPr dirty="0" sz="850" spc="250">
                <a:solidFill>
                  <a:srgbClr val="243F5D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a</a:t>
            </a:r>
            <a:r>
              <a:rPr dirty="0" sz="850" spc="145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708095"/>
                </a:solidFill>
                <a:latin typeface="Arial"/>
                <a:cs typeface="Arial"/>
              </a:rPr>
              <a:t>I</a:t>
            </a:r>
            <a:r>
              <a:rPr dirty="0" sz="850" spc="229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Month</a:t>
            </a:r>
            <a:r>
              <a:rPr dirty="0" sz="850" spc="204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Internship</a:t>
            </a:r>
            <a:r>
              <a:rPr dirty="0" sz="850" spc="18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D4662"/>
                </a:solidFill>
                <a:latin typeface="Arial"/>
                <a:cs typeface="Arial"/>
              </a:rPr>
              <a:t>as</a:t>
            </a:r>
            <a:r>
              <a:rPr dirty="0" sz="850" spc="225">
                <a:solidFill>
                  <a:srgbClr val="2D4662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Project</a:t>
            </a:r>
            <a:r>
              <a:rPr dirty="0" sz="850" spc="220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95A1AF"/>
                </a:solidFill>
                <a:latin typeface="Arial"/>
                <a:cs typeface="Arial"/>
              </a:rPr>
              <a:t>Infern</a:t>
            </a:r>
            <a:r>
              <a:rPr dirty="0" sz="850" spc="204">
                <a:solidFill>
                  <a:srgbClr val="95A1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7778C"/>
                </a:solidFill>
                <a:latin typeface="Arial"/>
                <a:cs typeface="Arial"/>
              </a:rPr>
              <a:t>at</a:t>
            </a:r>
            <a:r>
              <a:rPr dirty="0" sz="850" spc="240">
                <a:solidFill>
                  <a:srgbClr val="67778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66B82"/>
                </a:solidFill>
                <a:latin typeface="Arial"/>
                <a:cs typeface="Arial"/>
              </a:rPr>
              <a:t>codec </a:t>
            </a:r>
            <a:r>
              <a:rPr dirty="0" sz="850" spc="-20">
                <a:solidFill>
                  <a:srgbClr val="A8A8A8"/>
                </a:solidFill>
                <a:latin typeface="Arial"/>
                <a:cs typeface="Arial"/>
              </a:rPr>
              <a:t>Technologies,</a:t>
            </a:r>
            <a:r>
              <a:rPr dirty="0" sz="850" spc="5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D4662"/>
                </a:solidFill>
                <a:latin typeface="Arial"/>
                <a:cs typeface="Arial"/>
              </a:rPr>
              <a:t>a</a:t>
            </a:r>
            <a:r>
              <a:rPr dirty="0" sz="850" spc="65">
                <a:solidFill>
                  <a:srgbClr val="2D4662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8A8A8"/>
                </a:solidFill>
                <a:latin typeface="Arial"/>
                <a:cs typeface="Arial"/>
              </a:rPr>
              <a:t>global</a:t>
            </a:r>
            <a:r>
              <a:rPr dirty="0" sz="850" spc="6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E7E93"/>
                </a:solidFill>
                <a:latin typeface="Arial"/>
                <a:cs typeface="Arial"/>
              </a:rPr>
              <a:t>platform</a:t>
            </a:r>
            <a:r>
              <a:rPr dirty="0" sz="850" spc="80">
                <a:solidFill>
                  <a:srgbClr val="6E7E9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52F50"/>
                </a:solidFill>
                <a:latin typeface="Arial"/>
                <a:cs typeface="Arial"/>
              </a:rPr>
              <a:t>dedlcoted</a:t>
            </a:r>
            <a:r>
              <a:rPr dirty="0" sz="850" spc="120">
                <a:solidFill>
                  <a:srgbClr val="152F5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to</a:t>
            </a:r>
            <a:r>
              <a:rPr dirty="0" sz="850" spc="-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FAFAF"/>
                </a:solidFill>
                <a:latin typeface="Arial"/>
                <a:cs typeface="Arial"/>
              </a:rPr>
              <a:t>empowering</a:t>
            </a:r>
            <a:r>
              <a:rPr dirty="0" sz="850" spc="45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learners</a:t>
            </a:r>
            <a:r>
              <a:rPr dirty="0" sz="850" spc="7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6B6B6"/>
                </a:solidFill>
                <a:latin typeface="Arial"/>
                <a:cs typeface="Arial"/>
              </a:rPr>
              <a:t>and</a:t>
            </a:r>
            <a:r>
              <a:rPr dirty="0" sz="850" spc="45">
                <a:solidFill>
                  <a:srgbClr val="B6B6B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EAEAE"/>
                </a:solidFill>
                <a:latin typeface="Arial"/>
                <a:cs typeface="Arial"/>
              </a:rPr>
              <a:t>connecting </a:t>
            </a:r>
            <a:r>
              <a:rPr dirty="0" sz="850">
                <a:solidFill>
                  <a:srgbClr val="69798E"/>
                </a:solidFill>
                <a:latin typeface="Arial"/>
                <a:cs typeface="Arial"/>
              </a:rPr>
              <a:t>diverse</a:t>
            </a:r>
            <a:r>
              <a:rPr dirty="0" sz="850" spc="470">
                <a:solidFill>
                  <a:srgbClr val="69798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8E9CAA"/>
                </a:solidFill>
                <a:latin typeface="Arial"/>
                <a:cs typeface="Arial"/>
              </a:rPr>
              <a:t>talent</a:t>
            </a:r>
            <a:r>
              <a:rPr dirty="0" sz="850" spc="440">
                <a:solidFill>
                  <a:srgbClr val="8E9CA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F3A59"/>
                </a:solidFill>
                <a:latin typeface="Arial"/>
                <a:cs typeface="Arial"/>
              </a:rPr>
              <a:t>to</a:t>
            </a:r>
            <a:r>
              <a:rPr dirty="0" sz="850" spc="425">
                <a:solidFill>
                  <a:srgbClr val="1F3A59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create</a:t>
            </a:r>
            <a:r>
              <a:rPr dirty="0" sz="850" spc="434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meaningful</a:t>
            </a:r>
            <a:r>
              <a:rPr dirty="0" sz="850" spc="44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8A8A8"/>
                </a:solidFill>
                <a:latin typeface="Arial"/>
                <a:cs typeface="Arial"/>
              </a:rPr>
              <a:t>career</a:t>
            </a:r>
            <a:r>
              <a:rPr dirty="0" sz="850" spc="130">
                <a:solidFill>
                  <a:srgbClr val="A8A8A8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opportunities</a:t>
            </a:r>
            <a:r>
              <a:rPr dirty="0" sz="850" spc="140">
                <a:solidFill>
                  <a:srgbClr val="B3B3B3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AEAEAE"/>
                </a:solidFill>
                <a:latin typeface="Arial"/>
                <a:cs typeface="Arial"/>
              </a:rPr>
              <a:t>worldwide.</a:t>
            </a:r>
            <a:r>
              <a:rPr dirty="0" sz="850" spc="385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5B5B5"/>
                </a:solidFill>
                <a:latin typeface="Arial"/>
                <a:cs typeface="Arial"/>
              </a:rPr>
              <a:t>codec </a:t>
            </a:r>
            <a:r>
              <a:rPr dirty="0" sz="850">
                <a:solidFill>
                  <a:srgbClr val="ACACAC"/>
                </a:solidFill>
                <a:latin typeface="Arial"/>
                <a:cs typeface="Arial"/>
              </a:rPr>
              <a:t>Technologies</a:t>
            </a:r>
            <a:r>
              <a:rPr dirty="0" sz="850" spc="75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ABABA"/>
                </a:solidFill>
                <a:latin typeface="Arial"/>
                <a:cs typeface="Arial"/>
              </a:rPr>
              <a:t>delivers</a:t>
            </a:r>
            <a:r>
              <a:rPr dirty="0" sz="850" spc="95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dedlcofed</a:t>
            </a:r>
            <a:r>
              <a:rPr dirty="0" sz="850" spc="60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97A3B1"/>
                </a:solidFill>
                <a:latin typeface="Arial"/>
                <a:cs typeface="Arial"/>
              </a:rPr>
              <a:t>iT</a:t>
            </a:r>
            <a:r>
              <a:rPr dirty="0" sz="850" spc="85">
                <a:solidFill>
                  <a:srgbClr val="97A3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3C3C3"/>
                </a:solidFill>
                <a:latin typeface="Arial"/>
                <a:cs typeface="Arial"/>
              </a:rPr>
              <a:t>and</a:t>
            </a:r>
            <a:r>
              <a:rPr dirty="0" sz="850" spc="20">
                <a:solidFill>
                  <a:srgbClr val="C3C3C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business</a:t>
            </a:r>
            <a:r>
              <a:rPr dirty="0" sz="850" spc="9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consultancy</a:t>
            </a:r>
            <a:r>
              <a:rPr dirty="0" sz="850" spc="11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34B67"/>
                </a:solidFill>
                <a:latin typeface="Arial"/>
                <a:cs typeface="Arial"/>
              </a:rPr>
              <a:t>servlces</a:t>
            </a:r>
            <a:r>
              <a:rPr dirty="0" sz="850" spc="50">
                <a:solidFill>
                  <a:srgbClr val="334B67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across</a:t>
            </a:r>
            <a:r>
              <a:rPr dirty="0" sz="850" spc="45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4F647C"/>
                </a:solidFill>
                <a:latin typeface="Arial"/>
                <a:cs typeface="Arial"/>
              </a:rPr>
              <a:t>27* </a:t>
            </a:r>
            <a:r>
              <a:rPr dirty="0" sz="850" spc="-10">
                <a:solidFill>
                  <a:srgbClr val="3D546E"/>
                </a:solidFill>
                <a:latin typeface="Arial"/>
                <a:cs typeface="Arial"/>
              </a:rPr>
              <a:t>countries,</a:t>
            </a:r>
            <a:r>
              <a:rPr dirty="0" sz="850" spc="-5">
                <a:solidFill>
                  <a:srgbClr val="3D546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D7085"/>
                </a:solidFill>
                <a:latin typeface="Arial"/>
                <a:cs typeface="Arial"/>
              </a:rPr>
              <a:t>empowering</a:t>
            </a:r>
            <a:r>
              <a:rPr dirty="0" sz="850" spc="40">
                <a:solidFill>
                  <a:srgbClr val="5D708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CACAC"/>
                </a:solidFill>
                <a:latin typeface="Arial"/>
                <a:cs typeface="Arial"/>
              </a:rPr>
              <a:t>global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Innovation</a:t>
            </a:r>
            <a:r>
              <a:rPr dirty="0" sz="850" spc="3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and</a:t>
            </a:r>
            <a:r>
              <a:rPr dirty="0" sz="850" spc="-4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CACAC"/>
                </a:solidFill>
                <a:latin typeface="Arial"/>
                <a:cs typeface="Arial"/>
              </a:rPr>
              <a:t>strategic</a:t>
            </a:r>
            <a:r>
              <a:rPr dirty="0" sz="850" spc="60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8B8B8"/>
                </a:solidFill>
                <a:latin typeface="Arial"/>
                <a:cs typeface="Arial"/>
              </a:rPr>
              <a:t>growth.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solidFill>
                  <a:srgbClr val="B5B5B5"/>
                </a:solidFill>
                <a:latin typeface="Arial"/>
                <a:cs typeface="Arial"/>
              </a:rPr>
              <a:t>Internship</a:t>
            </a:r>
            <a:r>
              <a:rPr dirty="0" sz="850" spc="-20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3B3B3"/>
                </a:solidFill>
                <a:latin typeface="Arial"/>
                <a:cs typeface="Arial"/>
              </a:rPr>
              <a:t>retails:</a:t>
            </a:r>
            <a:endParaRPr sz="850">
              <a:latin typeface="Arial"/>
              <a:cs typeface="Arial"/>
            </a:endParaRPr>
          </a:p>
          <a:p>
            <a:pPr marL="180975" indent="-64135">
              <a:lnSpc>
                <a:spcPct val="100000"/>
              </a:lnSpc>
              <a:spcBef>
                <a:spcPts val="95"/>
              </a:spcBef>
              <a:buClr>
                <a:srgbClr val="112D4D"/>
              </a:buClr>
              <a:buChar char="•"/>
              <a:tabLst>
                <a:tab pos="180975" algn="l"/>
              </a:tabLst>
            </a:pPr>
            <a:r>
              <a:rPr dirty="0" sz="850" spc="-10">
                <a:solidFill>
                  <a:srgbClr val="ACACAC"/>
                </a:solidFill>
                <a:latin typeface="Arial"/>
                <a:cs typeface="Arial"/>
              </a:rPr>
              <a:t>Designation</a:t>
            </a:r>
            <a:r>
              <a:rPr dirty="0" sz="850" spc="-70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6C6C6"/>
                </a:solidFill>
                <a:latin typeface="Arial"/>
                <a:cs typeface="Arial"/>
              </a:rPr>
              <a:t>:</a:t>
            </a:r>
            <a:r>
              <a:rPr dirty="0" sz="850" spc="-5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850" spc="-114">
                <a:solidFill>
                  <a:srgbClr val="AFAFAF"/>
                </a:solidFill>
                <a:latin typeface="Arial"/>
                <a:cs typeface="Arial"/>
              </a:rPr>
              <a:t>Ar1</a:t>
            </a:r>
            <a:r>
              <a:rPr dirty="0" sz="850" spc="-1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FAFAF"/>
                </a:solidFill>
                <a:latin typeface="Arial"/>
                <a:cs typeface="Arial"/>
              </a:rPr>
              <a:t>ficiol</a:t>
            </a:r>
            <a:r>
              <a:rPr dirty="0" sz="850" spc="-9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D7085"/>
                </a:solidFill>
                <a:latin typeface="Arial"/>
                <a:cs typeface="Arial"/>
              </a:rPr>
              <a:t>InteIIIger\ce</a:t>
            </a:r>
            <a:r>
              <a:rPr dirty="0" sz="850" spc="40">
                <a:solidFill>
                  <a:srgbClr val="5D7085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14966"/>
                </a:solidFill>
                <a:latin typeface="Arial"/>
                <a:cs typeface="Arial"/>
              </a:rPr>
              <a:t>lnfern</a:t>
            </a:r>
            <a:endParaRPr sz="850">
              <a:latin typeface="Arial"/>
              <a:cs typeface="Arial"/>
            </a:endParaRPr>
          </a:p>
          <a:p>
            <a:pPr marL="180975" indent="-64135">
              <a:lnSpc>
                <a:spcPct val="100000"/>
              </a:lnSpc>
              <a:spcBef>
                <a:spcPts val="165"/>
              </a:spcBef>
              <a:buClr>
                <a:srgbClr val="112D4D"/>
              </a:buClr>
              <a:buChar char="•"/>
              <a:tabLst>
                <a:tab pos="180975" algn="l"/>
              </a:tabLst>
            </a:pPr>
            <a:r>
              <a:rPr dirty="0" sz="850" spc="-10">
                <a:solidFill>
                  <a:srgbClr val="B1B1B1"/>
                </a:solidFill>
                <a:latin typeface="Arial"/>
                <a:cs typeface="Arial"/>
              </a:rPr>
              <a:t>Loco\ion</a:t>
            </a:r>
            <a:r>
              <a:rPr dirty="0" sz="850" spc="-10">
                <a:solidFill>
                  <a:srgbClr val="8090A1"/>
                </a:solidFill>
                <a:latin typeface="Arial"/>
                <a:cs typeface="Arial"/>
              </a:rPr>
              <a:t>6</a:t>
            </a:r>
            <a:r>
              <a:rPr dirty="0" sz="850" spc="300">
                <a:solidFill>
                  <a:srgbClr val="8090A1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AFAFAF"/>
                </a:solidFill>
                <a:latin typeface="Arial"/>
                <a:cs typeface="Arial"/>
              </a:rPr>
              <a:t>Mode:</a:t>
            </a:r>
            <a:r>
              <a:rPr dirty="0" sz="850" spc="-55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97A3B1"/>
                </a:solidFill>
                <a:latin typeface="Arial"/>
                <a:cs typeface="Arial"/>
              </a:rPr>
              <a:t>Pan</a:t>
            </a:r>
            <a:r>
              <a:rPr dirty="0" sz="850" spc="-90">
                <a:solidFill>
                  <a:srgbClr val="97A3B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1B1B1"/>
                </a:solidFill>
                <a:latin typeface="Arial"/>
                <a:cs typeface="Arial"/>
              </a:rPr>
              <a:t>India,</a:t>
            </a:r>
            <a:r>
              <a:rPr dirty="0" sz="850" spc="-70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FAFAF"/>
                </a:solidFill>
                <a:latin typeface="Arial"/>
                <a:cs typeface="Arial"/>
              </a:rPr>
              <a:t>Hybrid</a:t>
            </a:r>
            <a:endParaRPr sz="850">
              <a:latin typeface="Arial"/>
              <a:cs typeface="Arial"/>
            </a:endParaRPr>
          </a:p>
          <a:p>
            <a:pPr marL="180975" indent="-64135">
              <a:lnSpc>
                <a:spcPct val="100000"/>
              </a:lnSpc>
              <a:spcBef>
                <a:spcPts val="100"/>
              </a:spcBef>
              <a:buClr>
                <a:srgbClr val="112D4D"/>
              </a:buClr>
              <a:buChar char="•"/>
              <a:tabLst>
                <a:tab pos="180975" algn="l"/>
              </a:tabLst>
            </a:pPr>
            <a:r>
              <a:rPr dirty="0" sz="850" spc="-10">
                <a:solidFill>
                  <a:srgbClr val="314966"/>
                </a:solidFill>
                <a:latin typeface="Arial"/>
                <a:cs typeface="Arial"/>
              </a:rPr>
              <a:t>Duratlon</a:t>
            </a:r>
            <a:r>
              <a:rPr dirty="0" sz="850" spc="-45">
                <a:solidFill>
                  <a:srgbClr val="3149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B7C90"/>
                </a:solidFill>
                <a:latin typeface="Arial"/>
                <a:cs typeface="Arial"/>
              </a:rPr>
              <a:t>:</a:t>
            </a:r>
            <a:r>
              <a:rPr dirty="0" sz="850" spc="455">
                <a:solidFill>
                  <a:srgbClr val="6B7C90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344D69"/>
                </a:solidFill>
                <a:latin typeface="Arial"/>
                <a:cs typeface="Arial"/>
              </a:rPr>
              <a:t>\?/OB/2026</a:t>
            </a:r>
            <a:r>
              <a:rPr dirty="0" sz="850" spc="20">
                <a:solidFill>
                  <a:srgbClr val="344D69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8A8A8"/>
                </a:solidFill>
                <a:latin typeface="Arial"/>
                <a:cs typeface="Arial"/>
              </a:rPr>
              <a:t>to</a:t>
            </a:r>
            <a:r>
              <a:rPr dirty="0" sz="850" spc="-2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\7/09</a:t>
            </a:r>
            <a:r>
              <a:rPr dirty="0" sz="850" spc="-10">
                <a:solidFill>
                  <a:srgbClr val="4F647C"/>
                </a:solidFill>
                <a:latin typeface="Arial"/>
                <a:cs typeface="Arial"/>
              </a:rPr>
              <a:t>/202B</a:t>
            </a:r>
            <a:endParaRPr sz="850">
              <a:latin typeface="Arial"/>
              <a:cs typeface="Arial"/>
            </a:endParaRPr>
          </a:p>
          <a:p>
            <a:pPr marL="180340" indent="-63500">
              <a:lnSpc>
                <a:spcPct val="100000"/>
              </a:lnSpc>
              <a:spcBef>
                <a:spcPts val="100"/>
              </a:spcBef>
              <a:buClr>
                <a:srgbClr val="112D4D"/>
              </a:buClr>
              <a:buChar char="•"/>
              <a:tabLst>
                <a:tab pos="180340" algn="l"/>
              </a:tabLst>
            </a:pPr>
            <a:r>
              <a:rPr dirty="0" sz="850" spc="-10">
                <a:solidFill>
                  <a:srgbClr val="909EAC"/>
                </a:solidFill>
                <a:latin typeface="Arial"/>
                <a:cs typeface="Arial"/>
              </a:rPr>
              <a:t>Reportlng</a:t>
            </a:r>
            <a:r>
              <a:rPr dirty="0" sz="850" spc="-45">
                <a:solidFill>
                  <a:srgbClr val="909EAC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67798E"/>
                </a:solidFill>
                <a:latin typeface="Arial"/>
                <a:cs typeface="Arial"/>
              </a:rPr>
              <a:t>to</a:t>
            </a:r>
            <a:r>
              <a:rPr dirty="0" sz="850" spc="-30">
                <a:solidFill>
                  <a:srgbClr val="6B7C90"/>
                </a:solidFill>
                <a:latin typeface="Arial"/>
                <a:cs typeface="Arial"/>
              </a:rPr>
              <a:t>:</a:t>
            </a:r>
            <a:r>
              <a:rPr dirty="0" sz="850" spc="370">
                <a:solidFill>
                  <a:srgbClr val="6B7C9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384F6B"/>
                </a:solidFill>
                <a:latin typeface="Arial"/>
                <a:cs typeface="Arial"/>
              </a:rPr>
              <a:t>Asslgned</a:t>
            </a:r>
            <a:r>
              <a:rPr dirty="0" sz="850" spc="-35">
                <a:solidFill>
                  <a:srgbClr val="384F6B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233B5B"/>
                </a:solidFill>
                <a:latin typeface="Arial"/>
                <a:cs typeface="Arial"/>
              </a:rPr>
              <a:t>Project</a:t>
            </a:r>
            <a:r>
              <a:rPr dirty="0" sz="850" spc="-35">
                <a:solidFill>
                  <a:srgbClr val="233B5B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Head(s)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850">
              <a:latin typeface="Arial"/>
              <a:cs typeface="Arial"/>
            </a:endParaRPr>
          </a:p>
          <a:p>
            <a:pPr algn="just" marL="15240" marR="5080" indent="4445">
              <a:lnSpc>
                <a:spcPct val="109700"/>
              </a:lnSpc>
            </a:pPr>
            <a:r>
              <a:rPr dirty="0" sz="850" spc="-50">
                <a:solidFill>
                  <a:srgbClr val="AEAEAE"/>
                </a:solidFill>
                <a:latin typeface="Arial"/>
                <a:cs typeface="Arial"/>
              </a:rPr>
              <a:t>This</a:t>
            </a:r>
            <a:r>
              <a:rPr dirty="0" sz="850" spc="35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program</a:t>
            </a:r>
            <a:r>
              <a:rPr dirty="0" sz="850" spc="5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97A3B1"/>
                </a:solidFill>
                <a:latin typeface="Arial"/>
                <a:cs typeface="Arial"/>
              </a:rPr>
              <a:t>provides</a:t>
            </a:r>
            <a:r>
              <a:rPr dirty="0" sz="850" spc="20">
                <a:solidFill>
                  <a:srgbClr val="97A3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D4662"/>
                </a:solidFill>
                <a:latin typeface="Arial"/>
                <a:cs typeface="Arial"/>
              </a:rPr>
              <a:t>on</a:t>
            </a:r>
            <a:r>
              <a:rPr dirty="0" sz="850" spc="105">
                <a:solidFill>
                  <a:srgbClr val="2D4662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14966"/>
                </a:solidFill>
                <a:latin typeface="Arial"/>
                <a:cs typeface="Arial"/>
              </a:rPr>
              <a:t>immerslve</a:t>
            </a:r>
            <a:r>
              <a:rPr dirty="0" sz="850" spc="95">
                <a:solidFill>
                  <a:srgbClr val="314966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7B899C"/>
                </a:solidFill>
                <a:latin typeface="Arial"/>
                <a:cs typeface="Arial"/>
              </a:rPr>
              <a:t>experience,</a:t>
            </a:r>
            <a:r>
              <a:rPr dirty="0" sz="850" spc="65">
                <a:solidFill>
                  <a:srgbClr val="7B899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D7087"/>
                </a:solidFill>
                <a:latin typeface="Arial"/>
                <a:cs typeface="Arial"/>
              </a:rPr>
              <a:t>enobllng</a:t>
            </a:r>
            <a:r>
              <a:rPr dirty="0" sz="850" spc="90">
                <a:solidFill>
                  <a:srgbClr val="5D7087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5B5B5"/>
                </a:solidFill>
                <a:latin typeface="Arial"/>
                <a:cs typeface="Arial"/>
              </a:rPr>
              <a:t>you</a:t>
            </a:r>
            <a:r>
              <a:rPr dirty="0" sz="850" spc="50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E7287"/>
                </a:solidFill>
                <a:latin typeface="Arial"/>
                <a:cs typeface="Arial"/>
              </a:rPr>
              <a:t>fa</a:t>
            </a:r>
            <a:r>
              <a:rPr dirty="0" sz="850" spc="-55">
                <a:solidFill>
                  <a:srgbClr val="5E7287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5B5B5"/>
                </a:solidFill>
                <a:latin typeface="Arial"/>
                <a:cs typeface="Arial"/>
              </a:rPr>
              <a:t>gain</a:t>
            </a:r>
            <a:r>
              <a:rPr dirty="0" sz="850" spc="-15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CACAC"/>
                </a:solidFill>
                <a:latin typeface="Arial"/>
                <a:cs typeface="Arial"/>
              </a:rPr>
              <a:t>iAustry-</a:t>
            </a:r>
            <a:r>
              <a:rPr dirty="0" sz="850" spc="-10">
                <a:solidFill>
                  <a:srgbClr val="697B8E"/>
                </a:solidFill>
                <a:latin typeface="Arial"/>
                <a:cs typeface="Arial"/>
              </a:rPr>
              <a:t>level </a:t>
            </a:r>
            <a:r>
              <a:rPr dirty="0" sz="850">
                <a:solidFill>
                  <a:srgbClr val="ACACAC"/>
                </a:solidFill>
                <a:latin typeface="Arial"/>
                <a:cs typeface="Arial"/>
              </a:rPr>
              <a:t>knowledge</a:t>
            </a:r>
            <a:r>
              <a:rPr dirty="0" sz="850" spc="145">
                <a:solidFill>
                  <a:srgbClr val="ACACA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7798E"/>
                </a:solidFill>
                <a:latin typeface="Arial"/>
                <a:cs typeface="Arial"/>
              </a:rPr>
              <a:t>and</a:t>
            </a:r>
            <a:r>
              <a:rPr dirty="0" sz="850" spc="85">
                <a:solidFill>
                  <a:srgbClr val="67798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acquire</a:t>
            </a:r>
            <a:r>
              <a:rPr dirty="0" sz="850" spc="9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B7C90"/>
                </a:solidFill>
                <a:latin typeface="Arial"/>
                <a:cs typeface="Arial"/>
              </a:rPr>
              <a:t>valuable</a:t>
            </a:r>
            <a:r>
              <a:rPr dirty="0" sz="850" spc="165">
                <a:solidFill>
                  <a:srgbClr val="6B7C9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B8B8B8"/>
                </a:solidFill>
                <a:latin typeface="Arial"/>
                <a:cs typeface="Arial"/>
              </a:rPr>
              <a:t>skills.</a:t>
            </a:r>
            <a:r>
              <a:rPr dirty="0" sz="850" spc="7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97A3B1"/>
                </a:solidFill>
                <a:latin typeface="Arial"/>
                <a:cs typeface="Arial"/>
              </a:rPr>
              <a:t>Exceptlonol</a:t>
            </a:r>
            <a:r>
              <a:rPr dirty="0" sz="850" spc="150">
                <a:solidFill>
                  <a:srgbClr val="97A3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Interns</a:t>
            </a:r>
            <a:r>
              <a:rPr dirty="0" sz="850" spc="10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B6E85"/>
                </a:solidFill>
                <a:latin typeface="Arial"/>
                <a:cs typeface="Arial"/>
              </a:rPr>
              <a:t>may</a:t>
            </a:r>
            <a:r>
              <a:rPr dirty="0" sz="850" spc="65">
                <a:solidFill>
                  <a:srgbClr val="5B6E8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F3857"/>
                </a:solidFill>
                <a:latin typeface="Arial"/>
                <a:cs typeface="Arial"/>
              </a:rPr>
              <a:t>also</a:t>
            </a:r>
            <a:r>
              <a:rPr dirty="0" sz="850" spc="125">
                <a:solidFill>
                  <a:srgbClr val="1F3857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quollfy</a:t>
            </a:r>
            <a:r>
              <a:rPr dirty="0" sz="850" spc="19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for</a:t>
            </a:r>
            <a:r>
              <a:rPr dirty="0" sz="850" spc="8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B8B8B8"/>
                </a:solidFill>
                <a:latin typeface="Arial"/>
                <a:cs typeface="Arial"/>
              </a:rPr>
              <a:t>a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scholarship</a:t>
            </a:r>
            <a:r>
              <a:rPr dirty="0" sz="850" spc="229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award</a:t>
            </a:r>
            <a:r>
              <a:rPr dirty="0" sz="850" spc="135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3B3B3"/>
                </a:solidFill>
                <a:latin typeface="Arial"/>
                <a:cs typeface="Arial"/>
              </a:rPr>
              <a:t>based</a:t>
            </a:r>
            <a:r>
              <a:rPr dirty="0" sz="850" spc="145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D6E85"/>
                </a:solidFill>
                <a:latin typeface="Arial"/>
                <a:cs typeface="Arial"/>
              </a:rPr>
              <a:t>on</a:t>
            </a:r>
            <a:r>
              <a:rPr dirty="0" sz="850" spc="95">
                <a:solidFill>
                  <a:srgbClr val="5D6E8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4758A"/>
                </a:solidFill>
                <a:latin typeface="Arial"/>
                <a:cs typeface="Arial"/>
              </a:rPr>
              <a:t>weeLly</a:t>
            </a:r>
            <a:r>
              <a:rPr dirty="0" sz="850" spc="140">
                <a:solidFill>
                  <a:srgbClr val="64758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FAFAF"/>
                </a:solidFill>
                <a:latin typeface="Arial"/>
                <a:cs typeface="Arial"/>
              </a:rPr>
              <a:t>performance</a:t>
            </a:r>
            <a:r>
              <a:rPr dirty="0" sz="850" spc="215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revlews</a:t>
            </a:r>
            <a:r>
              <a:rPr dirty="0" sz="850" spc="18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conduMed</a:t>
            </a:r>
            <a:r>
              <a:rPr dirty="0" sz="850" spc="170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8290A1"/>
                </a:solidFill>
                <a:latin typeface="Arial"/>
                <a:cs typeface="Arial"/>
              </a:rPr>
              <a:t>by</a:t>
            </a:r>
            <a:r>
              <a:rPr dirty="0" sz="850" spc="155">
                <a:solidFill>
                  <a:srgbClr val="8290A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1B1B1"/>
                </a:solidFill>
                <a:latin typeface="Arial"/>
                <a:cs typeface="Arial"/>
              </a:rPr>
              <a:t>project </a:t>
            </a:r>
            <a:r>
              <a:rPr dirty="0" sz="850" spc="-10">
                <a:solidFill>
                  <a:srgbClr val="B3B3B3"/>
                </a:solidFill>
                <a:latin typeface="Arial"/>
                <a:cs typeface="Arial"/>
              </a:rPr>
              <a:t>supervisor.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850">
              <a:latin typeface="Arial"/>
              <a:cs typeface="Arial"/>
            </a:endParaRPr>
          </a:p>
          <a:p>
            <a:pPr marL="15240" marR="19685" indent="-3175">
              <a:lnSpc>
                <a:spcPct val="109700"/>
              </a:lnSpc>
            </a:pPr>
            <a:r>
              <a:rPr dirty="0" sz="850">
                <a:solidFill>
                  <a:srgbClr val="5D7085"/>
                </a:solidFill>
                <a:latin typeface="Arial"/>
                <a:cs typeface="Arial"/>
              </a:rPr>
              <a:t>If</a:t>
            </a:r>
            <a:r>
              <a:rPr dirty="0" sz="850" spc="254">
                <a:solidFill>
                  <a:srgbClr val="5D708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ABABA"/>
                </a:solidFill>
                <a:latin typeface="Arial"/>
                <a:cs typeface="Arial"/>
              </a:rPr>
              <a:t>you</a:t>
            </a:r>
            <a:r>
              <a:rPr dirty="0" sz="850" spc="235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accept</a:t>
            </a:r>
            <a:r>
              <a:rPr dirty="0" sz="850" spc="275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7798E"/>
                </a:solidFill>
                <a:latin typeface="Arial"/>
                <a:cs typeface="Arial"/>
              </a:rPr>
              <a:t>this</a:t>
            </a:r>
            <a:r>
              <a:rPr dirty="0" sz="850" spc="195">
                <a:solidFill>
                  <a:srgbClr val="67798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65B75"/>
                </a:solidFill>
                <a:latin typeface="Arial"/>
                <a:cs typeface="Arial"/>
              </a:rPr>
              <a:t>offer</a:t>
            </a:r>
            <a:r>
              <a:rPr dirty="0" sz="850" spc="300">
                <a:solidFill>
                  <a:srgbClr val="465B7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2F4F"/>
                </a:solidFill>
                <a:latin typeface="Arial"/>
                <a:cs typeface="Arial"/>
              </a:rPr>
              <a:t>and</a:t>
            </a:r>
            <a:r>
              <a:rPr dirty="0" sz="850" spc="170">
                <a:solidFill>
                  <a:srgbClr val="132F4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7798E"/>
                </a:solidFill>
                <a:latin typeface="Arial"/>
                <a:cs typeface="Arial"/>
              </a:rPr>
              <a:t>the</a:t>
            </a:r>
            <a:r>
              <a:rPr dirty="0" sz="850" spc="220">
                <a:solidFill>
                  <a:srgbClr val="67798E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5B5B5"/>
                </a:solidFill>
                <a:latin typeface="Arial"/>
                <a:cs typeface="Arial"/>
              </a:rPr>
              <a:t>rerms</a:t>
            </a:r>
            <a:r>
              <a:rPr dirty="0" sz="850" spc="210">
                <a:solidFill>
                  <a:srgbClr val="B5B5B5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above,</a:t>
            </a:r>
            <a:r>
              <a:rPr dirty="0" sz="850" spc="21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8B8B8"/>
                </a:solidFill>
                <a:latin typeface="Arial"/>
                <a:cs typeface="Arial"/>
              </a:rPr>
              <a:t>please</a:t>
            </a:r>
            <a:r>
              <a:rPr dirty="0" sz="850" spc="220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FAFAF"/>
                </a:solidFill>
                <a:latin typeface="Arial"/>
                <a:cs typeface="Arial"/>
              </a:rPr>
              <a:t>complete</a:t>
            </a:r>
            <a:r>
              <a:rPr dirty="0" sz="850" spc="24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your</a:t>
            </a:r>
            <a:r>
              <a:rPr dirty="0" sz="850" spc="305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5B5B5"/>
                </a:solidFill>
                <a:latin typeface="Arial"/>
                <a:cs typeface="Arial"/>
              </a:rPr>
              <a:t>osslgned </a:t>
            </a:r>
            <a:r>
              <a:rPr dirty="0" sz="850">
                <a:solidFill>
                  <a:srgbClr val="B1B1B1"/>
                </a:solidFill>
                <a:latin typeface="Arial"/>
                <a:cs typeface="Arial"/>
              </a:rPr>
              <a:t>projects</a:t>
            </a:r>
            <a:r>
              <a:rPr dirty="0" sz="850" spc="40">
                <a:solidFill>
                  <a:srgbClr val="B1B1B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52F50"/>
                </a:solidFill>
                <a:latin typeface="Arial"/>
                <a:cs typeface="Arial"/>
              </a:rPr>
              <a:t>and</a:t>
            </a:r>
            <a:r>
              <a:rPr dirty="0" sz="850" spc="5">
                <a:solidFill>
                  <a:srgbClr val="152F5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07289"/>
                </a:solidFill>
                <a:latin typeface="Arial"/>
                <a:cs typeface="Arial"/>
              </a:rPr>
              <a:t>training</a:t>
            </a:r>
            <a:r>
              <a:rPr dirty="0" sz="850" spc="40">
                <a:solidFill>
                  <a:srgbClr val="607289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B3B3B3"/>
                </a:solidFill>
                <a:latin typeface="Arial"/>
                <a:cs typeface="Arial"/>
              </a:rPr>
              <a:t>tosLs</a:t>
            </a:r>
            <a:r>
              <a:rPr dirty="0" sz="850" spc="5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9CA8B5"/>
                </a:solidFill>
                <a:latin typeface="Arial"/>
                <a:cs typeface="Arial"/>
              </a:rPr>
              <a:t>on</a:t>
            </a:r>
            <a:r>
              <a:rPr dirty="0" sz="850" spc="-20">
                <a:solidFill>
                  <a:srgbClr val="9CA8B5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8B8B8"/>
                </a:solidFill>
                <a:latin typeface="Arial"/>
                <a:cs typeface="Arial"/>
              </a:rPr>
              <a:t>our</a:t>
            </a:r>
            <a:r>
              <a:rPr dirty="0" sz="850" spc="35">
                <a:solidFill>
                  <a:srgbClr val="B8B8B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FAFAF"/>
                </a:solidFill>
                <a:latin typeface="Arial"/>
                <a:cs typeface="Arial"/>
              </a:rPr>
              <a:t>platform</a:t>
            </a:r>
            <a:r>
              <a:rPr dirty="0" sz="850" spc="15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52F50"/>
                </a:solidFill>
                <a:latin typeface="Arial"/>
                <a:cs typeface="Arial"/>
              </a:rPr>
              <a:t>and</a:t>
            </a:r>
            <a:r>
              <a:rPr dirty="0" sz="850" spc="5">
                <a:solidFill>
                  <a:srgbClr val="152F5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A4460"/>
                </a:solidFill>
                <a:latin typeface="Arial"/>
                <a:cs typeface="Arial"/>
              </a:rPr>
              <a:t>vlo</a:t>
            </a:r>
            <a:r>
              <a:rPr dirty="0" sz="850" spc="15">
                <a:solidFill>
                  <a:srgbClr val="2A446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EAEAE"/>
                </a:solidFill>
                <a:latin typeface="Arial"/>
                <a:cs typeface="Arial"/>
              </a:rPr>
              <a:t>email.</a:t>
            </a:r>
            <a:endParaRPr sz="8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65"/>
              </a:spcBef>
            </a:pPr>
            <a:r>
              <a:rPr dirty="0" sz="850" spc="-20">
                <a:solidFill>
                  <a:srgbClr val="5D7085"/>
                </a:solidFill>
                <a:latin typeface="Arial"/>
                <a:cs typeface="Arial"/>
              </a:rPr>
              <a:t>Best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1306" y="4999659"/>
            <a:ext cx="1475740" cy="8280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25"/>
              </a:spcBef>
            </a:pPr>
            <a:r>
              <a:rPr dirty="0" sz="850" spc="-10">
                <a:solidFill>
                  <a:srgbClr val="415670"/>
                </a:solidFill>
                <a:latin typeface="Arial"/>
                <a:cs typeface="Arial"/>
              </a:rPr>
              <a:t>sincerely,</a:t>
            </a:r>
            <a:endParaRPr sz="8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29"/>
              </a:spcBef>
            </a:pPr>
            <a:r>
              <a:rPr dirty="0" sz="850" i="1">
                <a:solidFill>
                  <a:srgbClr val="CACACA"/>
                </a:solidFill>
                <a:latin typeface="Arial"/>
                <a:cs typeface="Arial"/>
              </a:rPr>
              <a:t>a</a:t>
            </a:r>
            <a:r>
              <a:rPr dirty="0" sz="850" spc="60" i="1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dirty="0" sz="850" spc="-100" i="1">
                <a:solidFill>
                  <a:srgbClr val="CACACA"/>
                </a:solidFill>
                <a:latin typeface="Arial"/>
                <a:cs typeface="Arial"/>
              </a:rPr>
              <a:t>.</a:t>
            </a:r>
            <a:r>
              <a:rPr dirty="0" sz="850" spc="-5" i="1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425972"/>
                </a:solidFill>
                <a:latin typeface="Arial"/>
                <a:cs typeface="Arial"/>
              </a:rPr>
              <a:t>Anurog</a:t>
            </a:r>
            <a:r>
              <a:rPr dirty="0" sz="850" spc="40">
                <a:solidFill>
                  <a:srgbClr val="425972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1B1B1"/>
                </a:solidFill>
                <a:latin typeface="Arial"/>
                <a:cs typeface="Arial"/>
              </a:rPr>
              <a:t>shrivostovo,</a:t>
            </a:r>
            <a:endParaRPr sz="850">
              <a:latin typeface="Arial"/>
              <a:cs typeface="Arial"/>
            </a:endParaRPr>
          </a:p>
          <a:p>
            <a:pPr marL="12700" marR="5080" indent="3810">
              <a:lnSpc>
                <a:spcPct val="122600"/>
              </a:lnSpc>
              <a:spcBef>
                <a:spcPts val="65"/>
              </a:spcBef>
            </a:pPr>
            <a:r>
              <a:rPr dirty="0" sz="850">
                <a:solidFill>
                  <a:srgbClr val="64758C"/>
                </a:solidFill>
                <a:latin typeface="Arial"/>
                <a:cs typeface="Arial"/>
              </a:rPr>
              <a:t>codec</a:t>
            </a:r>
            <a:r>
              <a:rPr dirty="0" sz="850" spc="95">
                <a:solidFill>
                  <a:srgbClr val="64758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EAEAE"/>
                </a:solidFill>
                <a:latin typeface="Arial"/>
                <a:cs typeface="Arial"/>
              </a:rPr>
              <a:t>Technologies</a:t>
            </a:r>
            <a:r>
              <a:rPr dirty="0" sz="850" spc="50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314966"/>
                </a:solidFill>
                <a:latin typeface="Arial"/>
                <a:cs typeface="Arial"/>
              </a:rPr>
              <a:t>India</a:t>
            </a:r>
            <a:r>
              <a:rPr dirty="0" sz="850" spc="500">
                <a:solidFill>
                  <a:srgbClr val="314966"/>
                </a:solidFill>
                <a:latin typeface="Arial"/>
                <a:cs typeface="Arial"/>
              </a:rPr>
              <a:t> </a:t>
            </a:r>
            <a:r>
              <a:rPr dirty="0" sz="850" spc="-75">
                <a:solidFill>
                  <a:srgbClr val="5D7087"/>
                </a:solidFill>
                <a:latin typeface="Arial"/>
                <a:cs typeface="Arial"/>
              </a:rPr>
              <a:t>NCS</a:t>
            </a:r>
            <a:r>
              <a:rPr dirty="0" sz="850" spc="55">
                <a:solidFill>
                  <a:srgbClr val="5D7087"/>
                </a:solidFill>
                <a:latin typeface="Arial"/>
                <a:cs typeface="Arial"/>
              </a:rPr>
              <a:t> </a:t>
            </a:r>
            <a:r>
              <a:rPr dirty="0" sz="850" spc="-170">
                <a:solidFill>
                  <a:srgbClr val="C4C4C4"/>
                </a:solidFill>
                <a:latin typeface="Arial"/>
                <a:cs typeface="Arial"/>
              </a:rPr>
              <a:t>TD:</a:t>
            </a:r>
            <a:r>
              <a:rPr dirty="0" sz="850" spc="-30">
                <a:solidFill>
                  <a:srgbClr val="C4C4C4"/>
                </a:solidFill>
                <a:latin typeface="Arial"/>
                <a:cs typeface="Arial"/>
              </a:rPr>
              <a:t> </a:t>
            </a:r>
            <a:r>
              <a:rPr dirty="0" sz="850" spc="-45">
                <a:solidFill>
                  <a:srgbClr val="BABABA"/>
                </a:solidFill>
                <a:latin typeface="Arial"/>
                <a:cs typeface="Arial"/>
              </a:rPr>
              <a:t>Et8E8B-</a:t>
            </a:r>
            <a:r>
              <a:rPr dirty="0" sz="850" spc="-35">
                <a:solidFill>
                  <a:srgbClr val="BABABA"/>
                </a:solidFill>
                <a:latin typeface="Arial"/>
                <a:cs typeface="Arial"/>
              </a:rPr>
              <a:t>0t16588288823</a:t>
            </a:r>
            <a:endParaRPr sz="8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29"/>
              </a:spcBef>
            </a:pPr>
            <a:r>
              <a:rPr dirty="0" sz="850">
                <a:solidFill>
                  <a:srgbClr val="5D7087"/>
                </a:solidFill>
                <a:latin typeface="Arial"/>
                <a:cs typeface="Arial"/>
              </a:rPr>
              <a:t>oote</a:t>
            </a:r>
            <a:r>
              <a:rPr dirty="0" sz="850" spc="-55">
                <a:solidFill>
                  <a:srgbClr val="5D7087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AEAEAE"/>
                </a:solidFill>
                <a:latin typeface="Arial"/>
                <a:cs typeface="Arial"/>
              </a:rPr>
              <a:t>of</a:t>
            </a:r>
            <a:r>
              <a:rPr dirty="0" sz="850" spc="90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B3B3B3"/>
                </a:solidFill>
                <a:latin typeface="Arial"/>
                <a:cs typeface="Arial"/>
              </a:rPr>
              <a:t>Issue</a:t>
            </a:r>
            <a:r>
              <a:rPr dirty="0" sz="850" spc="7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dirty="0" sz="850" spc="-530">
                <a:solidFill>
                  <a:srgbClr val="607289"/>
                </a:solidFill>
                <a:latin typeface="Arial"/>
                <a:cs typeface="Arial"/>
              </a:rPr>
              <a:t>—</a:t>
            </a:r>
            <a:r>
              <a:rPr dirty="0" sz="850" spc="40">
                <a:solidFill>
                  <a:srgbClr val="607289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B3B3B3"/>
                </a:solidFill>
                <a:latin typeface="Arial"/>
                <a:cs typeface="Arial"/>
              </a:rPr>
              <a:t>t7/08/2028</a:t>
            </a:r>
            <a:endParaRPr sz="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8769" y="5136546"/>
            <a:ext cx="693532" cy="7103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8853" y="5270251"/>
            <a:ext cx="752023" cy="25069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740664" y="5485732"/>
            <a:ext cx="108712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10">
                <a:solidFill>
                  <a:srgbClr val="132F4F"/>
                </a:solidFill>
                <a:latin typeface="Arial"/>
                <a:cs typeface="Arial"/>
              </a:rPr>
              <a:t>Dr.Auu*xgshrnmetsva</a:t>
            </a:r>
            <a:endParaRPr sz="8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3920" y="5696436"/>
            <a:ext cx="760378" cy="6685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246156" y="6024730"/>
            <a:ext cx="1116330" cy="3492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9685">
              <a:lnSpc>
                <a:spcPts val="990"/>
              </a:lnSpc>
              <a:spcBef>
                <a:spcPts val="114"/>
              </a:spcBef>
            </a:pPr>
            <a:r>
              <a:rPr dirty="0" sz="850" spc="-10">
                <a:solidFill>
                  <a:srgbClr val="646464"/>
                </a:solidFill>
                <a:latin typeface="Arial"/>
                <a:cs typeface="Arial"/>
              </a:rPr>
              <a:t>Goog1e</a:t>
            </a:r>
            <a:r>
              <a:rPr dirty="0" sz="850" spc="25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46464"/>
                </a:solidFill>
                <a:latin typeface="Arial"/>
                <a:cs typeface="Arial"/>
              </a:rPr>
              <a:t>for</a:t>
            </a:r>
            <a:r>
              <a:rPr dirty="0" sz="850" spc="5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797979"/>
                </a:solidFill>
                <a:latin typeface="Arial"/>
                <a:cs typeface="Arial"/>
              </a:rPr>
              <a:t>E</a:t>
            </a:r>
            <a:r>
              <a:rPr dirty="0" sz="850" spc="-10">
                <a:solidFill>
                  <a:srgbClr val="545454"/>
                </a:solidFill>
                <a:latin typeface="Arial"/>
                <a:cs typeface="Arial"/>
              </a:rPr>
              <a:t>duration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530"/>
              </a:lnSpc>
            </a:pPr>
            <a:r>
              <a:rPr dirty="0" sz="1300" spc="-10">
                <a:solidFill>
                  <a:srgbClr val="494949"/>
                </a:solidFill>
                <a:latin typeface="Arial"/>
                <a:cs typeface="Arial"/>
              </a:rPr>
              <a:t>Partner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8448" y="6089194"/>
            <a:ext cx="1128034" cy="35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28981" y="6632371"/>
            <a:ext cx="133693" cy="14206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37063" y="6623618"/>
            <a:ext cx="96202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5">
                <a:solidFill>
                  <a:srgbClr val="AEAEAE"/>
                </a:solidFill>
                <a:latin typeface="Arial"/>
                <a:cs typeface="Arial"/>
              </a:rPr>
              <a:t>urur+voode&lt;ñaoImoIc•giea</a:t>
            </a:r>
            <a:r>
              <a:rPr dirty="0" sz="600" spc="165">
                <a:solidFill>
                  <a:srgbClr val="AEAEAE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F647C"/>
                </a:solidFill>
                <a:latin typeface="Arial"/>
                <a:cs typeface="Arial"/>
              </a:rPr>
              <a:t>in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50988" y="6623618"/>
            <a:ext cx="111950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AAAAAA"/>
                </a:solidFill>
                <a:latin typeface="Arial"/>
                <a:cs typeface="Arial"/>
              </a:rPr>
              <a:t>e</a:t>
            </a:r>
            <a:r>
              <a:rPr dirty="0" sz="600" spc="125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AAAAAA"/>
                </a:solidFill>
                <a:latin typeface="Arial"/>
                <a:cs typeface="Arial"/>
              </a:rPr>
              <a:t>ppsrt@codectenhnoki@s.In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95280" y="6623618"/>
            <a:ext cx="97218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425972"/>
                </a:solidFill>
                <a:latin typeface="Arial"/>
                <a:cs typeface="Arial"/>
              </a:rPr>
              <a:t>Chendi¥eli</a:t>
            </a:r>
            <a:r>
              <a:rPr dirty="0" sz="600" spc="90">
                <a:solidFill>
                  <a:srgbClr val="425972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7B899C"/>
                </a:solidFill>
                <a:latin typeface="Arial"/>
                <a:cs typeface="Arial"/>
              </a:rPr>
              <a:t>IT</a:t>
            </a:r>
            <a:r>
              <a:rPr dirty="0" sz="600" spc="65">
                <a:solidFill>
                  <a:srgbClr val="7B899C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AAAAAA"/>
                </a:solidFill>
                <a:latin typeface="Arial"/>
                <a:cs typeface="Arial"/>
              </a:rPr>
              <a:t>hub.</a:t>
            </a:r>
            <a:r>
              <a:rPr dirty="0" sz="600" spc="-4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728297"/>
                </a:solidFill>
                <a:latin typeface="Arial"/>
                <a:cs typeface="Arial"/>
              </a:rPr>
              <a:t>Plumbed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4284" y="901218"/>
            <a:ext cx="859627" cy="6340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4317" y="5638091"/>
            <a:ext cx="603568" cy="7986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1154" y="5546646"/>
            <a:ext cx="1188846" cy="37187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" y="6784207"/>
            <a:ext cx="10742295" cy="7315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4136" y="422653"/>
            <a:ext cx="119380" cy="6423025"/>
            <a:chOff x="564136" y="422653"/>
            <a:chExt cx="119380" cy="6423025"/>
          </a:xfrm>
        </p:grpSpPr>
        <p:sp>
          <p:nvSpPr>
            <p:cNvPr id="7" name="object 7"/>
            <p:cNvSpPr/>
            <p:nvPr/>
          </p:nvSpPr>
          <p:spPr>
            <a:xfrm>
              <a:off x="565660" y="422653"/>
              <a:ext cx="0" cy="6423025"/>
            </a:xfrm>
            <a:custGeom>
              <a:avLst/>
              <a:gdLst/>
              <a:ahLst/>
              <a:cxnLst/>
              <a:rect l="l" t="t" r="r" b="b"/>
              <a:pathLst>
                <a:path w="0" h="6423025">
                  <a:moveTo>
                    <a:pt x="0" y="64225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8337" y="422653"/>
              <a:ext cx="0" cy="6355715"/>
            </a:xfrm>
            <a:custGeom>
              <a:avLst/>
              <a:gdLst/>
              <a:ahLst/>
              <a:cxnLst/>
              <a:rect l="l" t="t" r="r" b="b"/>
              <a:pathLst>
                <a:path w="0" h="6355715">
                  <a:moveTo>
                    <a:pt x="0" y="63554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4917" y="422653"/>
              <a:ext cx="0" cy="6355715"/>
            </a:xfrm>
            <a:custGeom>
              <a:avLst/>
              <a:gdLst/>
              <a:ahLst/>
              <a:cxnLst/>
              <a:rect l="l" t="t" r="r" b="b"/>
              <a:pathLst>
                <a:path w="0" h="6355715">
                  <a:moveTo>
                    <a:pt x="0" y="63554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1497" y="422653"/>
              <a:ext cx="0" cy="6355715"/>
            </a:xfrm>
            <a:custGeom>
              <a:avLst/>
              <a:gdLst/>
              <a:ahLst/>
              <a:cxnLst/>
              <a:rect l="l" t="t" r="r" b="b"/>
              <a:pathLst>
                <a:path w="0" h="6355715">
                  <a:moveTo>
                    <a:pt x="0" y="63554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22425" y="949989"/>
            <a:ext cx="1316875" cy="23775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10231" y="1321866"/>
            <a:ext cx="1816801" cy="10668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9044575" y="855496"/>
            <a:ext cx="94615" cy="668020"/>
            <a:chOff x="9044575" y="855496"/>
            <a:chExt cx="94615" cy="668020"/>
          </a:xfrm>
        </p:grpSpPr>
        <p:sp>
          <p:nvSpPr>
            <p:cNvPr id="21" name="object 21"/>
            <p:cNvSpPr/>
            <p:nvPr/>
          </p:nvSpPr>
          <p:spPr>
            <a:xfrm>
              <a:off x="9046099" y="855496"/>
              <a:ext cx="0" cy="594995"/>
            </a:xfrm>
            <a:custGeom>
              <a:avLst/>
              <a:gdLst/>
              <a:ahLst/>
              <a:cxnLst/>
              <a:rect l="l" t="t" r="r" b="b"/>
              <a:pathLst>
                <a:path w="0" h="594994">
                  <a:moveTo>
                    <a:pt x="0" y="5943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070485" y="855496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w="0" h="619125">
                  <a:moveTo>
                    <a:pt x="0" y="6187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094873" y="855496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w="0" h="649605">
                  <a:moveTo>
                    <a:pt x="0" y="6492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119259" y="855496"/>
              <a:ext cx="0" cy="668020"/>
            </a:xfrm>
            <a:custGeom>
              <a:avLst/>
              <a:gdLst/>
              <a:ahLst/>
              <a:cxnLst/>
              <a:rect l="l" t="t" r="r" b="b"/>
              <a:pathLst>
                <a:path w="0" h="668019">
                  <a:moveTo>
                    <a:pt x="0" y="6675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37548" y="855496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w="0" h="497205">
                  <a:moveTo>
                    <a:pt x="0" y="4968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168572" y="570745"/>
            <a:ext cx="1413510" cy="8839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100"/>
              </a:spcBef>
            </a:pPr>
            <a:r>
              <a:rPr dirty="0" baseline="-18518" sz="2925">
                <a:solidFill>
                  <a:srgbClr val="4B4B4B"/>
                </a:solidFill>
                <a:latin typeface="Calibri"/>
                <a:cs typeface="Calibri"/>
              </a:rPr>
              <a:t>a</a:t>
            </a:r>
            <a:r>
              <a:rPr dirty="0" baseline="-18518" sz="2925">
                <a:solidFill>
                  <a:srgbClr val="4B4B4B"/>
                </a:solidFill>
                <a:latin typeface="Calibri"/>
                <a:cs typeface="Calibri"/>
              </a:rPr>
              <a:t>,</a:t>
            </a:r>
            <a:r>
              <a:rPr dirty="0" sz="1950">
                <a:solidFill>
                  <a:srgbClr val="595959"/>
                </a:solidFill>
                <a:latin typeface="Calibri"/>
                <a:cs typeface="Calibri"/>
              </a:rPr>
              <a:t>h-</a:t>
            </a:r>
            <a:endParaRPr sz="19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075"/>
              </a:spcBef>
            </a:pPr>
            <a:r>
              <a:rPr dirty="0" sz="1950" spc="70">
                <a:solidFill>
                  <a:srgbClr val="385EE8"/>
                </a:solidFill>
                <a:latin typeface="Calibri"/>
                <a:cs typeface="Calibri"/>
              </a:rPr>
              <a:t>INTERNSHIP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38960" y="2195569"/>
            <a:ext cx="3599179" cy="1036319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900" spc="795">
                <a:solidFill>
                  <a:srgbClr val="343434"/>
                </a:solidFill>
                <a:latin typeface="Arial"/>
                <a:cs typeface="Arial"/>
              </a:rPr>
              <a:t>CERTIFICATE</a:t>
            </a:r>
            <a:endParaRPr sz="2900">
              <a:latin typeface="Arial"/>
              <a:cs typeface="Arial"/>
            </a:endParaRPr>
          </a:p>
          <a:p>
            <a:pPr marL="1324610">
              <a:lnSpc>
                <a:spcPct val="100000"/>
              </a:lnSpc>
              <a:spcBef>
                <a:spcPts val="665"/>
              </a:spcBef>
            </a:pPr>
            <a:r>
              <a:rPr dirty="0" sz="2400" spc="105">
                <a:latin typeface="Times New Roman"/>
                <a:cs typeface="Times New Roman"/>
              </a:rPr>
              <a:t>O</a:t>
            </a:r>
            <a:r>
              <a:rPr dirty="0" sz="2550" spc="105">
                <a:latin typeface="Times New Roman"/>
                <a:cs typeface="Times New Roman"/>
              </a:rPr>
              <a:t>F</a:t>
            </a:r>
            <a:r>
              <a:rPr dirty="0" sz="2550" spc="-55">
                <a:latin typeface="Times New Roman"/>
                <a:cs typeface="Times New Roman"/>
              </a:rPr>
              <a:t> </a:t>
            </a:r>
            <a:r>
              <a:rPr dirty="0" sz="2550" spc="-100">
                <a:latin typeface="Times New Roman"/>
                <a:cs typeface="Times New Roman"/>
              </a:rPr>
              <a:t>fHTERHSH›P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85581" y="2105249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9163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6182203" y="2119665"/>
            <a:ext cx="4011295" cy="983615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900" spc="-290" b="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dirty="0" sz="2900" spc="-13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900" spc="-145" b="0">
                <a:solidFill>
                  <a:srgbClr val="000000"/>
                </a:solidFill>
                <a:latin typeface="Arial"/>
                <a:cs typeface="Arial"/>
              </a:rPr>
              <a:t>certificate</a:t>
            </a:r>
            <a:r>
              <a:rPr dirty="0" sz="2900" spc="-7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900" spc="-155" b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2900" spc="-22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900" spc="-275" b="0">
                <a:solidFill>
                  <a:srgbClr val="000000"/>
                </a:solidFill>
                <a:latin typeface="Arial"/>
                <a:cs typeface="Arial"/>
              </a:rPr>
              <a:t>awarded</a:t>
            </a:r>
            <a:r>
              <a:rPr dirty="0" sz="2900" spc="-9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900" spc="-25" b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endParaRPr sz="29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470"/>
              </a:spcBef>
            </a:pPr>
            <a:r>
              <a:rPr dirty="0" sz="2550" spc="60" b="0">
                <a:solidFill>
                  <a:srgbClr val="000000"/>
                </a:solidFill>
                <a:latin typeface="Times New Roman"/>
                <a:cs typeface="Times New Roman"/>
              </a:rPr>
              <a:t>Vaishnavi</a:t>
            </a:r>
            <a:r>
              <a:rPr dirty="0" sz="2550" spc="2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550" spc="180" b="0">
                <a:solidFill>
                  <a:srgbClr val="000000"/>
                </a:solidFill>
                <a:latin typeface="Times New Roman"/>
                <a:cs typeface="Times New Roman"/>
              </a:rPr>
              <a:t>Sharma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1086" y="5921572"/>
            <a:ext cx="2524013" cy="20422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875841" y="5628946"/>
            <a:ext cx="0" cy="753110"/>
          </a:xfrm>
          <a:custGeom>
            <a:avLst/>
            <a:gdLst/>
            <a:ahLst/>
            <a:cxnLst/>
            <a:rect l="l" t="t" r="r" b="b"/>
            <a:pathLst>
              <a:path w="0" h="753110">
                <a:moveTo>
                  <a:pt x="0" y="752900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05060" y="5677717"/>
            <a:ext cx="0" cy="466725"/>
          </a:xfrm>
          <a:custGeom>
            <a:avLst/>
            <a:gdLst/>
            <a:ahLst/>
            <a:cxnLst/>
            <a:rect l="l" t="t" r="r" b="b"/>
            <a:pathLst>
              <a:path w="0" h="466725">
                <a:moveTo>
                  <a:pt x="0" y="466371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96510" y="5702103"/>
            <a:ext cx="0" cy="680085"/>
          </a:xfrm>
          <a:custGeom>
            <a:avLst/>
            <a:gdLst/>
            <a:ahLst/>
            <a:cxnLst/>
            <a:rect l="l" t="t" r="r" b="b"/>
            <a:pathLst>
              <a:path w="0" h="680085">
                <a:moveTo>
                  <a:pt x="0" y="679744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12346" y="5805741"/>
            <a:ext cx="0" cy="619125"/>
          </a:xfrm>
          <a:custGeom>
            <a:avLst/>
            <a:gdLst/>
            <a:ahLst/>
            <a:cxnLst/>
            <a:rect l="l" t="t" r="r" b="b"/>
            <a:pathLst>
              <a:path w="0" h="619125">
                <a:moveTo>
                  <a:pt x="0" y="618780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67216" y="5628946"/>
            <a:ext cx="0" cy="600710"/>
          </a:xfrm>
          <a:custGeom>
            <a:avLst/>
            <a:gdLst/>
            <a:ahLst/>
            <a:cxnLst/>
            <a:rect l="l" t="t" r="r" b="b"/>
            <a:pathLst>
              <a:path w="0" h="600710">
                <a:moveTo>
                  <a:pt x="0" y="600491"/>
                </a:moveTo>
                <a:lnTo>
                  <a:pt x="0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667644" y="3599570"/>
            <a:ext cx="8479790" cy="225044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2178050">
              <a:lnSpc>
                <a:spcPct val="100000"/>
              </a:lnSpc>
              <a:spcBef>
                <a:spcPts val="1265"/>
              </a:spcBef>
            </a:pPr>
            <a:r>
              <a:rPr dirty="0" sz="1800" spc="90" i="1">
                <a:latin typeface="Arial"/>
                <a:cs typeface="Arial"/>
              </a:rPr>
              <a:t>From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70" i="1">
                <a:latin typeface="Arial"/>
                <a:cs typeface="Arial"/>
              </a:rPr>
              <a:t>Codec</a:t>
            </a:r>
            <a:r>
              <a:rPr dirty="0" sz="1800" spc="165" i="1">
                <a:latin typeface="Arial"/>
                <a:cs typeface="Arial"/>
              </a:rPr>
              <a:t> </a:t>
            </a:r>
            <a:r>
              <a:rPr dirty="0" sz="1800" spc="80">
                <a:latin typeface="Arial"/>
                <a:cs typeface="Arial"/>
              </a:rPr>
              <a:t>7echno/ogies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 spc="120">
                <a:latin typeface="Arial"/>
                <a:cs typeface="Arial"/>
              </a:rPr>
              <a:t>Pvt.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85">
                <a:latin typeface="Arial"/>
                <a:cs typeface="Arial"/>
              </a:rPr>
              <a:t>Ltd.</a:t>
            </a:r>
            <a:endParaRPr sz="1800">
              <a:latin typeface="Arial"/>
              <a:cs typeface="Arial"/>
            </a:endParaRPr>
          </a:p>
          <a:p>
            <a:pPr algn="ctr" marL="12700" marR="5080">
              <a:lnSpc>
                <a:spcPct val="133300"/>
              </a:lnSpc>
              <a:spcBef>
                <a:spcPts val="375"/>
              </a:spcBef>
            </a:pPr>
            <a:r>
              <a:rPr dirty="0" sz="1500" spc="90">
                <a:latin typeface="Arial"/>
                <a:cs typeface="Arial"/>
              </a:rPr>
              <a:t>In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75">
                <a:latin typeface="Arial"/>
                <a:cs typeface="Arial"/>
              </a:rPr>
              <a:t>recognition</a:t>
            </a:r>
            <a:r>
              <a:rPr dirty="0" sz="1500" spc="135">
                <a:latin typeface="Arial"/>
                <a:cs typeface="Arial"/>
              </a:rPr>
              <a:t> </a:t>
            </a:r>
            <a:r>
              <a:rPr dirty="0" sz="1500" spc="50">
                <a:latin typeface="Arial"/>
                <a:cs typeface="Arial"/>
              </a:rPr>
              <a:t>of</a:t>
            </a:r>
            <a:r>
              <a:rPr dirty="0" sz="1500" spc="45">
                <a:latin typeface="Arial"/>
                <a:cs typeface="Arial"/>
              </a:rPr>
              <a:t> his/her</a:t>
            </a:r>
            <a:r>
              <a:rPr dirty="0" sz="1500" spc="114">
                <a:latin typeface="Arial"/>
                <a:cs typeface="Arial"/>
              </a:rPr>
              <a:t> </a:t>
            </a:r>
            <a:r>
              <a:rPr dirty="0" sz="1500" spc="70">
                <a:latin typeface="Arial"/>
                <a:cs typeface="Arial"/>
              </a:rPr>
              <a:t>efforts</a:t>
            </a:r>
            <a:r>
              <a:rPr dirty="0" sz="1500" spc="5">
                <a:latin typeface="Arial"/>
                <a:cs typeface="Arial"/>
              </a:rPr>
              <a:t> </a:t>
            </a:r>
            <a:r>
              <a:rPr dirty="0" sz="1500" spc="85">
                <a:latin typeface="Arial"/>
                <a:cs typeface="Arial"/>
              </a:rPr>
              <a:t>and</a:t>
            </a:r>
            <a:r>
              <a:rPr dirty="0" sz="1500" spc="50">
                <a:latin typeface="Arial"/>
                <a:cs typeface="Arial"/>
              </a:rPr>
              <a:t> </a:t>
            </a:r>
            <a:r>
              <a:rPr dirty="0" sz="1500" spc="60">
                <a:latin typeface="Arial"/>
                <a:cs typeface="Arial"/>
              </a:rPr>
              <a:t>achievements</a:t>
            </a:r>
            <a:r>
              <a:rPr dirty="0" sz="1500" spc="210"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A1A1A"/>
                </a:solidFill>
                <a:latin typeface="Arial"/>
                <a:cs typeface="Arial"/>
              </a:rPr>
              <a:t>in</a:t>
            </a:r>
            <a:r>
              <a:rPr dirty="0" sz="150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500" spc="100">
                <a:latin typeface="Arial"/>
                <a:cs typeface="Arial"/>
              </a:rPr>
              <a:t>completing</a:t>
            </a:r>
            <a:r>
              <a:rPr dirty="0" sz="1500" spc="90">
                <a:latin typeface="Arial"/>
                <a:cs typeface="Arial"/>
              </a:rPr>
              <a:t> </a:t>
            </a:r>
            <a:r>
              <a:rPr dirty="0" sz="1500" spc="100">
                <a:latin typeface="Arial"/>
                <a:cs typeface="Arial"/>
              </a:rPr>
              <a:t>the</a:t>
            </a:r>
            <a:r>
              <a:rPr dirty="0" sz="1500" spc="245">
                <a:latin typeface="Arial"/>
                <a:cs typeface="Arial"/>
              </a:rPr>
              <a:t> </a:t>
            </a:r>
            <a:r>
              <a:rPr dirty="0" sz="1500" spc="-60">
                <a:latin typeface="Arial"/>
                <a:cs typeface="Arial"/>
              </a:rPr>
              <a:t>1</a:t>
            </a:r>
            <a:r>
              <a:rPr dirty="0" sz="1500" spc="-100">
                <a:latin typeface="Arial"/>
                <a:cs typeface="Arial"/>
              </a:rPr>
              <a:t> </a:t>
            </a:r>
            <a:r>
              <a:rPr dirty="0" sz="1500" spc="110">
                <a:latin typeface="Arial"/>
                <a:cs typeface="Arial"/>
              </a:rPr>
              <a:t>Month</a:t>
            </a:r>
            <a:r>
              <a:rPr dirty="0" sz="1500" spc="95">
                <a:latin typeface="Arial"/>
                <a:cs typeface="Arial"/>
              </a:rPr>
              <a:t> </a:t>
            </a:r>
            <a:r>
              <a:rPr dirty="0" sz="1500" spc="-30">
                <a:latin typeface="Arial"/>
                <a:cs typeface="Arial"/>
              </a:rPr>
              <a:t>AICTE</a:t>
            </a:r>
            <a:r>
              <a:rPr dirty="0" sz="1500" spc="7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&amp;</a:t>
            </a:r>
            <a:r>
              <a:rPr dirty="0" sz="1500" spc="1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ICAC </a:t>
            </a:r>
            <a:r>
              <a:rPr dirty="0" sz="1500" spc="60">
                <a:latin typeface="Arial"/>
                <a:cs typeface="Arial"/>
              </a:rPr>
              <a:t>Approved</a:t>
            </a:r>
            <a:r>
              <a:rPr dirty="0" sz="1500" spc="85">
                <a:latin typeface="Arial"/>
                <a:cs typeface="Arial"/>
              </a:rPr>
              <a:t> </a:t>
            </a:r>
            <a:r>
              <a:rPr dirty="0" sz="1500" spc="60">
                <a:latin typeface="Arial"/>
                <a:cs typeface="Arial"/>
              </a:rPr>
              <a:t>Industrial</a:t>
            </a:r>
            <a:r>
              <a:rPr dirty="0" sz="1500" spc="80">
                <a:latin typeface="Arial"/>
                <a:cs typeface="Arial"/>
              </a:rPr>
              <a:t> </a:t>
            </a:r>
            <a:r>
              <a:rPr dirty="0" sz="1500" spc="50">
                <a:latin typeface="Arial"/>
                <a:cs typeface="Arial"/>
              </a:rPr>
              <a:t>Training</a:t>
            </a:r>
            <a:r>
              <a:rPr dirty="0" sz="1500" spc="100">
                <a:latin typeface="Arial"/>
                <a:cs typeface="Arial"/>
              </a:rPr>
              <a:t> </a:t>
            </a:r>
            <a:r>
              <a:rPr dirty="0" sz="1500" spc="60">
                <a:latin typeface="Arial"/>
                <a:cs typeface="Arial"/>
              </a:rPr>
              <a:t>and</a:t>
            </a:r>
            <a:r>
              <a:rPr dirty="0" sz="1500" spc="90">
                <a:latin typeface="Arial"/>
                <a:cs typeface="Arial"/>
              </a:rPr>
              <a:t> </a:t>
            </a:r>
            <a:r>
              <a:rPr dirty="0" sz="1500" spc="65">
                <a:latin typeface="Arial"/>
                <a:cs typeface="Arial"/>
              </a:rPr>
              <a:t>Internsh</a:t>
            </a:r>
            <a:r>
              <a:rPr dirty="0" sz="1500" spc="-254">
                <a:latin typeface="Arial"/>
                <a:cs typeface="Arial"/>
              </a:rPr>
              <a:t> </a:t>
            </a:r>
            <a:r>
              <a:rPr dirty="0" sz="1500" spc="55">
                <a:latin typeface="Arial"/>
                <a:cs typeface="Arial"/>
              </a:rPr>
              <a:t>ip</a:t>
            </a:r>
            <a:r>
              <a:rPr dirty="0" sz="1500" spc="70">
                <a:latin typeface="Arial"/>
                <a:cs typeface="Arial"/>
              </a:rPr>
              <a:t> </a:t>
            </a:r>
            <a:r>
              <a:rPr dirty="0" sz="1500" spc="85">
                <a:latin typeface="Arial"/>
                <a:cs typeface="Arial"/>
              </a:rPr>
              <a:t>program</a:t>
            </a:r>
            <a:r>
              <a:rPr dirty="0" sz="1500" spc="10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as</a:t>
            </a:r>
            <a:endParaRPr sz="1500">
              <a:latin typeface="Arial"/>
              <a:cs typeface="Arial"/>
            </a:endParaRPr>
          </a:p>
          <a:p>
            <a:pPr marL="2303145">
              <a:lnSpc>
                <a:spcPct val="100000"/>
              </a:lnSpc>
              <a:spcBef>
                <a:spcPts val="40"/>
              </a:spcBef>
            </a:pPr>
            <a:r>
              <a:rPr dirty="0" sz="2250">
                <a:latin typeface="Cambria"/>
                <a:cs typeface="Cambria"/>
              </a:rPr>
              <a:t>Artificial</a:t>
            </a:r>
            <a:r>
              <a:rPr dirty="0" sz="2250" spc="280">
                <a:latin typeface="Cambria"/>
                <a:cs typeface="Cambria"/>
              </a:rPr>
              <a:t> </a:t>
            </a:r>
            <a:r>
              <a:rPr dirty="0" sz="2250" spc="60">
                <a:latin typeface="Cambria"/>
                <a:cs typeface="Cambria"/>
              </a:rPr>
              <a:t>Intelligence</a:t>
            </a:r>
            <a:r>
              <a:rPr dirty="0" sz="2250" spc="280">
                <a:latin typeface="Cambria"/>
                <a:cs typeface="Cambria"/>
              </a:rPr>
              <a:t> </a:t>
            </a:r>
            <a:r>
              <a:rPr dirty="0" sz="2250" spc="-10">
                <a:latin typeface="Cambria"/>
                <a:cs typeface="Cambria"/>
              </a:rPr>
              <a:t>Intern</a:t>
            </a:r>
            <a:endParaRPr sz="2250">
              <a:latin typeface="Cambria"/>
              <a:cs typeface="Cambria"/>
            </a:endParaRPr>
          </a:p>
          <a:p>
            <a:pPr algn="ctr" marR="215265">
              <a:lnSpc>
                <a:spcPct val="100000"/>
              </a:lnSpc>
              <a:spcBef>
                <a:spcPts val="195"/>
              </a:spcBef>
            </a:pPr>
            <a:r>
              <a:rPr dirty="0" sz="1900" spc="60">
                <a:latin typeface="Cambria"/>
                <a:cs typeface="Cambria"/>
              </a:rPr>
              <a:t>Conducted</a:t>
            </a:r>
            <a:r>
              <a:rPr dirty="0" sz="1900" spc="245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from</a:t>
            </a:r>
            <a:r>
              <a:rPr dirty="0" sz="1900" spc="60">
                <a:latin typeface="Cambria"/>
                <a:cs typeface="Cambria"/>
              </a:rPr>
              <a:t> </a:t>
            </a:r>
            <a:r>
              <a:rPr dirty="0" sz="1900" spc="-125">
                <a:latin typeface="Cambria"/>
                <a:cs typeface="Cambria"/>
              </a:rPr>
              <a:t>17/08/2026</a:t>
            </a:r>
            <a:r>
              <a:rPr dirty="0" sz="1900" spc="185">
                <a:latin typeface="Cambria"/>
                <a:cs typeface="Cambria"/>
              </a:rPr>
              <a:t> </a:t>
            </a:r>
            <a:r>
              <a:rPr dirty="0" sz="1900">
                <a:latin typeface="Cambria"/>
                <a:cs typeface="Cambria"/>
              </a:rPr>
              <a:t>to</a:t>
            </a:r>
            <a:r>
              <a:rPr dirty="0" sz="1900" spc="-75">
                <a:latin typeface="Cambria"/>
                <a:cs typeface="Cambria"/>
              </a:rPr>
              <a:t> </a:t>
            </a:r>
            <a:r>
              <a:rPr dirty="0" sz="1900" spc="-60">
                <a:latin typeface="Cambria"/>
                <a:cs typeface="Cambria"/>
              </a:rPr>
              <a:t>17/09/2026</a:t>
            </a:r>
            <a:endParaRPr sz="1900">
              <a:latin typeface="Cambria"/>
              <a:cs typeface="Cambria"/>
            </a:endParaRPr>
          </a:p>
          <a:p>
            <a:pPr algn="ctr" marR="304800">
              <a:lnSpc>
                <a:spcPct val="100000"/>
              </a:lnSpc>
              <a:spcBef>
                <a:spcPts val="1760"/>
              </a:spcBef>
            </a:pPr>
            <a:r>
              <a:rPr dirty="0" sz="1700" spc="-330" i="1">
                <a:latin typeface="Arial"/>
                <a:cs typeface="Arial"/>
              </a:rPr>
              <a:t>O•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233271" y="422653"/>
            <a:ext cx="45720" cy="6392545"/>
            <a:chOff x="11233271" y="422653"/>
            <a:chExt cx="45720" cy="6392545"/>
          </a:xfrm>
        </p:grpSpPr>
        <p:sp>
          <p:nvSpPr>
            <p:cNvPr id="12" name="object 12"/>
            <p:cNvSpPr/>
            <p:nvPr/>
          </p:nvSpPr>
          <p:spPr>
            <a:xfrm>
              <a:off x="11234795" y="422653"/>
              <a:ext cx="0" cy="6355715"/>
            </a:xfrm>
            <a:custGeom>
              <a:avLst/>
              <a:gdLst/>
              <a:ahLst/>
              <a:cxnLst/>
              <a:rect l="l" t="t" r="r" b="b"/>
              <a:pathLst>
                <a:path w="0" h="6355715">
                  <a:moveTo>
                    <a:pt x="0" y="63554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277471" y="422653"/>
              <a:ext cx="0" cy="6392545"/>
            </a:xfrm>
            <a:custGeom>
              <a:avLst/>
              <a:gdLst/>
              <a:ahLst/>
              <a:cxnLst/>
              <a:rect l="l" t="t" r="r" b="b"/>
              <a:pathLst>
                <a:path w="0" h="6392545">
                  <a:moveTo>
                    <a:pt x="0" y="63920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54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8611712" y="6032830"/>
            <a:ext cx="2076450" cy="0"/>
          </a:xfrm>
          <a:custGeom>
            <a:avLst/>
            <a:gdLst/>
            <a:ahLst/>
            <a:cxnLst/>
            <a:rect l="l" t="t" r="r" b="b"/>
            <a:pathLst>
              <a:path w="2076450" h="0">
                <a:moveTo>
                  <a:pt x="0" y="0"/>
                </a:moveTo>
                <a:lnTo>
                  <a:pt x="2075907" y="0"/>
                </a:lnTo>
              </a:path>
            </a:pathLst>
          </a:custGeom>
          <a:ln w="15240">
            <a:solidFill>
              <a:srgbClr val="2B2B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351404" y="6118434"/>
            <a:ext cx="155130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4525" algn="l"/>
              </a:tabLst>
            </a:pPr>
            <a:r>
              <a:rPr dirty="0" sz="1950" spc="-25">
                <a:solidFill>
                  <a:srgbClr val="3D87ED"/>
                </a:solidFill>
                <a:latin typeface="Arial"/>
                <a:cs typeface="Arial"/>
              </a:rPr>
              <a:t>'¥„</a:t>
            </a:r>
            <a:r>
              <a:rPr dirty="0" sz="1950">
                <a:solidFill>
                  <a:srgbClr val="3D87ED"/>
                </a:solidFill>
                <a:latin typeface="Arial"/>
                <a:cs typeface="Arial"/>
              </a:rPr>
              <a:t>	</a:t>
            </a:r>
            <a:r>
              <a:rPr dirty="0" sz="1950" spc="70">
                <a:solidFill>
                  <a:srgbClr val="575757"/>
                </a:solidFill>
                <a:latin typeface="Arial"/>
                <a:cs typeface="Arial"/>
              </a:rPr>
              <a:t>Partner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85321" y="6284305"/>
            <a:ext cx="182899" cy="15240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900127" y="6484470"/>
            <a:ext cx="226123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i="1">
                <a:solidFill>
                  <a:srgbClr val="313131"/>
                </a:solidFill>
                <a:latin typeface="Arial"/>
                <a:cs typeface="Arial"/>
              </a:rPr>
              <a:t>AIC</a:t>
            </a:r>
            <a:r>
              <a:rPr dirty="0" sz="700" spc="-100" i="1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TE</a:t>
            </a:r>
            <a:r>
              <a:rPr dirty="0" sz="700" spc="80" i="1"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E0E0E"/>
                </a:solidFill>
                <a:latin typeface="Arial"/>
                <a:cs typeface="Arial"/>
              </a:rPr>
              <a:t>ID</a:t>
            </a:r>
            <a:r>
              <a:rPr dirty="0" sz="700" spc="40" i="1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545454"/>
                </a:solidFill>
                <a:latin typeface="Arial"/>
                <a:cs typeface="Arial"/>
              </a:rPr>
              <a:t>-</a:t>
            </a:r>
            <a:r>
              <a:rPr dirty="0" sz="700" spc="95" i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CORPORA</a:t>
            </a:r>
            <a:r>
              <a:rPr dirty="0" sz="700" spc="-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0C0C0C"/>
                </a:solidFill>
                <a:latin typeface="Arial"/>
                <a:cs typeface="Arial"/>
              </a:rPr>
              <a:t>7E6759cfñfd9cuJ9e</a:t>
            </a:r>
            <a:r>
              <a:rPr dirty="0" sz="700" spc="-5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700" spc="-175">
                <a:solidFill>
                  <a:srgbClr val="5B5B5B"/>
                </a:solidFill>
                <a:latin typeface="Arial"/>
                <a:cs typeface="Arial"/>
              </a:rPr>
              <a:t>7</a:t>
            </a:r>
            <a:r>
              <a:rPr dirty="0" sz="700" spc="-2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151515"/>
                </a:solidFill>
                <a:latin typeface="Arial"/>
                <a:cs typeface="Arial"/>
              </a:rPr>
              <a:t>73394g553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70156" y="6099637"/>
            <a:ext cx="1915795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95"/>
              </a:lnSpc>
              <a:spcBef>
                <a:spcPts val="100"/>
              </a:spcBef>
            </a:pPr>
            <a:r>
              <a:rPr dirty="0" sz="1450" spc="-20">
                <a:solidFill>
                  <a:srgbClr val="111111"/>
                </a:solidFill>
                <a:latin typeface="Arial"/>
                <a:cs typeface="Arial"/>
              </a:rPr>
              <a:t>Dr.</a:t>
            </a:r>
            <a:r>
              <a:rPr dirty="0" sz="1450" spc="-1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50">
                <a:latin typeface="Arial"/>
                <a:cs typeface="Arial"/>
              </a:rPr>
              <a:t>Anurag</a:t>
            </a:r>
            <a:r>
              <a:rPr dirty="0" sz="1450" spc="9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Shrivastava</a:t>
            </a:r>
            <a:endParaRPr sz="1450">
              <a:latin typeface="Arial"/>
              <a:cs typeface="Arial"/>
            </a:endParaRPr>
          </a:p>
          <a:p>
            <a:pPr algn="ctr" marL="1905">
              <a:lnSpc>
                <a:spcPts val="1814"/>
              </a:lnSpc>
            </a:pPr>
            <a:r>
              <a:rPr dirty="0" sz="1550" i="1">
                <a:latin typeface="Arial"/>
                <a:cs typeface="Arial"/>
              </a:rPr>
              <a:t>Progra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21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Manager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1943" y="6776587"/>
            <a:ext cx="10739755" cy="0"/>
          </a:xfrm>
          <a:custGeom>
            <a:avLst/>
            <a:gdLst/>
            <a:ahLst/>
            <a:cxnLst/>
            <a:rect l="l" t="t" r="r" b="b"/>
            <a:pathLst>
              <a:path w="10739755" h="0">
                <a:moveTo>
                  <a:pt x="0" y="0"/>
                </a:moveTo>
                <a:lnTo>
                  <a:pt x="10739241" y="0"/>
                </a:lnTo>
              </a:path>
            </a:pathLst>
          </a:custGeom>
          <a:ln w="3175">
            <a:solidFill>
              <a:srgbClr val="4F545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3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0564" y="2804871"/>
            <a:ext cx="2902585" cy="7283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600">
                <a:solidFill>
                  <a:srgbClr val="FFFFFF"/>
                </a:solidFill>
              </a:rPr>
              <a:t>Thank</a:t>
            </a:r>
            <a:r>
              <a:rPr dirty="0" sz="4600" spc="-155">
                <a:solidFill>
                  <a:srgbClr val="FFFFFF"/>
                </a:solidFill>
              </a:rPr>
              <a:t> </a:t>
            </a:r>
            <a:r>
              <a:rPr dirty="0" sz="4600" spc="-25">
                <a:solidFill>
                  <a:srgbClr val="FFFFFF"/>
                </a:solidFill>
              </a:rPr>
              <a:t>You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810564" y="3722878"/>
            <a:ext cx="2149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CFDFEC"/>
                </a:solidFill>
                <a:latin typeface="Calibri"/>
                <a:cs typeface="Calibri"/>
              </a:rPr>
              <a:t>Questions</a:t>
            </a:r>
            <a:r>
              <a:rPr dirty="0" sz="1800" spc="-30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CFDFEC"/>
                </a:solidFill>
                <a:latin typeface="Calibri"/>
                <a:cs typeface="Calibri"/>
              </a:rPr>
              <a:t>&amp;</a:t>
            </a:r>
            <a:r>
              <a:rPr dirty="0" sz="1800" spc="-55" i="1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CFDFEC"/>
                </a:solidFill>
                <a:latin typeface="Calibri"/>
                <a:cs typeface="Calibri"/>
              </a:rPr>
              <a:t>Discussion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37525" y="0"/>
            <a:ext cx="4053840" cy="4572000"/>
            <a:chOff x="8137525" y="0"/>
            <a:chExt cx="4053840" cy="4572000"/>
          </a:xfrm>
        </p:grpSpPr>
        <p:sp>
          <p:nvSpPr>
            <p:cNvPr id="10" name="object 10"/>
            <p:cNvSpPr/>
            <p:nvPr/>
          </p:nvSpPr>
          <p:spPr>
            <a:xfrm>
              <a:off x="9692005" y="0"/>
              <a:ext cx="2499360" cy="3108960"/>
            </a:xfrm>
            <a:custGeom>
              <a:avLst/>
              <a:gdLst/>
              <a:ahLst/>
              <a:cxnLst/>
              <a:rect l="l" t="t" r="r" b="b"/>
              <a:pathLst>
                <a:path w="2499359" h="3108960">
                  <a:moveTo>
                    <a:pt x="2499360" y="0"/>
                  </a:moveTo>
                  <a:lnTo>
                    <a:pt x="152653" y="0"/>
                  </a:lnTo>
                  <a:lnTo>
                    <a:pt x="137668" y="39624"/>
                  </a:lnTo>
                  <a:lnTo>
                    <a:pt x="122427" y="82930"/>
                  </a:lnTo>
                  <a:lnTo>
                    <a:pt x="107950" y="126746"/>
                  </a:lnTo>
                  <a:lnTo>
                    <a:pt x="94361" y="170815"/>
                  </a:lnTo>
                  <a:lnTo>
                    <a:pt x="81661" y="215265"/>
                  </a:lnTo>
                  <a:lnTo>
                    <a:pt x="69850" y="260096"/>
                  </a:lnTo>
                  <a:lnTo>
                    <a:pt x="58927" y="305307"/>
                  </a:lnTo>
                  <a:lnTo>
                    <a:pt x="48768" y="350774"/>
                  </a:lnTo>
                  <a:lnTo>
                    <a:pt x="39624" y="396748"/>
                  </a:lnTo>
                  <a:lnTo>
                    <a:pt x="31496" y="442849"/>
                  </a:lnTo>
                  <a:lnTo>
                    <a:pt x="24129" y="489458"/>
                  </a:lnTo>
                  <a:lnTo>
                    <a:pt x="17779" y="536194"/>
                  </a:lnTo>
                  <a:lnTo>
                    <a:pt x="12446" y="583311"/>
                  </a:lnTo>
                  <a:lnTo>
                    <a:pt x="8000" y="630682"/>
                  </a:lnTo>
                  <a:lnTo>
                    <a:pt x="4445" y="678434"/>
                  </a:lnTo>
                  <a:lnTo>
                    <a:pt x="2031" y="726313"/>
                  </a:lnTo>
                  <a:lnTo>
                    <a:pt x="508" y="774573"/>
                  </a:lnTo>
                  <a:lnTo>
                    <a:pt x="0" y="822960"/>
                  </a:lnTo>
                  <a:lnTo>
                    <a:pt x="508" y="871347"/>
                  </a:lnTo>
                  <a:lnTo>
                    <a:pt x="2031" y="919607"/>
                  </a:lnTo>
                  <a:lnTo>
                    <a:pt x="4445" y="967486"/>
                  </a:lnTo>
                  <a:lnTo>
                    <a:pt x="8000" y="1015238"/>
                  </a:lnTo>
                  <a:lnTo>
                    <a:pt x="12446" y="1062609"/>
                  </a:lnTo>
                  <a:lnTo>
                    <a:pt x="17779" y="1109726"/>
                  </a:lnTo>
                  <a:lnTo>
                    <a:pt x="24129" y="1156462"/>
                  </a:lnTo>
                  <a:lnTo>
                    <a:pt x="31496" y="1203071"/>
                  </a:lnTo>
                  <a:lnTo>
                    <a:pt x="39624" y="1249172"/>
                  </a:lnTo>
                  <a:lnTo>
                    <a:pt x="48768" y="1295146"/>
                  </a:lnTo>
                  <a:lnTo>
                    <a:pt x="58927" y="1340612"/>
                  </a:lnTo>
                  <a:lnTo>
                    <a:pt x="69850" y="1385824"/>
                  </a:lnTo>
                  <a:lnTo>
                    <a:pt x="81661" y="1430654"/>
                  </a:lnTo>
                  <a:lnTo>
                    <a:pt x="94361" y="1475104"/>
                  </a:lnTo>
                  <a:lnTo>
                    <a:pt x="107950" y="1519174"/>
                  </a:lnTo>
                  <a:lnTo>
                    <a:pt x="122427" y="1562989"/>
                  </a:lnTo>
                  <a:lnTo>
                    <a:pt x="137668" y="1606296"/>
                  </a:lnTo>
                  <a:lnTo>
                    <a:pt x="153924" y="1649222"/>
                  </a:lnTo>
                  <a:lnTo>
                    <a:pt x="170815" y="1691639"/>
                  </a:lnTo>
                  <a:lnTo>
                    <a:pt x="188595" y="1733803"/>
                  </a:lnTo>
                  <a:lnTo>
                    <a:pt x="207264" y="1775333"/>
                  </a:lnTo>
                  <a:lnTo>
                    <a:pt x="226695" y="1816608"/>
                  </a:lnTo>
                  <a:lnTo>
                    <a:pt x="246888" y="1857375"/>
                  </a:lnTo>
                  <a:lnTo>
                    <a:pt x="267843" y="1897634"/>
                  </a:lnTo>
                  <a:lnTo>
                    <a:pt x="289560" y="1937385"/>
                  </a:lnTo>
                  <a:lnTo>
                    <a:pt x="312166" y="1976754"/>
                  </a:lnTo>
                  <a:lnTo>
                    <a:pt x="335406" y="2015616"/>
                  </a:lnTo>
                  <a:lnTo>
                    <a:pt x="359410" y="2053844"/>
                  </a:lnTo>
                  <a:lnTo>
                    <a:pt x="384175" y="2091689"/>
                  </a:lnTo>
                  <a:lnTo>
                    <a:pt x="409575" y="2129028"/>
                  </a:lnTo>
                  <a:lnTo>
                    <a:pt x="435737" y="2165730"/>
                  </a:lnTo>
                  <a:lnTo>
                    <a:pt x="462661" y="2201926"/>
                  </a:lnTo>
                  <a:lnTo>
                    <a:pt x="490220" y="2237613"/>
                  </a:lnTo>
                  <a:lnTo>
                    <a:pt x="518414" y="2272665"/>
                  </a:lnTo>
                  <a:lnTo>
                    <a:pt x="547370" y="2307209"/>
                  </a:lnTo>
                  <a:lnTo>
                    <a:pt x="576961" y="2341117"/>
                  </a:lnTo>
                  <a:lnTo>
                    <a:pt x="607187" y="2374519"/>
                  </a:lnTo>
                  <a:lnTo>
                    <a:pt x="638048" y="2407285"/>
                  </a:lnTo>
                  <a:lnTo>
                    <a:pt x="669544" y="2439416"/>
                  </a:lnTo>
                  <a:lnTo>
                    <a:pt x="701675" y="2470912"/>
                  </a:lnTo>
                  <a:lnTo>
                    <a:pt x="734441" y="2501773"/>
                  </a:lnTo>
                  <a:lnTo>
                    <a:pt x="767842" y="2531999"/>
                  </a:lnTo>
                  <a:lnTo>
                    <a:pt x="801751" y="2561590"/>
                  </a:lnTo>
                  <a:lnTo>
                    <a:pt x="836295" y="2590546"/>
                  </a:lnTo>
                  <a:lnTo>
                    <a:pt x="871347" y="2618740"/>
                  </a:lnTo>
                  <a:lnTo>
                    <a:pt x="907034" y="2646299"/>
                  </a:lnTo>
                  <a:lnTo>
                    <a:pt x="943228" y="2673223"/>
                  </a:lnTo>
                  <a:lnTo>
                    <a:pt x="979931" y="2699385"/>
                  </a:lnTo>
                  <a:lnTo>
                    <a:pt x="1017270" y="2724785"/>
                  </a:lnTo>
                  <a:lnTo>
                    <a:pt x="1055116" y="2749550"/>
                  </a:lnTo>
                  <a:lnTo>
                    <a:pt x="1093343" y="2773553"/>
                  </a:lnTo>
                  <a:lnTo>
                    <a:pt x="1132204" y="2796794"/>
                  </a:lnTo>
                  <a:lnTo>
                    <a:pt x="1171575" y="2819400"/>
                  </a:lnTo>
                  <a:lnTo>
                    <a:pt x="1211326" y="2841116"/>
                  </a:lnTo>
                  <a:lnTo>
                    <a:pt x="1251585" y="2862072"/>
                  </a:lnTo>
                  <a:lnTo>
                    <a:pt x="1292352" y="2882265"/>
                  </a:lnTo>
                  <a:lnTo>
                    <a:pt x="1333627" y="2901696"/>
                  </a:lnTo>
                  <a:lnTo>
                    <a:pt x="1375155" y="2920365"/>
                  </a:lnTo>
                  <a:lnTo>
                    <a:pt x="1417320" y="2938145"/>
                  </a:lnTo>
                  <a:lnTo>
                    <a:pt x="1459738" y="2955036"/>
                  </a:lnTo>
                  <a:lnTo>
                    <a:pt x="1502664" y="2971165"/>
                  </a:lnTo>
                  <a:lnTo>
                    <a:pt x="1545971" y="2986532"/>
                  </a:lnTo>
                  <a:lnTo>
                    <a:pt x="1589786" y="3001010"/>
                  </a:lnTo>
                  <a:lnTo>
                    <a:pt x="1633854" y="3014599"/>
                  </a:lnTo>
                  <a:lnTo>
                    <a:pt x="1678304" y="3027299"/>
                  </a:lnTo>
                  <a:lnTo>
                    <a:pt x="1723136" y="3039110"/>
                  </a:lnTo>
                  <a:lnTo>
                    <a:pt x="1768348" y="3050032"/>
                  </a:lnTo>
                  <a:lnTo>
                    <a:pt x="1813814" y="3060191"/>
                  </a:lnTo>
                  <a:lnTo>
                    <a:pt x="1859788" y="3069336"/>
                  </a:lnTo>
                  <a:lnTo>
                    <a:pt x="1905889" y="3077464"/>
                  </a:lnTo>
                  <a:lnTo>
                    <a:pt x="1952498" y="3084829"/>
                  </a:lnTo>
                  <a:lnTo>
                    <a:pt x="1999234" y="3091179"/>
                  </a:lnTo>
                  <a:lnTo>
                    <a:pt x="2046351" y="3096514"/>
                  </a:lnTo>
                  <a:lnTo>
                    <a:pt x="2093722" y="3100959"/>
                  </a:lnTo>
                  <a:lnTo>
                    <a:pt x="2141474" y="3104515"/>
                  </a:lnTo>
                  <a:lnTo>
                    <a:pt x="2189353" y="3106928"/>
                  </a:lnTo>
                  <a:lnTo>
                    <a:pt x="2237613" y="3108452"/>
                  </a:lnTo>
                  <a:lnTo>
                    <a:pt x="2286000" y="3108960"/>
                  </a:lnTo>
                  <a:lnTo>
                    <a:pt x="2334387" y="3108452"/>
                  </a:lnTo>
                  <a:lnTo>
                    <a:pt x="2382647" y="3106928"/>
                  </a:lnTo>
                  <a:lnTo>
                    <a:pt x="2430526" y="3104515"/>
                  </a:lnTo>
                  <a:lnTo>
                    <a:pt x="2478278" y="3100959"/>
                  </a:lnTo>
                  <a:lnTo>
                    <a:pt x="2499360" y="3099054"/>
                  </a:lnTo>
                  <a:lnTo>
                    <a:pt x="2499360" y="0"/>
                  </a:lnTo>
                  <a:close/>
                </a:path>
              </a:pathLst>
            </a:custGeom>
            <a:solidFill>
              <a:srgbClr val="1F4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/home/claude/icons/gradcap_watermark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7525" y="1005839"/>
              <a:ext cx="3566159" cy="356616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777875" y="4344034"/>
            <a:ext cx="2377440" cy="0"/>
          </a:xfrm>
          <a:custGeom>
            <a:avLst/>
            <a:gdLst/>
            <a:ahLst/>
            <a:cxnLst/>
            <a:rect l="l" t="t" r="r" b="b"/>
            <a:pathLst>
              <a:path w="2377440" h="0">
                <a:moveTo>
                  <a:pt x="0" y="0"/>
                </a:moveTo>
                <a:lnTo>
                  <a:pt x="2377440" y="0"/>
                </a:lnTo>
              </a:path>
            </a:pathLst>
          </a:custGeom>
          <a:ln w="38100">
            <a:solidFill>
              <a:srgbClr val="2C9E8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4937125"/>
            <a:ext cx="2377440" cy="1919605"/>
          </a:xfrm>
          <a:custGeom>
            <a:avLst/>
            <a:gdLst/>
            <a:ahLst/>
            <a:cxnLst/>
            <a:rect l="l" t="t" r="r" b="b"/>
            <a:pathLst>
              <a:path w="2377440" h="1919604">
                <a:moveTo>
                  <a:pt x="548640" y="0"/>
                </a:moveTo>
                <a:lnTo>
                  <a:pt x="500684" y="635"/>
                </a:lnTo>
                <a:lnTo>
                  <a:pt x="453047" y="2412"/>
                </a:lnTo>
                <a:lnTo>
                  <a:pt x="405714" y="5461"/>
                </a:lnTo>
                <a:lnTo>
                  <a:pt x="358724" y="9779"/>
                </a:lnTo>
                <a:lnTo>
                  <a:pt x="312089" y="15112"/>
                </a:lnTo>
                <a:lnTo>
                  <a:pt x="265811" y="21717"/>
                </a:lnTo>
                <a:lnTo>
                  <a:pt x="219913" y="29463"/>
                </a:lnTo>
                <a:lnTo>
                  <a:pt x="174409" y="38354"/>
                </a:lnTo>
                <a:lnTo>
                  <a:pt x="129311" y="48260"/>
                </a:lnTo>
                <a:lnTo>
                  <a:pt x="84642" y="59308"/>
                </a:lnTo>
                <a:lnTo>
                  <a:pt x="40412" y="71500"/>
                </a:lnTo>
                <a:lnTo>
                  <a:pt x="0" y="83693"/>
                </a:lnTo>
                <a:lnTo>
                  <a:pt x="0" y="1919604"/>
                </a:lnTo>
                <a:lnTo>
                  <a:pt x="2375154" y="1919604"/>
                </a:lnTo>
                <a:lnTo>
                  <a:pt x="2376805" y="1876129"/>
                </a:lnTo>
                <a:lnTo>
                  <a:pt x="2377440" y="1828195"/>
                </a:lnTo>
                <a:lnTo>
                  <a:pt x="2376805" y="1780260"/>
                </a:lnTo>
                <a:lnTo>
                  <a:pt x="2375027" y="1732635"/>
                </a:lnTo>
                <a:lnTo>
                  <a:pt x="2371979" y="1685328"/>
                </a:lnTo>
                <a:lnTo>
                  <a:pt x="2367661" y="1638350"/>
                </a:lnTo>
                <a:lnTo>
                  <a:pt x="2362327" y="1591716"/>
                </a:lnTo>
                <a:lnTo>
                  <a:pt x="2355723" y="1545463"/>
                </a:lnTo>
                <a:lnTo>
                  <a:pt x="2347976" y="1499577"/>
                </a:lnTo>
                <a:lnTo>
                  <a:pt x="2339086" y="1454086"/>
                </a:lnTo>
                <a:lnTo>
                  <a:pt x="2329180" y="1409001"/>
                </a:lnTo>
                <a:lnTo>
                  <a:pt x="2318004" y="1364348"/>
                </a:lnTo>
                <a:lnTo>
                  <a:pt x="2305939" y="1320139"/>
                </a:lnTo>
                <a:lnTo>
                  <a:pt x="2292604" y="1276375"/>
                </a:lnTo>
                <a:lnTo>
                  <a:pt x="2278380" y="1233081"/>
                </a:lnTo>
                <a:lnTo>
                  <a:pt x="2263013" y="1190282"/>
                </a:lnTo>
                <a:lnTo>
                  <a:pt x="2246630" y="1147965"/>
                </a:lnTo>
                <a:lnTo>
                  <a:pt x="2229231" y="1106182"/>
                </a:lnTo>
                <a:lnTo>
                  <a:pt x="2210943" y="1064920"/>
                </a:lnTo>
                <a:lnTo>
                  <a:pt x="2191512" y="1024204"/>
                </a:lnTo>
                <a:lnTo>
                  <a:pt x="2171192" y="984046"/>
                </a:lnTo>
                <a:lnTo>
                  <a:pt x="2149983" y="944460"/>
                </a:lnTo>
                <a:lnTo>
                  <a:pt x="2127758" y="905471"/>
                </a:lnTo>
                <a:lnTo>
                  <a:pt x="2104644" y="867079"/>
                </a:lnTo>
                <a:lnTo>
                  <a:pt x="2080641" y="829310"/>
                </a:lnTo>
                <a:lnTo>
                  <a:pt x="2055622" y="792187"/>
                </a:lnTo>
                <a:lnTo>
                  <a:pt x="2029841" y="755700"/>
                </a:lnTo>
                <a:lnTo>
                  <a:pt x="2003170" y="719886"/>
                </a:lnTo>
                <a:lnTo>
                  <a:pt x="1975739" y="684745"/>
                </a:lnTo>
                <a:lnTo>
                  <a:pt x="1947291" y="650366"/>
                </a:lnTo>
                <a:lnTo>
                  <a:pt x="1918208" y="616585"/>
                </a:lnTo>
                <a:lnTo>
                  <a:pt x="1888236" y="583565"/>
                </a:lnTo>
                <a:lnTo>
                  <a:pt x="1857502" y="551307"/>
                </a:lnTo>
                <a:lnTo>
                  <a:pt x="1826006" y="519811"/>
                </a:lnTo>
                <a:lnTo>
                  <a:pt x="1793620" y="489077"/>
                </a:lnTo>
                <a:lnTo>
                  <a:pt x="1760601" y="459105"/>
                </a:lnTo>
                <a:lnTo>
                  <a:pt x="1726945" y="430022"/>
                </a:lnTo>
                <a:lnTo>
                  <a:pt x="1692529" y="401574"/>
                </a:lnTo>
                <a:lnTo>
                  <a:pt x="1657350" y="374141"/>
                </a:lnTo>
                <a:lnTo>
                  <a:pt x="1621536" y="347472"/>
                </a:lnTo>
                <a:lnTo>
                  <a:pt x="1584960" y="321691"/>
                </a:lnTo>
                <a:lnTo>
                  <a:pt x="1547876" y="296799"/>
                </a:lnTo>
                <a:lnTo>
                  <a:pt x="1510030" y="272669"/>
                </a:lnTo>
                <a:lnTo>
                  <a:pt x="1471676" y="249555"/>
                </a:lnTo>
                <a:lnTo>
                  <a:pt x="1432687" y="227456"/>
                </a:lnTo>
                <a:lnTo>
                  <a:pt x="1393063" y="206120"/>
                </a:lnTo>
                <a:lnTo>
                  <a:pt x="1352931" y="185800"/>
                </a:lnTo>
                <a:lnTo>
                  <a:pt x="1312164" y="166497"/>
                </a:lnTo>
                <a:lnTo>
                  <a:pt x="1270889" y="148081"/>
                </a:lnTo>
                <a:lnTo>
                  <a:pt x="1229093" y="130682"/>
                </a:lnTo>
                <a:lnTo>
                  <a:pt x="1186776" y="114426"/>
                </a:lnTo>
                <a:lnTo>
                  <a:pt x="1143952" y="99060"/>
                </a:lnTo>
                <a:lnTo>
                  <a:pt x="1100645" y="84708"/>
                </a:lnTo>
                <a:lnTo>
                  <a:pt x="1056868" y="71500"/>
                </a:lnTo>
                <a:lnTo>
                  <a:pt x="1012634" y="59308"/>
                </a:lnTo>
                <a:lnTo>
                  <a:pt x="967968" y="48260"/>
                </a:lnTo>
                <a:lnTo>
                  <a:pt x="922870" y="38354"/>
                </a:lnTo>
                <a:lnTo>
                  <a:pt x="877366" y="29463"/>
                </a:lnTo>
                <a:lnTo>
                  <a:pt x="831469" y="21717"/>
                </a:lnTo>
                <a:lnTo>
                  <a:pt x="785190" y="15112"/>
                </a:lnTo>
                <a:lnTo>
                  <a:pt x="738555" y="9779"/>
                </a:lnTo>
                <a:lnTo>
                  <a:pt x="691565" y="5461"/>
                </a:lnTo>
                <a:lnTo>
                  <a:pt x="644232" y="2412"/>
                </a:lnTo>
                <a:lnTo>
                  <a:pt x="596595" y="635"/>
                </a:lnTo>
                <a:lnTo>
                  <a:pt x="548640" y="0"/>
                </a:lnTo>
                <a:close/>
              </a:path>
            </a:pathLst>
          </a:custGeom>
          <a:solidFill>
            <a:srgbClr val="1F4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6284" y="4737387"/>
            <a:ext cx="2974975" cy="7461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VAISHNAVI</a:t>
            </a:r>
            <a:r>
              <a:rPr dirty="0" sz="15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SHARMA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ts val="1800"/>
              </a:lnSpc>
              <a:spcBef>
                <a:spcPts val="15"/>
              </a:spcBef>
            </a:pPr>
            <a:r>
              <a:rPr dirty="0" sz="1200" spc="-20">
                <a:solidFill>
                  <a:srgbClr val="CFDFEC"/>
                </a:solidFill>
                <a:latin typeface="Calibri"/>
                <a:cs typeface="Calibri"/>
              </a:rPr>
              <a:t>B.Tech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CSE,</a:t>
            </a:r>
            <a:r>
              <a:rPr dirty="0" sz="1200" spc="-3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IILM</a:t>
            </a:r>
            <a:r>
              <a:rPr dirty="0" sz="1200" spc="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CFDFEC"/>
                </a:solidFill>
                <a:latin typeface="Calibri"/>
                <a:cs typeface="Calibri"/>
              </a:rPr>
              <a:t>University,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CFDFEC"/>
                </a:solidFill>
                <a:latin typeface="Calibri"/>
                <a:cs typeface="Calibri"/>
              </a:rPr>
              <a:t>Greater Noida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Artificial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Intelligence</a:t>
            </a:r>
            <a:r>
              <a:rPr dirty="0" sz="1200" spc="-2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Intern,</a:t>
            </a:r>
            <a:r>
              <a:rPr dirty="0" sz="1200" spc="-45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FDFEC"/>
                </a:solidFill>
                <a:latin typeface="Calibri"/>
                <a:cs typeface="Calibri"/>
              </a:rPr>
              <a:t>Codec</a:t>
            </a:r>
            <a:r>
              <a:rPr dirty="0" sz="1200" spc="20">
                <a:solidFill>
                  <a:srgbClr val="CFDFEC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FDFEC"/>
                </a:solidFill>
                <a:latin typeface="Calibri"/>
                <a:cs typeface="Calibri"/>
              </a:rPr>
              <a:t>Technologies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6543547"/>
            <a:ext cx="152527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Summer </a:t>
            </a:r>
            <a:r>
              <a:rPr dirty="0" sz="900" spc="-10">
                <a:solidFill>
                  <a:srgbClr val="6B7080"/>
                </a:solidFill>
                <a:latin typeface="Calibri"/>
                <a:cs typeface="Calibri"/>
              </a:rPr>
              <a:t>Internship</a:t>
            </a:r>
            <a:r>
              <a:rPr dirty="0" sz="900" spc="5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080"/>
                </a:solidFill>
                <a:latin typeface="Calibri"/>
                <a:cs typeface="Calibri"/>
              </a:rPr>
              <a:t>Presentation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3019" y="6543547"/>
            <a:ext cx="34544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15</a:t>
            </a:r>
            <a:r>
              <a:rPr dirty="0" sz="900" spc="-20">
                <a:solidFill>
                  <a:srgbClr val="6B70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080"/>
                </a:solidFill>
                <a:latin typeface="Calibri"/>
                <a:cs typeface="Calibri"/>
              </a:rPr>
              <a:t>/ </a:t>
            </a:r>
            <a:r>
              <a:rPr dirty="0" sz="900" spc="-35">
                <a:solidFill>
                  <a:srgbClr val="6B7080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2026-10-22T14:29:42Z</dcterms:created>
  <dcterms:modified xsi:type="dcterms:W3CDTF">2026-10-22T14:29:42Z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2026-10-22T00:00:00Z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2026-10-22T00:00:00Z</vt:filetime>
  </property>
  <property fmtid="{D5CDD505-2E9C-101B-9397-08002B2CF9AE}" pid="6" name="Producer">
    <vt:lpwstr>www.ilovepdf.com</vt:lpwstr>
  </property>
</Properties>
</file>